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257" r:id="rId4"/>
    <p:sldId id="331" r:id="rId5"/>
    <p:sldId id="294" r:id="rId6"/>
    <p:sldId id="332" r:id="rId7"/>
    <p:sldId id="333" r:id="rId8"/>
    <p:sldId id="295" r:id="rId9"/>
    <p:sldId id="334" r:id="rId10"/>
    <p:sldId id="336" r:id="rId11"/>
    <p:sldId id="337" r:id="rId12"/>
    <p:sldId id="338" r:id="rId13"/>
    <p:sldId id="339" r:id="rId14"/>
    <p:sldId id="340" r:id="rId15"/>
    <p:sldId id="341" r:id="rId16"/>
    <p:sldId id="343" r:id="rId17"/>
    <p:sldId id="342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286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2626"/>
    <a:srgbClr val="EAEAEA"/>
    <a:srgbClr val="2D353E"/>
    <a:srgbClr val="2D333D"/>
    <a:srgbClr val="242D36"/>
    <a:srgbClr val="2029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49" autoAdjust="0"/>
  </p:normalViewPr>
  <p:slideViewPr>
    <p:cSldViewPr snapToGrid="0">
      <p:cViewPr varScale="1">
        <p:scale>
          <a:sx n="77" d="100"/>
          <a:sy n="77" d="100"/>
        </p:scale>
        <p:origin x="88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07968-FE0F-40B8-945A-ECFFB7195A5B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3EAB02-E1D2-4D0A-B44E-326721ADB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14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3EAB02-E1D2-4D0A-B44E-326721ADB7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03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3EAB02-E1D2-4D0A-B44E-326721ADB7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834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3EAB02-E1D2-4D0A-B44E-326721ADB77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119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3EAB02-E1D2-4D0A-B44E-326721ADB7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6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CA3D81-5708-424B-BD81-179CD9DAAC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91B665F-FCC6-4EA3-BB27-3F2C43120DB5}"/>
              </a:ext>
            </a:extLst>
          </p:cNvPr>
          <p:cNvCxnSpPr>
            <a:cxnSpLocks/>
          </p:cNvCxnSpPr>
          <p:nvPr userDrawn="1"/>
        </p:nvCxnSpPr>
        <p:spPr>
          <a:xfrm flipV="1">
            <a:off x="8437718" y="4633844"/>
            <a:ext cx="1991994" cy="253937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CD8D3A9-9004-4765-B261-B290CB1DA8E7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24788" y="3240501"/>
            <a:ext cx="1991994" cy="253937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AF5C898-EE54-45C3-806F-600C02D81B35}"/>
              </a:ext>
            </a:extLst>
          </p:cNvPr>
          <p:cNvCxnSpPr>
            <a:cxnSpLocks/>
          </p:cNvCxnSpPr>
          <p:nvPr userDrawn="1"/>
        </p:nvCxnSpPr>
        <p:spPr>
          <a:xfrm flipV="1">
            <a:off x="-418533" y="1055324"/>
            <a:ext cx="1991994" cy="253937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807A15C-C5D4-4366-A642-F31EDADBAB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582597" y="0"/>
            <a:ext cx="1991994" cy="253937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AB1E42F-C6C6-4A36-BAE7-4756F89F5D5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29712" y="4861497"/>
            <a:ext cx="1991994" cy="253937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EE319D1-4D0C-4975-9B2C-A4F28D834A2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-1079575"/>
            <a:ext cx="1991994" cy="253937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5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2302D-0150-49F9-AD32-3C673CC49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495D86-B8DE-4E05-B9DA-FC9FE762D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FB239C-EA14-4454-8A29-E262A7F6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94398-E579-42E6-9BA8-1B00CF25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9CE28-3A22-4F48-97FB-8D608C6F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0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9E53A4E-4755-4C81-87AB-3EEB46D31FF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19B8AD-4ACF-4499-8867-680C43A902F9}"/>
              </a:ext>
            </a:extLst>
          </p:cNvPr>
          <p:cNvCxnSpPr/>
          <p:nvPr userDrawn="1"/>
        </p:nvCxnSpPr>
        <p:spPr>
          <a:xfrm>
            <a:off x="341811" y="783771"/>
            <a:ext cx="11508377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20014F0-151C-427F-AFD7-4F49339205AB}"/>
              </a:ext>
            </a:extLst>
          </p:cNvPr>
          <p:cNvSpPr/>
          <p:nvPr userDrawn="1"/>
        </p:nvSpPr>
        <p:spPr>
          <a:xfrm>
            <a:off x="496389" y="235131"/>
            <a:ext cx="457200" cy="4572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D9C1086-8973-4183-ADCF-4CCB42BBD31B}"/>
              </a:ext>
            </a:extLst>
          </p:cNvPr>
          <p:cNvSpPr/>
          <p:nvPr userDrawn="1"/>
        </p:nvSpPr>
        <p:spPr>
          <a:xfrm>
            <a:off x="727167" y="413657"/>
            <a:ext cx="304800" cy="304800"/>
          </a:xfrm>
          <a:prstGeom prst="roundRect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65327040-AD97-404B-BFFF-AE793CB9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367" y="293914"/>
            <a:ext cx="4737462" cy="457200"/>
          </a:xfrm>
        </p:spPr>
        <p:txBody>
          <a:bodyPr>
            <a:noAutofit/>
          </a:bodyPr>
          <a:lstStyle>
            <a:lvl1pPr>
              <a:defRPr sz="28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986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6ECA6-F6F7-4861-BB6B-E9A7808C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53DF93-8D2D-4C32-BA20-305D90179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2FF5D6-C18A-4533-A6C8-21BCABF3D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FFD784-78F2-46C3-AA6B-F1E5F945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1387C0-72F4-4E48-95BB-7DA60BF8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04B034-D28F-4C19-9E04-6CFDCF28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91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A5D93-DFF3-4480-A6AB-8B5E7DD4F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3F343C-3763-4E7E-8001-6528BEE0B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91C07C-20A1-4214-B54D-4C4B4FFEA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9C3ABF-003C-479F-87DD-9B154B37E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050E0F-7D4B-4A90-BB94-B36AEE6C1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33836A-C19A-420E-95D6-F87B0C96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4C34C2-5774-4614-854D-78E5CD18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6A099A-8494-4A6B-938D-796B8E10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283262" y="6858000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436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31CB6-11AB-4D59-A9E4-FE51412EA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D6B329-B836-4681-937A-A448BE05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326462-E467-4890-A28D-4746809E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D40214-6257-4B6A-B808-BD954488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5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3B0DA2-A559-47A1-B6CD-C9687531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B42C73-13E1-4646-8F7C-9A3D95C7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486D83-26E7-400A-BE0C-E52D3080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95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34413-B201-49A4-BEE3-5B9D9033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480519-DEEC-43C5-9742-86D785184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144B68-C843-46D5-A4E9-C3D3B87F9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C7CCF4-105B-41AA-BC0E-661B902DE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C9B7DA-C55A-449C-99AC-29021347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6681AE-006D-4572-913C-7DE8A701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0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0A525-F547-4630-A23D-20D8EC34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AE9BF8-86B9-4C84-93E7-B0A74F4EA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30543A-D215-459D-AFE7-FD2F48E18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7A12AB-E5ED-4872-A42F-E7B9E0D4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9E6E28-8872-4D95-8CF0-13FC8FD8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63D4A3-1AFC-4839-9288-8AFC02CC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31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DE6E2-5284-4ED5-8EEC-11112602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D2DCFE-1775-4E50-964B-EAE3C50C7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A5D84E-5ED8-4ECE-89F2-FDFAB476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F1B797-0CA6-4870-B366-88BA72A8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A5D42-104C-4AFF-A6DB-6774120C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03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B0A450-5AF9-40CB-998F-68FEE335B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344ABB-BC69-4179-9161-8A928B355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620D3-18ED-4DF9-A100-AE9707E2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A195BF-3596-4E0C-948D-3EF3A66E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48EB7B-C84F-46CD-94E1-8CB8DF2F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48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2024/3/21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39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2024/3/21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316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68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6063D1-340A-4DC9-ABBE-D50E37E9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30B03-6423-4968-9D06-41886C601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322981-8E74-4DE8-804A-1D1108253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7B598-0A54-44D8-A998-C82D12D838C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F9DEC-7387-4D66-B7AB-D2491B372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B1FD39-E954-4AD0-8F65-1FC96D627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DF8BB-3426-49E0-9D36-69DE378B8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26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20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形 12" descr="讲师">
            <a:extLst>
              <a:ext uri="{FF2B5EF4-FFF2-40B4-BE49-F238E27FC236}">
                <a16:creationId xmlns:a16="http://schemas.microsoft.com/office/drawing/2014/main" id="{F26CBB10-C103-44A7-BA09-70E83DA443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5568" y="5026096"/>
            <a:ext cx="560419" cy="560419"/>
          </a:xfrm>
          <a:prstGeom prst="rect">
            <a:avLst/>
          </a:prstGeom>
        </p:spPr>
      </p:pic>
      <p:pic>
        <p:nvPicPr>
          <p:cNvPr id="15" name="图形 14" descr="教师">
            <a:extLst>
              <a:ext uri="{FF2B5EF4-FFF2-40B4-BE49-F238E27FC236}">
                <a16:creationId xmlns:a16="http://schemas.microsoft.com/office/drawing/2014/main" id="{172C7AF8-F0F5-463E-BF13-2BB5FCD162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9167" y="5060811"/>
            <a:ext cx="560419" cy="56041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9CD2F2E-C54E-455B-93AA-84E5F1BD0DCA}"/>
              </a:ext>
            </a:extLst>
          </p:cNvPr>
          <p:cNvSpPr/>
          <p:nvPr/>
        </p:nvSpPr>
        <p:spPr>
          <a:xfrm>
            <a:off x="6373386" y="5156354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中心：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25C1EF-1ED3-4F01-BB12-A6193999568D}"/>
              </a:ext>
            </a:extLst>
          </p:cNvPr>
          <p:cNvSpPr/>
          <p:nvPr/>
        </p:nvSpPr>
        <p:spPr>
          <a:xfrm>
            <a:off x="9395451" y="512163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演讲人：庄灿波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8B8058-33CC-4C2E-A238-AA43FE0A805E}"/>
              </a:ext>
            </a:extLst>
          </p:cNvPr>
          <p:cNvSpPr txBox="1"/>
          <p:nvPr/>
        </p:nvSpPr>
        <p:spPr>
          <a:xfrm>
            <a:off x="1232498" y="1932564"/>
            <a:ext cx="6417141" cy="923330"/>
          </a:xfrm>
          <a:prstGeom prst="rect">
            <a:avLst/>
          </a:prstGeom>
          <a:noFill/>
          <a:effectLst>
            <a:outerShdw blurRad="63500" dist="254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语言模型和位置编码</a:t>
            </a:r>
          </a:p>
        </p:txBody>
      </p:sp>
    </p:spTree>
    <p:extLst>
      <p:ext uri="{BB962C8B-B14F-4D97-AF65-F5344CB8AC3E}">
        <p14:creationId xmlns:p14="http://schemas.microsoft.com/office/powerpoint/2010/main" val="339043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CCFF3163-6411-4E72-80BE-6DA15799316C}"/>
              </a:ext>
            </a:extLst>
          </p:cNvPr>
          <p:cNvSpPr txBox="1"/>
          <p:nvPr/>
        </p:nvSpPr>
        <p:spPr>
          <a:xfrm>
            <a:off x="5318166" y="1848179"/>
            <a:ext cx="4384675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绝对位置编码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FEC30F-B0F3-40BC-934D-C76F61789D7C}"/>
              </a:ext>
            </a:extLst>
          </p:cNvPr>
          <p:cNvSpPr txBox="1"/>
          <p:nvPr/>
        </p:nvSpPr>
        <p:spPr>
          <a:xfrm>
            <a:off x="5318166" y="2891646"/>
            <a:ext cx="4384675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相对位置编码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17E56E2-BBE8-4710-8B07-CCC776EE77F4}"/>
              </a:ext>
            </a:extLst>
          </p:cNvPr>
          <p:cNvSpPr txBox="1"/>
          <p:nvPr/>
        </p:nvSpPr>
        <p:spPr>
          <a:xfrm>
            <a:off x="5318167" y="3976404"/>
            <a:ext cx="4384675" cy="58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旋转位置编码长度外推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EE8C9C9-F407-4440-B867-5C0621AB9FD0}"/>
              </a:ext>
            </a:extLst>
          </p:cNvPr>
          <p:cNvSpPr/>
          <p:nvPr/>
        </p:nvSpPr>
        <p:spPr>
          <a:xfrm>
            <a:off x="1440125" y="2146064"/>
            <a:ext cx="2254803" cy="2254803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目录</a:t>
            </a:r>
            <a:endParaRPr lang="en-US" altLang="zh-CN" sz="40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新月形 20">
            <a:extLst>
              <a:ext uri="{FF2B5EF4-FFF2-40B4-BE49-F238E27FC236}">
                <a16:creationId xmlns:a16="http://schemas.microsoft.com/office/drawing/2014/main" id="{93B72F51-81DA-4170-946B-AC1B0C425716}"/>
              </a:ext>
            </a:extLst>
          </p:cNvPr>
          <p:cNvSpPr/>
          <p:nvPr/>
        </p:nvSpPr>
        <p:spPr>
          <a:xfrm rot="10800000">
            <a:off x="2731993" y="1018784"/>
            <a:ext cx="2167879" cy="4335757"/>
          </a:xfrm>
          <a:prstGeom prst="moon">
            <a:avLst>
              <a:gd name="adj" fmla="val 211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0664C580-631D-4563-AB29-41E618B2EECE}"/>
              </a:ext>
            </a:extLst>
          </p:cNvPr>
          <p:cNvSpPr/>
          <p:nvPr/>
        </p:nvSpPr>
        <p:spPr>
          <a:xfrm>
            <a:off x="3612087" y="1203510"/>
            <a:ext cx="407690" cy="407690"/>
          </a:xfrm>
          <a:prstGeom prst="ellipse">
            <a:avLst/>
          </a:prstGeom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4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6F5B0D39-6865-4069-B853-342652A0DEF1}"/>
              </a:ext>
            </a:extLst>
          </p:cNvPr>
          <p:cNvSpPr/>
          <p:nvPr/>
        </p:nvSpPr>
        <p:spPr>
          <a:xfrm>
            <a:off x="4414800" y="2026459"/>
            <a:ext cx="407690" cy="407690"/>
          </a:xfrm>
          <a:prstGeom prst="ellipse">
            <a:avLst/>
          </a:prstGeom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4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6D47D87C-876F-4A41-9D70-9FCEA2706995}"/>
              </a:ext>
            </a:extLst>
          </p:cNvPr>
          <p:cNvSpPr/>
          <p:nvPr/>
        </p:nvSpPr>
        <p:spPr>
          <a:xfrm>
            <a:off x="4608201" y="3044613"/>
            <a:ext cx="407690" cy="407690"/>
          </a:xfrm>
          <a:prstGeom prst="ellipse">
            <a:avLst/>
          </a:prstGeom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4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2F951E6-8F5C-4F0E-BADA-8A610EA8D7A8}"/>
              </a:ext>
            </a:extLst>
          </p:cNvPr>
          <p:cNvSpPr/>
          <p:nvPr/>
        </p:nvSpPr>
        <p:spPr>
          <a:xfrm>
            <a:off x="4390303" y="4062767"/>
            <a:ext cx="407690" cy="407690"/>
          </a:xfrm>
          <a:prstGeom prst="ellipse">
            <a:avLst/>
          </a:prstGeom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4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F230E8A9-55E6-4DB0-83DC-2AA7426368DC}"/>
              </a:ext>
            </a:extLst>
          </p:cNvPr>
          <p:cNvSpPr/>
          <p:nvPr/>
        </p:nvSpPr>
        <p:spPr>
          <a:xfrm>
            <a:off x="3621575" y="4858198"/>
            <a:ext cx="407690" cy="407690"/>
          </a:xfrm>
          <a:prstGeom prst="ellipse">
            <a:avLst/>
          </a:prstGeom>
          <a:ln>
            <a:noFill/>
          </a:ln>
          <a:effectLst>
            <a:outerShdw blurRad="381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400" b="1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159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7" y="293914"/>
            <a:ext cx="8921534" cy="457200"/>
          </a:xfrm>
        </p:spPr>
        <p:txBody>
          <a:bodyPr/>
          <a:lstStyle/>
          <a:p>
            <a:r>
              <a:rPr lang="zh-CN" altLang="en-US" dirty="0"/>
              <a:t>绝对位置编码</a:t>
            </a:r>
            <a:r>
              <a:rPr lang="en-US" altLang="zh-CN" dirty="0"/>
              <a:t>---Attention(</a:t>
            </a:r>
            <a:r>
              <a:rPr lang="zh-CN" altLang="en-US" dirty="0"/>
              <a:t>注意力</a:t>
            </a:r>
            <a:r>
              <a:rPr lang="en-US" altLang="zh-CN" dirty="0"/>
              <a:t>)</a:t>
            </a:r>
            <a:r>
              <a:rPr lang="zh-CN" altLang="en-US" dirty="0"/>
              <a:t>介绍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2519" y="997527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本质：从关注全部到关注重点</a:t>
            </a:r>
            <a:endParaRPr lang="en-US" altLang="zh-CN" dirty="0"/>
          </a:p>
          <a:p>
            <a:r>
              <a:rPr lang="zh-CN" altLang="en-US" dirty="0"/>
              <a:t>核心思想：加权求和</a:t>
            </a:r>
            <a:endParaRPr lang="en-US" altLang="zh-CN" dirty="0"/>
          </a:p>
        </p:txBody>
      </p:sp>
      <p:sp>
        <p:nvSpPr>
          <p:cNvPr id="4" name="AutoShape 4" descr="https://pic3.zhimg.com/80/v2-d69352253e5b8f4ce4769776b1e74bb2_720w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0" name="Picture 6" descr="https://pic3.zhimg.com/v2-d69352253e5b8f4ce4769776b1e74bb2_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074" y="997527"/>
            <a:ext cx="5144160" cy="477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6590804" y="6014131"/>
            <a:ext cx="5288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The animal didn't cross the street because it was too tired</a:t>
            </a:r>
            <a:endParaRPr lang="zh-CN" altLang="en-US" sz="2000" dirty="0"/>
          </a:p>
        </p:txBody>
      </p:sp>
      <p:pic>
        <p:nvPicPr>
          <p:cNvPr id="1032" name="Picture 8" descr="https://pic3.zhimg.com/v2-3253118aa50731664f9d284600e82002_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19" y="1795268"/>
            <a:ext cx="3590513" cy="359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65611" y="5642106"/>
            <a:ext cx="5379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第一步： </a:t>
            </a:r>
            <a:r>
              <a:rPr lang="en-US" altLang="zh-CN" dirty="0"/>
              <a:t>query </a:t>
            </a:r>
            <a:r>
              <a:rPr lang="zh-CN" altLang="en-US" dirty="0"/>
              <a:t>和 </a:t>
            </a:r>
            <a:r>
              <a:rPr lang="en-US" altLang="zh-CN" dirty="0"/>
              <a:t>key </a:t>
            </a:r>
            <a:r>
              <a:rPr lang="zh-CN" altLang="en-US" dirty="0"/>
              <a:t>进行相似度计算，得到权值</a:t>
            </a:r>
          </a:p>
          <a:p>
            <a:r>
              <a:rPr lang="zh-CN" altLang="en-US" dirty="0"/>
              <a:t>第二步：将权值进行归一化，得到直接可用的权重</a:t>
            </a:r>
          </a:p>
          <a:p>
            <a:r>
              <a:rPr lang="zh-CN" altLang="en-US" dirty="0"/>
              <a:t>第三步：将权重和 </a:t>
            </a:r>
            <a:r>
              <a:rPr lang="en-US" altLang="zh-CN" dirty="0"/>
              <a:t>value </a:t>
            </a:r>
            <a:r>
              <a:rPr lang="zh-CN" altLang="en-US" dirty="0"/>
              <a:t>进行加权求和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082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7" y="293914"/>
            <a:ext cx="8921534" cy="457200"/>
          </a:xfrm>
        </p:spPr>
        <p:txBody>
          <a:bodyPr/>
          <a:lstStyle/>
          <a:p>
            <a:r>
              <a:rPr lang="zh-CN" altLang="en-US" dirty="0"/>
              <a:t>绝对位置编码</a:t>
            </a:r>
            <a:r>
              <a:rPr lang="en-US" altLang="zh-CN" dirty="0"/>
              <a:t>---</a:t>
            </a:r>
            <a:r>
              <a:rPr lang="zh-CN" altLang="en-US" dirty="0"/>
              <a:t>为什么需要位置编码？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0639" y="1080655"/>
            <a:ext cx="11530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在未加入位置信息的情况下，无论 </a:t>
            </a:r>
            <a:r>
              <a:rPr lang="en-US" altLang="zh-CN" dirty="0"/>
              <a:t>q</a:t>
            </a:r>
            <a:r>
              <a:rPr lang="zh-CN" altLang="en-US" dirty="0"/>
              <a:t> 和 </a:t>
            </a:r>
            <a:r>
              <a:rPr lang="en-US" altLang="zh-CN" dirty="0"/>
              <a:t>k</a:t>
            </a:r>
            <a:r>
              <a:rPr lang="zh-CN" altLang="en-US" dirty="0"/>
              <a:t>所处的位置如何变化，它们之间的注意力权重</a:t>
            </a:r>
            <a:r>
              <a:rPr lang="en-US" altLang="zh-CN" dirty="0"/>
              <a:t>a(</a:t>
            </a:r>
            <a:r>
              <a:rPr lang="en-US" altLang="zh-CN" dirty="0" err="1"/>
              <a:t>m,n</a:t>
            </a:r>
            <a:r>
              <a:rPr lang="en-US" altLang="zh-CN" dirty="0"/>
              <a:t>) </a:t>
            </a:r>
            <a:r>
              <a:rPr lang="zh-CN" altLang="en-US" dirty="0"/>
              <a:t>均不会发生变化，也就是位置无关，这显然与我们的直觉不符。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对于两个词向量，如果它们之间的距离较近，我们希望它们之间的的注意力权重更大，当距离较远时，注意力权重更小。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9" y="3094162"/>
            <a:ext cx="4793735" cy="174092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049" y="2351047"/>
            <a:ext cx="5349834" cy="203962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609" y="4742094"/>
            <a:ext cx="256222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1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7" y="293914"/>
            <a:ext cx="8921534" cy="457200"/>
          </a:xfrm>
        </p:spPr>
        <p:txBody>
          <a:bodyPr/>
          <a:lstStyle/>
          <a:p>
            <a:r>
              <a:rPr lang="zh-CN" altLang="en-US" dirty="0"/>
              <a:t>绝对位置编码</a:t>
            </a:r>
            <a:r>
              <a:rPr lang="en-US" altLang="zh-CN" dirty="0"/>
              <a:t>—</a:t>
            </a:r>
            <a:r>
              <a:rPr lang="zh-CN" altLang="en-US" dirty="0"/>
              <a:t>训练式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0639" y="1080655"/>
            <a:ext cx="11530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包括：</a:t>
            </a:r>
            <a:r>
              <a:rPr lang="zh-CN" altLang="en-US" b="1" dirty="0"/>
              <a:t>训练式位置编码和三角函数式位置编码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93764" y="1635249"/>
            <a:ext cx="9666515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训练式位置编码：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每个位置的位置向量会随着模型一起训练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模型：</a:t>
            </a:r>
            <a:r>
              <a:rPr lang="en-US" altLang="zh-CN" dirty="0"/>
              <a:t>BERT, GPT-1, ALBERT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缺点：位置编码矩阵的大小是预设的，无法对其扩展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6" y="2230551"/>
            <a:ext cx="2962275" cy="514350"/>
          </a:xfrm>
          <a:prstGeom prst="rect">
            <a:avLst/>
          </a:prstGeom>
        </p:spPr>
      </p:pic>
      <p:pic>
        <p:nvPicPr>
          <p:cNvPr id="2050" name="Picture 2" descr="https://pic3.zhimg.com/v2-2dda422574a4d7431bd0adfe614b162a_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460" y="3525466"/>
            <a:ext cx="8239125" cy="248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99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7" y="293914"/>
            <a:ext cx="8921534" cy="457200"/>
          </a:xfrm>
        </p:spPr>
        <p:txBody>
          <a:bodyPr/>
          <a:lstStyle/>
          <a:p>
            <a:r>
              <a:rPr lang="zh-CN" altLang="en-US" dirty="0"/>
              <a:t>绝对位置编码</a:t>
            </a:r>
            <a:r>
              <a:rPr lang="en-US" altLang="zh-CN" dirty="0"/>
              <a:t>—</a:t>
            </a:r>
            <a:r>
              <a:rPr lang="zh-CN" altLang="en-US" dirty="0"/>
              <a:t>三角函数式位置编码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9386" y="1077674"/>
            <a:ext cx="966651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三角函数式位置编码的特点是有显式的生成规律，有一定的外推性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具有远程衰减的性质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sin(</a:t>
            </a:r>
            <a:r>
              <a:rPr lang="el-GR" altLang="zh-CN" dirty="0"/>
              <a:t>α+β)=</a:t>
            </a:r>
            <a:r>
              <a:rPr lang="en-US" altLang="zh-CN" dirty="0"/>
              <a:t>sin</a:t>
            </a:r>
            <a:r>
              <a:rPr lang="el-GR" altLang="zh-CN" dirty="0"/>
              <a:t>α</a:t>
            </a:r>
            <a:r>
              <a:rPr lang="en-US" altLang="zh-CN" dirty="0" err="1"/>
              <a:t>cos</a:t>
            </a:r>
            <a:r>
              <a:rPr lang="el-GR" altLang="zh-CN" dirty="0"/>
              <a:t>β+</a:t>
            </a:r>
            <a:r>
              <a:rPr lang="en-US" altLang="zh-CN" dirty="0" err="1"/>
              <a:t>cos</a:t>
            </a:r>
            <a:r>
              <a:rPr lang="el-GR" altLang="zh-CN" dirty="0"/>
              <a:t>α</a:t>
            </a:r>
            <a:r>
              <a:rPr lang="en-US" altLang="zh-CN" dirty="0"/>
              <a:t>sin</a:t>
            </a:r>
            <a:r>
              <a:rPr lang="el-GR" altLang="zh-CN" dirty="0"/>
              <a:t>β</a:t>
            </a:r>
            <a:r>
              <a:rPr lang="zh-CN" altLang="en-US" dirty="0"/>
              <a:t>以及</a:t>
            </a:r>
            <a:r>
              <a:rPr lang="en-US" altLang="zh-CN" dirty="0" err="1"/>
              <a:t>cos</a:t>
            </a:r>
            <a:r>
              <a:rPr lang="en-US" altLang="zh-CN" dirty="0"/>
              <a:t>(</a:t>
            </a:r>
            <a:r>
              <a:rPr lang="el-GR" altLang="zh-CN" dirty="0"/>
              <a:t>α+β)=</a:t>
            </a:r>
            <a:r>
              <a:rPr lang="en-US" altLang="zh-CN" dirty="0" err="1"/>
              <a:t>cos</a:t>
            </a:r>
            <a:r>
              <a:rPr lang="el-GR" altLang="zh-CN" dirty="0"/>
              <a:t>α</a:t>
            </a:r>
            <a:r>
              <a:rPr lang="en-US" altLang="zh-CN" dirty="0" err="1"/>
              <a:t>cos</a:t>
            </a:r>
            <a:r>
              <a:rPr lang="el-GR" altLang="zh-CN" dirty="0"/>
              <a:t>β−</a:t>
            </a:r>
            <a:r>
              <a:rPr lang="en-US" altLang="zh-CN" dirty="0"/>
              <a:t>sin</a:t>
            </a:r>
            <a:r>
              <a:rPr lang="el-GR" altLang="zh-CN" dirty="0"/>
              <a:t>α</a:t>
            </a:r>
            <a:r>
              <a:rPr lang="en-US" altLang="zh-CN" dirty="0"/>
              <a:t>sin</a:t>
            </a:r>
            <a:r>
              <a:rPr lang="el-GR" altLang="zh-CN" dirty="0"/>
              <a:t>β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61" y="1291839"/>
            <a:ext cx="3350622" cy="10777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059" y="3158560"/>
            <a:ext cx="4238625" cy="27622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4692" y="3404723"/>
            <a:ext cx="37909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0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绝对位置编码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1130" y="1022439"/>
            <a:ext cx="108555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/>
              <a:t>三角函数式位置编码和训练式位置编码在实验表现上区别不大，因此后面的一些论文如</a:t>
            </a:r>
            <a:r>
              <a:rPr lang="en-US" altLang="zh-CN" sz="2000" dirty="0"/>
              <a:t>BERT</a:t>
            </a:r>
            <a:r>
              <a:rPr lang="zh-CN" altLang="en-US" sz="2000" dirty="0"/>
              <a:t>，处于简便性考虑，采用训练式位置编码。</a:t>
            </a:r>
            <a:endParaRPr lang="zh-CN" altLang="en-US" dirty="0">
              <a:latin typeface="+mn-ea"/>
            </a:endParaRPr>
          </a:p>
        </p:txBody>
      </p:sp>
      <p:pic>
        <p:nvPicPr>
          <p:cNvPr id="3074" name="Picture 2" descr="https://img-blog.csdnimg.cn/0b7d4b9dac674ae48992be18ee19f6d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999" y="2425322"/>
            <a:ext cx="4234337" cy="317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75139" y="3325091"/>
            <a:ext cx="563377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三角函数式位置编码的问题：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cos</a:t>
            </a:r>
            <a:r>
              <a:rPr lang="zh-CN" altLang="en-US" dirty="0"/>
              <a:t>是一个偶函数，也就是说</a:t>
            </a:r>
            <a:r>
              <a:rPr lang="en-US" altLang="zh-CN" dirty="0"/>
              <a:t>pos1-pos2</a:t>
            </a:r>
            <a:r>
              <a:rPr lang="zh-CN" altLang="en-US" dirty="0"/>
              <a:t>等于</a:t>
            </a:r>
            <a:r>
              <a:rPr lang="en-US" altLang="zh-CN" dirty="0"/>
              <a:t>a</a:t>
            </a:r>
            <a:r>
              <a:rPr lang="zh-CN" altLang="en-US" dirty="0"/>
              <a:t>或−</a:t>
            </a:r>
            <a:r>
              <a:rPr lang="en-US" altLang="zh-CN" dirty="0"/>
              <a:t>a</a:t>
            </a:r>
            <a:r>
              <a:rPr lang="zh-CN" altLang="en-US" dirty="0"/>
              <a:t>对位置相关性是没有影响的，但实际上，我们希望位置编码是可以区分前后的。</a:t>
            </a:r>
          </a:p>
        </p:txBody>
      </p:sp>
    </p:spTree>
    <p:extLst>
      <p:ext uri="{BB962C8B-B14F-4D97-AF65-F5344CB8AC3E}">
        <p14:creationId xmlns:p14="http://schemas.microsoft.com/office/powerpoint/2010/main" val="99006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相对位置编码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5138" y="1107830"/>
            <a:ext cx="10855569" cy="3228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绝对位置编码但在处理长序列时可能会存在问题，因为序列的长度超过了模型能够处理的位置编码的范围。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相对位置编码是一种基于相对位置的方法，其中每个位置被编码为一个偏移量，表示该位置与其他位置之间的相对距离。相对位置编码可以通过在输入嵌入中添加额外的信息来实现。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这种编码方式可以处理长序列，并且能够在不同的上下文中保持一定的一致性。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8085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相对位置编码</a:t>
            </a:r>
            <a:r>
              <a:rPr lang="en-US" altLang="zh-CN" dirty="0"/>
              <a:t>-RPR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37" y="885577"/>
            <a:ext cx="7366228" cy="2069849"/>
          </a:xfrm>
          <a:prstGeom prst="rect">
            <a:avLst/>
          </a:prstGeom>
        </p:spPr>
      </p:pic>
      <p:pic>
        <p:nvPicPr>
          <p:cNvPr id="5122" name="Picture 2" descr="在这里插入图片描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45" y="3601234"/>
            <a:ext cx="601027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在这里插入图片描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151" y="3115459"/>
            <a:ext cx="6048375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8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相对位置编码</a:t>
            </a:r>
            <a:r>
              <a:rPr lang="en-US" altLang="zh-CN" dirty="0"/>
              <a:t>-RPR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75138" y="1107830"/>
            <a:ext cx="1085556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相对位置并没有完整建模每个输入的位置信息，而是在算</a:t>
            </a:r>
            <a:r>
              <a:rPr lang="en-US" altLang="zh-CN" sz="2000" dirty="0"/>
              <a:t>Attention</a:t>
            </a:r>
            <a:r>
              <a:rPr lang="zh-CN" altLang="en-US" sz="2000" dirty="0"/>
              <a:t>的时候考虑当前位置与被</a:t>
            </a:r>
            <a:r>
              <a:rPr lang="en-US" altLang="zh-CN" sz="2000" dirty="0"/>
              <a:t>Attention</a:t>
            </a:r>
            <a:r>
              <a:rPr lang="zh-CN" altLang="en-US" sz="2000" dirty="0"/>
              <a:t>的位置的相对距离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由于自然语言一般更依赖于相对位置，所以相对位置编码通常也有着优秀的表现。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只需要有限个位置编码，就可以表达出任意长度的相对位置（因为进行了截断），不管</a:t>
            </a:r>
            <a:r>
              <a:rPr lang="en-US" altLang="zh-CN" sz="2000" dirty="0" err="1"/>
              <a:t>pK,pV</a:t>
            </a:r>
            <a:r>
              <a:rPr lang="zh-CN" altLang="en-US" sz="2000" dirty="0"/>
              <a:t>是选择可训练式的还是三角函数式的，都可以达到处理任意长度文本的需求。</a:t>
            </a:r>
            <a:endParaRPr lang="en-US" altLang="zh-CN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850911" y="3610098"/>
            <a:ext cx="990402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与三角函数式位置编码比较：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三角函数式位置编码：正余弦编码仅加在了</a:t>
            </a:r>
            <a:r>
              <a:rPr lang="en-US" altLang="zh-CN" sz="2000" dirty="0"/>
              <a:t>embedding</a:t>
            </a:r>
            <a:r>
              <a:rPr lang="zh-CN" altLang="en-US" sz="2000" dirty="0"/>
              <a:t>层，初始的位置编码会在后面被线性变换所干扰。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RPR</a:t>
            </a:r>
            <a:r>
              <a:rPr lang="zh-CN" altLang="en-US" sz="2000" dirty="0"/>
              <a:t>是在每一层计算</a:t>
            </a:r>
            <a:r>
              <a:rPr lang="en-US" altLang="zh-CN" sz="2000" dirty="0"/>
              <a:t>attention</a:t>
            </a:r>
            <a:r>
              <a:rPr lang="zh-CN" altLang="en-US" sz="2000" dirty="0"/>
              <a:t>时都加上了</a:t>
            </a:r>
            <a:r>
              <a:rPr lang="en-US" altLang="zh-CN" sz="2000" dirty="0"/>
              <a:t>relative position embedding</a:t>
            </a:r>
            <a:r>
              <a:rPr lang="zh-CN" altLang="en-US" sz="2000" dirty="0"/>
              <a:t>其“缺点”是超出截断距离的相对位置量不再变化（受限于它的定义）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0754" y="6270171"/>
            <a:ext cx="1008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其他的一些相对位置编码：</a:t>
            </a:r>
            <a:r>
              <a:rPr lang="en-US" altLang="zh-CN" dirty="0"/>
              <a:t>Transformer-XL, T5, </a:t>
            </a:r>
            <a:r>
              <a:rPr lang="en-US" altLang="zh-CN" dirty="0" err="1"/>
              <a:t>DeBERTa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175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相对位置编码</a:t>
            </a:r>
            <a:r>
              <a:rPr lang="en-US" altLang="zh-CN" dirty="0"/>
              <a:t>-</a:t>
            </a:r>
            <a:r>
              <a:rPr lang="en-US" altLang="zh-CN" dirty="0" err="1"/>
              <a:t>ALiBi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75138" y="1107830"/>
            <a:ext cx="608503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当前大语言模型常用的两种位置编码：</a:t>
            </a:r>
            <a:r>
              <a:rPr lang="en-US" altLang="zh-CN" sz="2000" dirty="0" err="1"/>
              <a:t>ALiBi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RoPE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模型：</a:t>
            </a:r>
            <a:r>
              <a:rPr lang="en-US" altLang="zh-CN" sz="2000" dirty="0"/>
              <a:t>BLOOM, baichuan2-13B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核心思想：不给词向量加入位置嵌入向量，而是用一个和</a:t>
            </a:r>
            <a:r>
              <a:rPr lang="en-US" altLang="zh-CN" sz="2000" dirty="0"/>
              <a:t>query, key</a:t>
            </a:r>
            <a:r>
              <a:rPr lang="zh-CN" altLang="en-US" sz="2000" dirty="0"/>
              <a:t>之间的距离成比例的一个“惩罚项”来偏置</a:t>
            </a:r>
            <a:r>
              <a:rPr lang="en-US" altLang="zh-CN" sz="2000" dirty="0"/>
              <a:t>query-key</a:t>
            </a:r>
            <a:r>
              <a:rPr lang="zh-CN" altLang="en-US" sz="2000" dirty="0"/>
              <a:t>的注意力得分。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优点：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可以加快</a:t>
            </a:r>
            <a:r>
              <a:rPr lang="en-US" altLang="zh-CN" sz="2000" dirty="0"/>
              <a:t>11%</a:t>
            </a:r>
            <a:r>
              <a:rPr lang="zh-CN" altLang="en-US" sz="2000" dirty="0"/>
              <a:t>的训练速度，以及减少</a:t>
            </a:r>
            <a:r>
              <a:rPr lang="en-US" altLang="zh-CN" sz="2000" dirty="0"/>
              <a:t>11%</a:t>
            </a:r>
            <a:r>
              <a:rPr lang="zh-CN" altLang="en-US" sz="2000" dirty="0"/>
              <a:t>的内存使用。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更长的</a:t>
            </a:r>
            <a:r>
              <a:rPr lang="en-US" altLang="zh-CN" sz="2000" dirty="0"/>
              <a:t>token</a:t>
            </a:r>
            <a:r>
              <a:rPr lang="zh-CN" altLang="en-US" sz="2000" dirty="0"/>
              <a:t>上推理时，表现相比于之前的方法更稳定</a:t>
            </a:r>
            <a:endParaRPr lang="en-US" altLang="zh-CN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63" y="905949"/>
            <a:ext cx="3300413" cy="25300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263" y="3703122"/>
            <a:ext cx="3348904" cy="242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8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相对位置编码</a:t>
            </a:r>
            <a:r>
              <a:rPr lang="en-US" altLang="zh-CN" dirty="0"/>
              <a:t>-</a:t>
            </a:r>
            <a:r>
              <a:rPr lang="en-US" altLang="zh-CN" dirty="0" err="1"/>
              <a:t>ALiBi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75138" y="1107830"/>
            <a:ext cx="6085039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/>
              <a:t>计算公式：</a:t>
            </a:r>
            <a:endParaRPr lang="en-US" altLang="zh-CN" sz="2000" dirty="0"/>
          </a:p>
        </p:txBody>
      </p:sp>
      <p:pic>
        <p:nvPicPr>
          <p:cNvPr id="9218" name="Picture 2" descr="https://pic4.zhimg.com/v2-abdff6856381339c659c117dd1e061d3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97" y="1831748"/>
            <a:ext cx="9258300" cy="81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pic3.zhimg.com/v2-c557642bf609237332c39ca17b84907a_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936" y="3116975"/>
            <a:ext cx="7088383" cy="323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72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相对位置编码</a:t>
            </a:r>
            <a:r>
              <a:rPr lang="en-US" altLang="zh-CN" dirty="0"/>
              <a:t>-</a:t>
            </a:r>
            <a:r>
              <a:rPr lang="en-US" altLang="zh-CN" dirty="0" err="1"/>
              <a:t>RoPE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75138" y="1107830"/>
            <a:ext cx="1012264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/>
              <a:t>三角函数式位置编码的相对位置关系的表示还是比较间接的，寻找更直接的表示相对位置。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旋转位置编码（</a:t>
            </a:r>
            <a:r>
              <a:rPr lang="en-US" altLang="zh-CN" sz="2000" dirty="0"/>
              <a:t>Rotary Position Embedding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RoPE</a:t>
            </a:r>
            <a:r>
              <a:rPr lang="zh-CN" altLang="en-US" sz="2000" dirty="0"/>
              <a:t>）是一种用绝对位置编码来表征相对位置编码的方法，并被用在了很多大语言模型的设计中。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模型：</a:t>
            </a:r>
            <a:r>
              <a:rPr lang="en-US" altLang="zh-CN" sz="2000" dirty="0"/>
              <a:t>Llama, </a:t>
            </a:r>
            <a:r>
              <a:rPr lang="en-US" altLang="zh-CN" sz="2000" dirty="0" err="1"/>
              <a:t>Qwen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ChatGLM</a:t>
            </a:r>
            <a:r>
              <a:rPr lang="zh-CN" altLang="en-US" sz="2000" dirty="0"/>
              <a:t>等。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思路：向量的内积可以表示为它们之间距离的差</a:t>
            </a:r>
            <a:r>
              <a:rPr lang="en-US" altLang="zh-CN" sz="2000" dirty="0"/>
              <a:t>m-n</a:t>
            </a:r>
            <a:r>
              <a:rPr lang="zh-CN" altLang="en-US" sz="2000" dirty="0"/>
              <a:t>的一个函数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949" y="4388483"/>
            <a:ext cx="59150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1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相对位置编码</a:t>
            </a:r>
            <a:r>
              <a:rPr lang="en-US" altLang="zh-CN" dirty="0"/>
              <a:t>-</a:t>
            </a:r>
            <a:r>
              <a:rPr lang="en-US" altLang="zh-CN" dirty="0" err="1"/>
              <a:t>RoPE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326" y="909013"/>
            <a:ext cx="5915025" cy="8001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8140" y="1867012"/>
            <a:ext cx="552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在二维矩阵上面的尝试：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508" y="2236344"/>
            <a:ext cx="6848642" cy="23514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8140" y="4726379"/>
            <a:ext cx="407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是非对称的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673" y="5387957"/>
            <a:ext cx="8877424" cy="120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7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相对位置编码</a:t>
            </a:r>
            <a:r>
              <a:rPr lang="en-US" altLang="zh-CN" dirty="0"/>
              <a:t>-</a:t>
            </a:r>
            <a:r>
              <a:rPr lang="en-US" altLang="zh-CN" dirty="0" err="1"/>
              <a:t>RoPE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684" y="964488"/>
            <a:ext cx="552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扩充到</a:t>
            </a:r>
            <a:r>
              <a:rPr lang="en-US" altLang="zh-CN" dirty="0"/>
              <a:t>d</a:t>
            </a:r>
            <a:r>
              <a:rPr lang="zh-CN" altLang="en-US" dirty="0"/>
              <a:t>维</a:t>
            </a:r>
            <a:endParaRPr lang="en-US" altLang="zh-CN" dirty="0"/>
          </a:p>
        </p:txBody>
      </p:sp>
      <p:pic>
        <p:nvPicPr>
          <p:cNvPr id="10242" name="Picture 2" descr="https://pic1.zhimg.com/v2-288184fcf3d31a15348457219e9332d4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84" y="1333820"/>
            <a:ext cx="6308963" cy="215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601684" y="3670666"/>
            <a:ext cx="276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等价的实现</a:t>
            </a:r>
          </a:p>
        </p:txBody>
      </p:sp>
      <p:pic>
        <p:nvPicPr>
          <p:cNvPr id="10244" name="Picture 4" descr="https://pic4.zhimg.com/v2-21442e7619ddd51b36fd7fd2e0b58b97_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902" y="4224664"/>
            <a:ext cx="5381129" cy="248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84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7" y="293914"/>
            <a:ext cx="7057108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</a:t>
            </a:r>
            <a:r>
              <a:rPr lang="zh-CN" altLang="en-US" dirty="0"/>
              <a:t>位置插值（</a:t>
            </a:r>
            <a:r>
              <a:rPr lang="en-US" altLang="zh-CN" dirty="0"/>
              <a:t>PI)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16676" y="1239949"/>
            <a:ext cx="50034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可以扩展预训练大型语言模型（</a:t>
            </a:r>
            <a:r>
              <a:rPr lang="en-US" altLang="zh-CN" dirty="0"/>
              <a:t>LLMs</a:t>
            </a:r>
            <a:r>
              <a:rPr lang="zh-CN" altLang="en-US" dirty="0"/>
              <a:t>）如</a:t>
            </a:r>
            <a:r>
              <a:rPr lang="en-US" altLang="zh-CN" dirty="0" err="1"/>
              <a:t>LLaMA</a:t>
            </a:r>
            <a:r>
              <a:rPr lang="zh-CN" altLang="en-US" dirty="0"/>
              <a:t>的上下文窗口大小，最多可达</a:t>
            </a:r>
            <a:r>
              <a:rPr lang="en-US" altLang="zh-CN" dirty="0"/>
              <a:t>32768</a:t>
            </a:r>
            <a:r>
              <a:rPr lang="zh-CN" altLang="en-US" dirty="0"/>
              <a:t>，且只需要短时间的微调。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PI</a:t>
            </a:r>
            <a:r>
              <a:rPr lang="zh-CN" altLang="en-US" dirty="0"/>
              <a:t>通过线性降低输入位置索引以匹配原始上下文窗口大小，而不是超出训练上下文长度的外推。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通过</a:t>
            </a:r>
            <a:r>
              <a:rPr lang="en-US" altLang="zh-CN" dirty="0"/>
              <a:t>PI</a:t>
            </a:r>
            <a:r>
              <a:rPr lang="zh-CN" altLang="en-US" dirty="0"/>
              <a:t>扩展的模型在其原始上下文窗口内的任务上保持了相对良好的质量。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微调仅需要数万至数十万的样本，并且对样本的选择不敏感。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885" y="1426153"/>
            <a:ext cx="6069004" cy="318074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474" y="4996061"/>
            <a:ext cx="3645176" cy="91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7" y="293914"/>
            <a:ext cx="7057108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</a:t>
            </a:r>
            <a:r>
              <a:rPr lang="en-US" altLang="zh-CN" dirty="0" err="1"/>
              <a:t>RoPE</a:t>
            </a:r>
            <a:r>
              <a:rPr lang="zh-CN" altLang="en-US" dirty="0"/>
              <a:t>性质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7512" y="1033153"/>
            <a:ext cx="11364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远程衰减性</a:t>
            </a:r>
            <a:endParaRPr lang="en-US" altLang="zh-CN" dirty="0"/>
          </a:p>
          <a:p>
            <a:pPr marL="342900" indent="-342900">
              <a:buAutoNum type="arabicPeriod"/>
            </a:pPr>
            <a:endParaRPr lang="zh-CN" altLang="en-US" dirty="0"/>
          </a:p>
        </p:txBody>
      </p:sp>
      <p:pic>
        <p:nvPicPr>
          <p:cNvPr id="13314" name="Picture 2" descr="https://pic3.zhimg.com/v2-69ae55300fcc12287d377f7adb80ac92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74" y="1679483"/>
            <a:ext cx="6103917" cy="469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40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7" y="293914"/>
            <a:ext cx="7057108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</a:t>
            </a:r>
            <a:r>
              <a:rPr lang="en-US" altLang="zh-CN" dirty="0" err="1"/>
              <a:t>RoPE</a:t>
            </a:r>
            <a:r>
              <a:rPr lang="zh-CN" altLang="en-US" dirty="0"/>
              <a:t>性质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7512" y="1033153"/>
            <a:ext cx="1136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周期性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12" y="1508847"/>
            <a:ext cx="5309365" cy="21843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0874" y="3811979"/>
            <a:ext cx="5082639" cy="2951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对于每组分量，它的旋转弧度随着位置索引的增加而线性增加。</a:t>
            </a:r>
            <a:r>
              <a:rPr lang="zh-CN" altLang="en-US" b="1" dirty="0"/>
              <a:t>每组分量的旋转都具有周期性</a:t>
            </a:r>
            <a:r>
              <a:rPr lang="zh-CN" altLang="en-US" dirty="0"/>
              <a:t>，因为旋转一圈的弧度是 </a:t>
            </a:r>
            <a:r>
              <a:rPr lang="en-US" altLang="zh-CN" dirty="0"/>
              <a:t>2pi</a:t>
            </a:r>
            <a:r>
              <a:rPr lang="zh-CN" altLang="en-US" dirty="0"/>
              <a:t>，所以</a:t>
            </a:r>
            <a:r>
              <a:rPr lang="en-US" altLang="zh-CN" dirty="0" err="1"/>
              <a:t>RoPE</a:t>
            </a:r>
            <a:r>
              <a:rPr lang="zh-CN" altLang="en-US" dirty="0"/>
              <a:t>中的向量旋转就像时钟一样，具有周期性。并且我们发现越靠后的分组，它的旋转速度越慢。例如当向量位于位置</a:t>
            </a:r>
            <a:r>
              <a:rPr lang="en-US" altLang="zh-CN" dirty="0"/>
              <a:t>500</a:t>
            </a:r>
            <a:r>
              <a:rPr lang="zh-CN" altLang="en-US" dirty="0"/>
              <a:t>时，它的第</a:t>
            </a:r>
            <a:r>
              <a:rPr lang="en-US" altLang="zh-CN" dirty="0"/>
              <a:t>0</a:t>
            </a:r>
            <a:r>
              <a:rPr lang="zh-CN" altLang="en-US" dirty="0"/>
              <a:t>组分量已经旋转了</a:t>
            </a:r>
            <a:r>
              <a:rPr lang="en-US" altLang="zh-CN" dirty="0"/>
              <a:t>500</a:t>
            </a:r>
            <a:r>
              <a:rPr lang="zh-CN" altLang="en-US" dirty="0"/>
              <a:t>弧度，但第</a:t>
            </a:r>
            <a:r>
              <a:rPr lang="en-US" altLang="zh-CN" dirty="0"/>
              <a:t>8</a:t>
            </a:r>
            <a:r>
              <a:rPr lang="zh-CN" altLang="en-US" dirty="0"/>
              <a:t>组分量的旋转弧度仅为</a:t>
            </a:r>
            <a:r>
              <a:rPr lang="en-US" altLang="zh-CN" dirty="0"/>
              <a:t>158</a:t>
            </a:r>
            <a:r>
              <a:rPr lang="zh-CN" altLang="en-US" dirty="0"/>
              <a:t>左右。</a:t>
            </a:r>
          </a:p>
        </p:txBody>
      </p:sp>
      <p:pic>
        <p:nvPicPr>
          <p:cNvPr id="17410" name="Picture 2" descr="https://pic2.zhimg.com/v2-9f4c52448ba4631c3b503de9fa347775_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426" y="897974"/>
            <a:ext cx="3958648" cy="291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536" y="3896713"/>
            <a:ext cx="3789538" cy="286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6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7" y="293914"/>
            <a:ext cx="7057108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</a:t>
            </a:r>
            <a:r>
              <a:rPr lang="en-US" altLang="zh-CN" dirty="0" err="1"/>
              <a:t>RoPE</a:t>
            </a:r>
            <a:r>
              <a:rPr lang="zh-CN" altLang="en-US" dirty="0"/>
              <a:t>性质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7512" y="1033153"/>
            <a:ext cx="1136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我们后续讨论的所有长度扩展方法，本质上都是通过缩小旋转弧度          ，以达到长度扩展的目的</a:t>
            </a:r>
            <a:r>
              <a:rPr lang="zh-CN" altLang="en-US" dirty="0"/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593" y="1023278"/>
            <a:ext cx="666997" cy="3890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12" y="1694399"/>
            <a:ext cx="9950933" cy="236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6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6" y="293914"/>
            <a:ext cx="9052163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—NTK-Aware </a:t>
            </a:r>
            <a:r>
              <a:rPr lang="zh-CN" altLang="en-US" dirty="0"/>
              <a:t>插值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6676" y="1239949"/>
            <a:ext cx="50034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灵感来源：</a:t>
            </a:r>
            <a:r>
              <a:rPr lang="en-US" altLang="zh-CN" sz="2000" dirty="0"/>
              <a:t>NTK</a:t>
            </a:r>
            <a:r>
              <a:rPr lang="zh-CN" altLang="en-US" sz="2000" dirty="0"/>
              <a:t>（神经正切核）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高频信息对于神经网络非常重要，而</a:t>
            </a:r>
            <a:r>
              <a:rPr lang="en-US" altLang="zh-CN" sz="2000" dirty="0"/>
              <a:t>Position Interpolation</a:t>
            </a:r>
            <a:r>
              <a:rPr lang="zh-CN" altLang="en-US" sz="2000" dirty="0"/>
              <a:t>对于向量的所有分组不加区分地缩小旋转弧度，降低旋转速度（进一步体现为对其正弦函数进行拉伸），会导致模型的高频信息缺失，从而影响模型的性能。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希望保留这些高频信息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模型：</a:t>
            </a:r>
            <a:r>
              <a:rPr lang="en-US" altLang="zh-CN" sz="2000" dirty="0"/>
              <a:t>Code </a:t>
            </a:r>
            <a:r>
              <a:rPr lang="en-US" altLang="zh-CN" sz="2000" dirty="0" err="1"/>
              <a:t>LLaMA</a:t>
            </a:r>
            <a:endParaRPr lang="en-US" altLang="zh-CN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963" y="1293639"/>
            <a:ext cx="6560491" cy="7375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33963" y="945072"/>
            <a:ext cx="4120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使用了缩放因子：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33963" y="2144259"/>
            <a:ext cx="5640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Code </a:t>
            </a:r>
            <a:r>
              <a:rPr lang="en-US" altLang="zh-CN" dirty="0" err="1"/>
              <a:t>LLaMA</a:t>
            </a:r>
            <a:r>
              <a:rPr lang="en-US" altLang="zh-CN" dirty="0"/>
              <a:t>:α=100</a:t>
            </a:r>
            <a:r>
              <a:rPr lang="zh-CN" altLang="en-US" dirty="0"/>
              <a:t>（</a:t>
            </a:r>
            <a:r>
              <a:rPr lang="en-US" altLang="zh-CN" dirty="0"/>
              <a:t>base=1000000)</a:t>
            </a:r>
          </a:p>
          <a:p>
            <a:r>
              <a:rPr lang="zh-CN" altLang="en-US" dirty="0"/>
              <a:t>调整后的旋转弧度与原始旋转弧度的倍数关系如下：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963" y="2790590"/>
            <a:ext cx="5241384" cy="1257367"/>
          </a:xfrm>
          <a:prstGeom prst="rect">
            <a:avLst/>
          </a:prstGeom>
        </p:spPr>
      </p:pic>
      <p:pic>
        <p:nvPicPr>
          <p:cNvPr id="18434" name="Picture 2" descr="https://pic3.zhimg.com/v2-19592773bab12b80422668cc2b09fa76_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224" y="4082942"/>
            <a:ext cx="3551968" cy="269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80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6" y="293914"/>
            <a:ext cx="9052163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—NTK-Aware </a:t>
            </a:r>
            <a:r>
              <a:rPr lang="zh-CN" altLang="en-US" dirty="0"/>
              <a:t>插值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0426" y="919315"/>
            <a:ext cx="481346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评测结果表明，在不进行</a:t>
            </a:r>
            <a:r>
              <a:rPr lang="en-US" altLang="zh-CN" sz="2000" dirty="0" err="1"/>
              <a:t>finetune</a:t>
            </a:r>
            <a:r>
              <a:rPr lang="zh-CN" altLang="en-US" sz="2000" dirty="0"/>
              <a:t>的时候，</a:t>
            </a:r>
            <a:r>
              <a:rPr lang="en-US" altLang="zh-CN" sz="2000" dirty="0"/>
              <a:t>NTK-Aware</a:t>
            </a:r>
            <a:r>
              <a:rPr lang="zh-CN" altLang="en-US" sz="2000" dirty="0"/>
              <a:t>插值的效果比线性插值更优。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解释：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靠前的分组，在训练中见过非常多完整的旋转周期，位置信息得到了充分的训练，所以具有较强的外推能力。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靠后的分组，在训练中无法见到完整的旋转周期，或者见到的旋转周期非常少，训练不够充分，外推性能弱，需要进行位置插值。</a:t>
            </a:r>
            <a:endParaRPr lang="en-US" altLang="zh-CN" sz="2000" dirty="0"/>
          </a:p>
        </p:txBody>
      </p:sp>
      <p:pic>
        <p:nvPicPr>
          <p:cNvPr id="20482" name="Picture 2" descr="https://pic2.zhimg.com/v2-29603ac3329a98fe2d0127e99b60ddc5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447" y="1572292"/>
            <a:ext cx="5771408" cy="362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84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6" y="293914"/>
            <a:ext cx="9052163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—NTK-by-parts Interpolation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40426" y="919315"/>
            <a:ext cx="4813465" cy="960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核心思想是：不改变高频部分，仅缩小低频部分的旋转弧度。</a:t>
            </a:r>
            <a:endParaRPr lang="en-US" altLang="zh-CN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891" y="1076015"/>
            <a:ext cx="6705600" cy="31146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41" y="4681785"/>
            <a:ext cx="842010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4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6" y="293914"/>
            <a:ext cx="9052163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—Dynamic NTK Interpolation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40426" y="919315"/>
            <a:ext cx="48134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前面</a:t>
            </a:r>
            <a:r>
              <a:rPr lang="en-US" altLang="zh-CN" sz="2000" dirty="0"/>
              <a:t>NTK</a:t>
            </a:r>
            <a:r>
              <a:rPr lang="zh-CN" altLang="en-US" sz="2000" dirty="0"/>
              <a:t>存在问题：超出训练长度时，插值方法都比原模型直接外推的效果更好。在训练长度内，推理表现都比原模型差。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思路：推理长度小于等于训练长度时，不进行插值；推理长度大于训练长度时，每一步都通过</a:t>
            </a:r>
            <a:r>
              <a:rPr lang="en-US" altLang="zh-CN" sz="2000" dirty="0"/>
              <a:t>NTK-Aware Interpolation</a:t>
            </a:r>
            <a:r>
              <a:rPr lang="zh-CN" altLang="en-US" sz="2000" dirty="0"/>
              <a:t>动态放大</a:t>
            </a:r>
            <a:r>
              <a:rPr lang="en-US" altLang="zh-CN" sz="2000" dirty="0"/>
              <a:t>base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模型：</a:t>
            </a:r>
            <a:r>
              <a:rPr lang="en-US" altLang="zh-CN" sz="2000" dirty="0" err="1"/>
              <a:t>qwen</a:t>
            </a:r>
            <a:endParaRPr lang="en-US" altLang="zh-CN" sz="2000" dirty="0"/>
          </a:p>
        </p:txBody>
      </p:sp>
      <p:pic>
        <p:nvPicPr>
          <p:cNvPr id="21506" name="Picture 2" descr="https://pic2.zhimg.com/v2-29603ac3329a98fe2d0127e99b60ddc5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115" y="919314"/>
            <a:ext cx="5704936" cy="358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99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6" y="293914"/>
            <a:ext cx="9052163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—Dynamic NTK Interpolation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40426" y="919315"/>
            <a:ext cx="48134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前面</a:t>
            </a:r>
            <a:r>
              <a:rPr lang="en-US" altLang="zh-CN" sz="2000" dirty="0"/>
              <a:t>NTK</a:t>
            </a:r>
            <a:r>
              <a:rPr lang="zh-CN" altLang="en-US" sz="2000" dirty="0"/>
              <a:t>存在问题：超出训练长度时，插值方法都比原模型直接外推的效果更好。在训练长度内，推理表现都比原模型差。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思路：推理长度小于等于训练长度时，不进行插值；推理长度大于训练长度时，每一步都通过</a:t>
            </a:r>
            <a:r>
              <a:rPr lang="en-US" altLang="zh-CN" sz="2000" dirty="0"/>
              <a:t>NTK-Aware Interpolation</a:t>
            </a:r>
            <a:r>
              <a:rPr lang="zh-CN" altLang="en-US" sz="2000" dirty="0"/>
              <a:t>动态放大</a:t>
            </a:r>
            <a:r>
              <a:rPr lang="en-US" altLang="zh-CN" sz="2000" dirty="0"/>
              <a:t>base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模型：</a:t>
            </a:r>
            <a:r>
              <a:rPr lang="en-US" altLang="zh-CN" sz="2000" dirty="0" err="1"/>
              <a:t>qwen</a:t>
            </a:r>
            <a:endParaRPr lang="en-US" altLang="zh-CN" sz="2000" dirty="0"/>
          </a:p>
        </p:txBody>
      </p:sp>
      <p:pic>
        <p:nvPicPr>
          <p:cNvPr id="21506" name="Picture 2" descr="https://pic2.zhimg.com/v2-29603ac3329a98fe2d0127e99b60ddc5_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115" y="919314"/>
            <a:ext cx="5704936" cy="358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76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4366" y="293914"/>
            <a:ext cx="9052163" cy="457200"/>
          </a:xfrm>
        </p:spPr>
        <p:txBody>
          <a:bodyPr/>
          <a:lstStyle/>
          <a:p>
            <a:r>
              <a:rPr lang="zh-CN" altLang="en-US" dirty="0"/>
              <a:t>旋转位置编码长度外推</a:t>
            </a:r>
            <a:r>
              <a:rPr lang="en-US" altLang="zh-CN" dirty="0"/>
              <a:t>—</a:t>
            </a:r>
            <a:r>
              <a:rPr lang="zh-CN" altLang="en-US" dirty="0"/>
              <a:t>实验以及建议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0426" y="919315"/>
            <a:ext cx="48134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实验：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Base=1000000 </a:t>
            </a:r>
            <a:r>
              <a:rPr lang="zh-CN" altLang="en-US" sz="2000" dirty="0"/>
              <a:t>效果可以接受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PI : 2k-&gt;16k </a:t>
            </a:r>
            <a:r>
              <a:rPr lang="zh-CN" altLang="en-US" sz="2000" dirty="0"/>
              <a:t>效果可以接受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Dynamic: </a:t>
            </a:r>
            <a:r>
              <a:rPr lang="zh-CN" altLang="en-US" sz="2000" dirty="0"/>
              <a:t>不理想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建议：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大</a:t>
            </a:r>
            <a:r>
              <a:rPr lang="en-US" altLang="zh-CN" sz="2000" dirty="0"/>
              <a:t>base, PI, YARN</a:t>
            </a:r>
          </a:p>
        </p:txBody>
      </p:sp>
      <p:pic>
        <p:nvPicPr>
          <p:cNvPr id="23556" name="Picture 4" descr="https://img-blog.csdnimg.cn/img_convert/69dde5f9c6bc90a0685188461906289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014" y="998961"/>
            <a:ext cx="7475844" cy="278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71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E11991FA-2EFF-4275-AC55-9825443D3DDA}"/>
              </a:ext>
            </a:extLst>
          </p:cNvPr>
          <p:cNvSpPr txBox="1"/>
          <p:nvPr/>
        </p:nvSpPr>
        <p:spPr>
          <a:xfrm>
            <a:off x="2382758" y="2118162"/>
            <a:ext cx="4993676" cy="1200329"/>
          </a:xfrm>
          <a:prstGeom prst="rect">
            <a:avLst/>
          </a:prstGeom>
          <a:noFill/>
          <a:effectLst>
            <a:outerShdw blurRad="63500" dist="254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spc="3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谢谢观看！</a:t>
            </a:r>
          </a:p>
        </p:txBody>
      </p:sp>
    </p:spTree>
    <p:extLst>
      <p:ext uri="{BB962C8B-B14F-4D97-AF65-F5344CB8AC3E}">
        <p14:creationId xmlns:p14="http://schemas.microsoft.com/office/powerpoint/2010/main" val="273011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hnfxcok">
      <a:majorFont>
        <a:latin typeface="Arial" panose="020F0302020204030204"/>
        <a:ea typeface="Microsoft YaHei"/>
        <a:cs typeface=""/>
      </a:majorFont>
      <a:minorFont>
        <a:latin typeface="Arial" panose="020F0502020204030204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17593</TotalTime>
  <Words>1574</Words>
  <Application>Microsoft Office PowerPoint</Application>
  <PresentationFormat>宽屏</PresentationFormat>
  <Paragraphs>112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方正正黑简体</vt:lpstr>
      <vt:lpstr>微软雅黑</vt:lpstr>
      <vt:lpstr>Arial</vt:lpstr>
      <vt:lpstr>Calibri</vt:lpstr>
      <vt:lpstr>Wingdings</vt:lpstr>
      <vt:lpstr>第一PPT，www.1ppt.com</vt:lpstr>
      <vt:lpstr>自定义设计方案</vt:lpstr>
      <vt:lpstr>PowerPoint 演示文稿</vt:lpstr>
      <vt:lpstr>PowerPoint 演示文稿</vt:lpstr>
      <vt:lpstr>绝对位置编码---Attention(注意力)介绍</vt:lpstr>
      <vt:lpstr>绝对位置编码---为什么需要位置编码？</vt:lpstr>
      <vt:lpstr>绝对位置编码—训练式</vt:lpstr>
      <vt:lpstr>绝对位置编码—三角函数式位置编码</vt:lpstr>
      <vt:lpstr>绝对位置编码</vt:lpstr>
      <vt:lpstr>相对位置编码</vt:lpstr>
      <vt:lpstr>相对位置编码-RPR</vt:lpstr>
      <vt:lpstr>相对位置编码-RPR</vt:lpstr>
      <vt:lpstr>相对位置编码-ALiBi</vt:lpstr>
      <vt:lpstr>相对位置编码-ALiBi</vt:lpstr>
      <vt:lpstr>相对位置编码-RoPE</vt:lpstr>
      <vt:lpstr>相对位置编码-RoPE</vt:lpstr>
      <vt:lpstr>相对位置编码-RoPE</vt:lpstr>
      <vt:lpstr>旋转位置编码长度外推—位置插值（PI)</vt:lpstr>
      <vt:lpstr>旋转位置编码长度外推—RoPE性质</vt:lpstr>
      <vt:lpstr>旋转位置编码长度外推—RoPE性质</vt:lpstr>
      <vt:lpstr>旋转位置编码长度外推—RoPE性质</vt:lpstr>
      <vt:lpstr>旋转位置编码长度外推—NTK-Aware 插值</vt:lpstr>
      <vt:lpstr>旋转位置编码长度外推—NTK-Aware 插值</vt:lpstr>
      <vt:lpstr>旋转位置编码长度外推—NTK-by-parts Interpolation</vt:lpstr>
      <vt:lpstr>旋转位置编码长度外推—Dynamic NTK Interpolation</vt:lpstr>
      <vt:lpstr>旋转位置编码长度外推—Dynamic NTK Interpolation</vt:lpstr>
      <vt:lpstr>旋转位置编码长度外推—实验以及建议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dc:description>www.1ppt.com</dc:description>
  <cp:lastModifiedBy>闯 彭</cp:lastModifiedBy>
  <cp:revision>171</cp:revision>
  <dcterms:created xsi:type="dcterms:W3CDTF">2018-05-22T14:19:35Z</dcterms:created>
  <dcterms:modified xsi:type="dcterms:W3CDTF">2024-03-21T14:40:45Z</dcterms:modified>
</cp:coreProperties>
</file>
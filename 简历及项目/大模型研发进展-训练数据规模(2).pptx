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26" r:id="rId3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7" userDrawn="1">
          <p15:clr>
            <a:srgbClr val="A4A3A4"/>
          </p15:clr>
        </p15:guide>
        <p15:guide id="2" pos="39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苏再添" initials="苏再添" lastIdx="2" clrIdx="0"/>
  <p:cmAuthor id="2" name="方玲" initials="方玲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CC00"/>
    <a:srgbClr val="57225A"/>
    <a:srgbClr val="971213"/>
    <a:srgbClr val="EB623E"/>
    <a:srgbClr val="5E1D4B"/>
    <a:srgbClr val="3A2A6B"/>
    <a:srgbClr val="FED7CC"/>
    <a:srgbClr val="C49D9C"/>
    <a:srgbClr val="691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7" autoAdjust="0"/>
    <p:restoredTop sz="82366" autoAdjust="0"/>
  </p:normalViewPr>
  <p:slideViewPr>
    <p:cSldViewPr snapToGrid="0" showGuides="1">
      <p:cViewPr varScale="1">
        <p:scale>
          <a:sx n="68" d="100"/>
          <a:sy n="68" d="100"/>
        </p:scale>
        <p:origin x="354" y="72"/>
      </p:cViewPr>
      <p:guideLst>
        <p:guide orient="horz" pos="2057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FEA53-30DF-4574-9812-9755A6E597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8A644-180C-41B0-8D0D-4A25B00876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http://112.74.45.105:8090/myllm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49091-B742-40A7-90DB-782CDF060E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bg>
      <p:bgPr>
        <a:gradFill>
          <a:gsLst>
            <a:gs pos="0">
              <a:srgbClr val="F0F4FA"/>
            </a:gs>
            <a:gs pos="99000">
              <a:srgbClr val="F0F4FA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>
            <a:spLocks noChangeArrowheads="1"/>
          </p:cNvSpPr>
          <p:nvPr userDrawn="1"/>
        </p:nvSpPr>
        <p:spPr bwMode="auto">
          <a:xfrm>
            <a:off x="11423650" y="6343650"/>
            <a:ext cx="768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9pPr>
          </a:lstStyle>
          <a:p>
            <a:pPr algn="ctr" eaLnBrk="1" hangingPunct="1"/>
            <a:fld id="{A0B8213F-9C1D-4574-8F6E-1C096B1F6F5F}" type="slidenum">
              <a:rPr lang="zh-CN" altLang="en-US" sz="2000" smtClean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zh-CN" altLang="en-US" sz="2400">
              <a:solidFill>
                <a:srgbClr val="3B3838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0" y="-119396"/>
            <a:ext cx="635512" cy="956884"/>
          </a:xfrm>
          <a:custGeom>
            <a:avLst/>
            <a:gdLst>
              <a:gd name="T0" fmla="*/ 112 w 115"/>
              <a:gd name="T1" fmla="*/ 108 h 228"/>
              <a:gd name="T2" fmla="*/ 7 w 115"/>
              <a:gd name="T3" fmla="*/ 3 h 228"/>
              <a:gd name="T4" fmla="*/ 0 w 115"/>
              <a:gd name="T5" fmla="*/ 5 h 228"/>
              <a:gd name="T6" fmla="*/ 0 w 115"/>
              <a:gd name="T7" fmla="*/ 23 h 228"/>
              <a:gd name="T8" fmla="*/ 9 w 115"/>
              <a:gd name="T9" fmla="*/ 44 h 228"/>
              <a:gd name="T10" fmla="*/ 65 w 115"/>
              <a:gd name="T11" fmla="*/ 100 h 228"/>
              <a:gd name="T12" fmla="*/ 65 w 115"/>
              <a:gd name="T13" fmla="*/ 129 h 228"/>
              <a:gd name="T14" fmla="*/ 9 w 115"/>
              <a:gd name="T15" fmla="*/ 185 h 228"/>
              <a:gd name="T16" fmla="*/ 0 w 115"/>
              <a:gd name="T17" fmla="*/ 206 h 228"/>
              <a:gd name="T18" fmla="*/ 0 w 115"/>
              <a:gd name="T19" fmla="*/ 223 h 228"/>
              <a:gd name="T20" fmla="*/ 7 w 115"/>
              <a:gd name="T21" fmla="*/ 226 h 228"/>
              <a:gd name="T22" fmla="*/ 112 w 115"/>
              <a:gd name="T23" fmla="*/ 121 h 228"/>
              <a:gd name="T24" fmla="*/ 112 w 115"/>
              <a:gd name="T25" fmla="*/ 108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" h="228">
                <a:moveTo>
                  <a:pt x="112" y="108"/>
                </a:moveTo>
                <a:cubicBezTo>
                  <a:pt x="7" y="3"/>
                  <a:pt x="7" y="3"/>
                  <a:pt x="7" y="3"/>
                </a:cubicBezTo>
                <a:cubicBezTo>
                  <a:pt x="4" y="0"/>
                  <a:pt x="0" y="2"/>
                  <a:pt x="0" y="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31"/>
                  <a:pt x="3" y="38"/>
                  <a:pt x="9" y="44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73" y="108"/>
                  <a:pt x="73" y="121"/>
                  <a:pt x="65" y="129"/>
                </a:cubicBezTo>
                <a:cubicBezTo>
                  <a:pt x="9" y="185"/>
                  <a:pt x="9" y="185"/>
                  <a:pt x="9" y="185"/>
                </a:cubicBezTo>
                <a:cubicBezTo>
                  <a:pt x="3" y="190"/>
                  <a:pt x="0" y="198"/>
                  <a:pt x="0" y="206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7"/>
                  <a:pt x="4" y="228"/>
                  <a:pt x="7" y="226"/>
                </a:cubicBezTo>
                <a:cubicBezTo>
                  <a:pt x="112" y="121"/>
                  <a:pt x="112" y="121"/>
                  <a:pt x="112" y="121"/>
                </a:cubicBezTo>
                <a:cubicBezTo>
                  <a:pt x="115" y="117"/>
                  <a:pt x="115" y="112"/>
                  <a:pt x="112" y="108"/>
                </a:cubicBezTo>
                <a:close/>
              </a:path>
            </a:pathLst>
          </a:custGeom>
          <a:gradFill flip="none" rotWithShape="1">
            <a:gsLst>
              <a:gs pos="0">
                <a:srgbClr val="FF6969"/>
              </a:gs>
              <a:gs pos="95000">
                <a:srgbClr val="C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789336" y="94327"/>
            <a:ext cx="7494587" cy="5294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3600" b="1" kern="1200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algn="l" eaLnBrk="1" fontAlgn="auto" hangingPunct="1">
              <a:spcAft>
                <a:spcPts val="0"/>
              </a:spcAft>
            </a:pPr>
            <a:r>
              <a:rPr lang="zh-CN" altLang="en-US" sz="3600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latin typeface="+mn-lt"/>
                <a:ea typeface="+mn-ea"/>
              </a:rPr>
              <a:t>二、组织架构</a:t>
            </a:r>
            <a:endParaRPr lang="zh-CN" altLang="en-US" sz="3600" spc="200" dirty="0">
              <a:gradFill flip="none" rotWithShape="1">
                <a:gsLst>
                  <a:gs pos="0">
                    <a:schemeClr val="bg1"/>
                  </a:gs>
                  <a:gs pos="100000">
                    <a:srgbClr val="FFD243"/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5C0000"/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A"/>
            </a:gs>
            <a:gs pos="99000">
              <a:srgbClr val="F0F4FA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02594" y="679941"/>
            <a:ext cx="8786812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endParaRPr lang="zh-CN" altLang="en-US" sz="3200" b="1" dirty="0">
              <a:solidFill>
                <a:srgbClr val="0907BA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标题 3"/>
          <p:cNvSpPr txBox="1"/>
          <p:nvPr/>
        </p:nvSpPr>
        <p:spPr>
          <a:xfrm>
            <a:off x="921033" y="68273"/>
            <a:ext cx="8832567" cy="5363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zh-CN" altLang="en-US" sz="3200" b="1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cs typeface="+mn-ea"/>
                <a:sym typeface="+mn-lt"/>
              </a:rPr>
              <a:t>“天擎”</a:t>
            </a:r>
            <a:r>
              <a:rPr lang="zh-CN" altLang="en-US" sz="3200" b="1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cs typeface="+mn-ea"/>
                <a:sym typeface="+mn-ea"/>
              </a:rPr>
              <a:t>美亚公共安全大模型</a:t>
            </a:r>
            <a:r>
              <a:rPr lang="en-US" altLang="zh-CN" sz="3200" b="1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cs typeface="+mn-ea"/>
                <a:sym typeface="+mn-ea"/>
              </a:rPr>
              <a:t>-</a:t>
            </a:r>
            <a:r>
              <a:rPr lang="zh-CN" altLang="en-US" sz="3200" b="1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cs typeface="+mn-ea"/>
                <a:sym typeface="+mn-ea"/>
              </a:rPr>
              <a:t>训练</a:t>
            </a:r>
            <a:r>
              <a:rPr lang="zh-CN" altLang="en-US" sz="3200" b="1" spc="200" dirty="0">
                <a:gradFill flip="none" rotWithShape="1">
                  <a:gsLst>
                    <a:gs pos="0">
                      <a:schemeClr val="bg1"/>
                    </a:gs>
                    <a:gs pos="100000">
                      <a:srgbClr val="FFD243"/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5C0000"/>
                  </a:outerShdw>
                </a:effectLst>
                <a:cs typeface="+mn-ea"/>
                <a:sym typeface="+mn-lt"/>
              </a:rPr>
              <a:t>数据</a:t>
            </a:r>
            <a:endParaRPr lang="zh-CN" altLang="en-US" sz="3200" b="1" spc="200" dirty="0">
              <a:gradFill flip="none" rotWithShape="1">
                <a:gsLst>
                  <a:gs pos="0">
                    <a:schemeClr val="bg1"/>
                  </a:gs>
                  <a:gs pos="100000">
                    <a:srgbClr val="FFD243"/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5C0000"/>
                </a:outerShdw>
              </a:effectLst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061651" y="1648641"/>
          <a:ext cx="8653974" cy="3938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531"/>
                <a:gridCol w="3015709"/>
                <a:gridCol w="2076885"/>
                <a:gridCol w="1811849"/>
              </a:tblGrid>
              <a:tr h="435284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2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b="1" spc="12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solidFill>
                      <a:srgbClr val="144D7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2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</a:t>
                      </a:r>
                      <a:endParaRPr lang="zh-CN" altLang="en-US" sz="2000" b="1" spc="12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solidFill>
                      <a:srgbClr val="144D7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2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数据量</a:t>
                      </a:r>
                      <a:endParaRPr lang="zh-CN" altLang="en-US" sz="2000" b="1" spc="12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 cap="flat" cmpd="sng" algn="ctr">
                      <a:solidFill>
                        <a:srgbClr val="FFFFF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solidFill>
                      <a:srgbClr val="144D7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2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存储空间</a:t>
                      </a:r>
                      <a:endParaRPr lang="zh-CN" altLang="en-US" sz="2000" b="1" spc="12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 cap="flat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D73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19050">
                      <a:solidFill>
                        <a:srgbClr val="144D73"/>
                      </a:solidFill>
                      <a:prstDash val="soli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通用数据集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19050">
                      <a:solidFill>
                        <a:srgbClr val="144D73"/>
                      </a:solidFill>
                      <a:prstDash val="soli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87025960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en-US" altLang="zh-CN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144D73"/>
                      </a:solidFill>
                      <a:prstDash val="soli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273.47GB</a:t>
                      </a:r>
                      <a:endParaRPr lang="en-US" altLang="zh-CN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flat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单轮对话数据集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3505122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2.97GB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安全测评数据集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113665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96.2MB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133791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310MB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多轮对话数据集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2204461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2.2GB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公安领域数据集（网上公开下载的数据）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6487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17MB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接口微调数据集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267668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1.3GB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913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客服类数据集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12168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897MB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992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800" b="0" spc="12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司法类数据集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3109275</a:t>
                      </a:r>
                      <a:r>
                        <a:rPr lang="zh-CN" altLang="en-US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20" dirty="0">
                          <a:solidFill>
                            <a:srgbClr val="4040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12.5GB</a:t>
                      </a:r>
                      <a:endParaRPr lang="zh-CN" altLang="en-US" sz="1800" b="0" spc="120" dirty="0">
                        <a:solidFill>
                          <a:srgbClr val="40404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2815" marR="222815" marT="31831" marB="31831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03555" y="957337"/>
            <a:ext cx="11797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训练数据类型共计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，数据总量：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96378597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，总存储空间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297.3GB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over/>
  </p:transition>
</p:sld>
</file>

<file path=ppt/tags/tag1.xml><?xml version="1.0" encoding="utf-8"?>
<p:tagLst xmlns:p="http://schemas.openxmlformats.org/presentationml/2006/main">
  <p:tag name="TABLE_ENDDRAG_ORIGIN_RECT" val="445*401"/>
  <p:tag name="TABLE_ENDDRAG_RECT" val="16*70*445*401"/>
  <p:tag name="TABLE_SKINIDX" val="0"/>
  <p:tag name="TABLE_COLORIDX" val="a"/>
  <p:tag name="KSO_WM_UNIT_TABLE_BEAUTIFY" val="smartTable{696c2b83-3085-4fc3-bcd0-19811c9516d2}"/>
</p:tagLst>
</file>

<file path=ppt/tags/tag2.xml><?xml version="1.0" encoding="utf-8"?>
<p:tagLst xmlns:p="http://schemas.openxmlformats.org/presentationml/2006/main">
  <p:tag name="KSO_WPP_MARK_KEY" val="1ecd7de9-0d50-48fe-b98f-e92676bcaa1b"/>
  <p:tag name="COMMONDATA" val="eyJoZGlkIjoiZGQ0MmNlYTNiOTI0NDk0YTkwOGM0MzUwYWFhZDU5N2EifQ=="/>
</p:tagLst>
</file>

<file path=ppt/theme/theme1.xml><?xml version="1.0" encoding="utf-8"?>
<a:theme xmlns:a="http://schemas.openxmlformats.org/drawingml/2006/main" name="1_Office 主题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m42u10d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WPS 演示</Application>
  <PresentationFormat>宽屏</PresentationFormat>
  <Paragraphs>84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等线</vt:lpstr>
      <vt:lpstr>微软雅黑</vt:lpstr>
      <vt:lpstr>Calibri</vt:lpstr>
      <vt:lpstr>Arial Unicode MS</vt:lpstr>
      <vt:lpstr>1_Office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潘丹</dc:creator>
  <cp:lastModifiedBy>pcc</cp:lastModifiedBy>
  <cp:revision>3222</cp:revision>
  <dcterms:created xsi:type="dcterms:W3CDTF">2018-12-27T01:22:00Z</dcterms:created>
  <dcterms:modified xsi:type="dcterms:W3CDTF">2024-05-07T07:27:32Z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2052-11.1.0.15319</vt:lpwstr>
  </property>
  <property fmtid="{D5CDD505-2E9C-101B-9397-08002B2CF9AE}" pid="3" name="ICV">
    <vt:lpwstr>10AB9527E5B4424BA629C3B5B73B26F3_13</vt:lpwstr>
  </property>
</Properties>
</file>
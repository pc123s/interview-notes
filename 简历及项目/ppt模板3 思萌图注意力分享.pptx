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media/image7.jpg" ContentType="image/png"/>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0"/>
  </p:notesMasterIdLst>
  <p:sldIdLst>
    <p:sldId id="295" r:id="rId2"/>
    <p:sldId id="296" r:id="rId3"/>
    <p:sldId id="297" r:id="rId4"/>
    <p:sldId id="319" r:id="rId5"/>
    <p:sldId id="318" r:id="rId6"/>
    <p:sldId id="341" r:id="rId7"/>
    <p:sldId id="320" r:id="rId8"/>
    <p:sldId id="324" r:id="rId9"/>
    <p:sldId id="325" r:id="rId10"/>
    <p:sldId id="323" r:id="rId11"/>
    <p:sldId id="326" r:id="rId12"/>
    <p:sldId id="328" r:id="rId13"/>
    <p:sldId id="330" r:id="rId14"/>
    <p:sldId id="329" r:id="rId15"/>
    <p:sldId id="327" r:id="rId16"/>
    <p:sldId id="345" r:id="rId17"/>
    <p:sldId id="343" r:id="rId18"/>
    <p:sldId id="331" r:id="rId19"/>
    <p:sldId id="332" r:id="rId20"/>
    <p:sldId id="333" r:id="rId21"/>
    <p:sldId id="335" r:id="rId22"/>
    <p:sldId id="336" r:id="rId23"/>
    <p:sldId id="337" r:id="rId24"/>
    <p:sldId id="338" r:id="rId25"/>
    <p:sldId id="339" r:id="rId26"/>
    <p:sldId id="344" r:id="rId27"/>
    <p:sldId id="346" r:id="rId28"/>
    <p:sldId id="317" r:id="rId29"/>
  </p:sldIdLst>
  <p:sldSz cx="12192000" cy="6858000"/>
  <p:notesSz cx="6858000" cy="9144000"/>
  <p:custDataLst>
    <p:tags r:id="rId3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D3F82"/>
    <a:srgbClr val="999999"/>
    <a:srgbClr val="CE4569"/>
    <a:srgbClr val="E9E4E2"/>
    <a:srgbClr val="F7D5D6"/>
    <a:srgbClr val="CFC4B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51" autoAdjust="0"/>
    <p:restoredTop sz="95317" autoAdjust="0"/>
  </p:normalViewPr>
  <p:slideViewPr>
    <p:cSldViewPr snapToGrid="0" showGuides="1">
      <p:cViewPr varScale="1">
        <p:scale>
          <a:sx n="72" d="100"/>
          <a:sy n="72" d="100"/>
        </p:scale>
        <p:origin x="816" y="72"/>
      </p:cViewPr>
      <p:guideLst>
        <p:guide orient="horz" pos="2137"/>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2108FA-5349-422F-8779-8DC86E854589}" type="datetimeFigureOut">
              <a:rPr lang="zh-CN" altLang="en-US" smtClean="0"/>
              <a:t>2021/4/23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F002AC-902A-4D37-BE49-E7BB1BC83047}" type="slidenum">
              <a:rPr lang="zh-CN" altLang="en-US" smtClean="0"/>
              <a:t>‹#›</a:t>
            </a:fld>
            <a:endParaRPr lang="zh-CN" altLang="en-US"/>
          </a:p>
        </p:txBody>
      </p:sp>
    </p:spTree>
    <p:extLst>
      <p:ext uri="{BB962C8B-B14F-4D97-AF65-F5344CB8AC3E}">
        <p14:creationId xmlns:p14="http://schemas.microsoft.com/office/powerpoint/2010/main" val="28370287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CF002AC-902A-4D37-BE49-E7BB1BC83047}" type="slidenum">
              <a:rPr lang="zh-CN" altLang="en-US" smtClean="0"/>
              <a:t>1</a:t>
            </a:fld>
            <a:endParaRPr lang="zh-CN" altLang="en-US"/>
          </a:p>
        </p:txBody>
      </p:sp>
    </p:spTree>
    <p:extLst>
      <p:ext uri="{BB962C8B-B14F-4D97-AF65-F5344CB8AC3E}">
        <p14:creationId xmlns:p14="http://schemas.microsoft.com/office/powerpoint/2010/main" val="25962069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CF002AC-902A-4D37-BE49-E7BB1BC83047}" type="slidenum">
              <a:rPr lang="zh-CN" altLang="en-US" smtClean="0"/>
              <a:t>2</a:t>
            </a:fld>
            <a:endParaRPr lang="zh-CN" altLang="en-US"/>
          </a:p>
        </p:txBody>
      </p:sp>
    </p:spTree>
    <p:extLst>
      <p:ext uri="{BB962C8B-B14F-4D97-AF65-F5344CB8AC3E}">
        <p14:creationId xmlns:p14="http://schemas.microsoft.com/office/powerpoint/2010/main" val="6464514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CF002AC-902A-4D37-BE49-E7BB1BC83047}" type="slidenum">
              <a:rPr lang="zh-CN" altLang="en-US" smtClean="0"/>
              <a:t>3</a:t>
            </a:fld>
            <a:endParaRPr lang="zh-CN" altLang="en-US"/>
          </a:p>
        </p:txBody>
      </p:sp>
    </p:spTree>
    <p:extLst>
      <p:ext uri="{BB962C8B-B14F-4D97-AF65-F5344CB8AC3E}">
        <p14:creationId xmlns:p14="http://schemas.microsoft.com/office/powerpoint/2010/main" val="18224959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665114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27766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CF002AC-902A-4D37-BE49-E7BB1BC83047}" type="slidenum">
              <a:rPr lang="zh-CN" altLang="en-US" smtClean="0"/>
              <a:t>6</a:t>
            </a:fld>
            <a:endParaRPr lang="zh-CN" altLang="en-US"/>
          </a:p>
        </p:txBody>
      </p:sp>
    </p:spTree>
    <p:extLst>
      <p:ext uri="{BB962C8B-B14F-4D97-AF65-F5344CB8AC3E}">
        <p14:creationId xmlns:p14="http://schemas.microsoft.com/office/powerpoint/2010/main" val="21845366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r>
              <a:rPr lang="zh-CN" altLang="en-US" dirty="0"/>
              <a:t>序列长度的二次依赖，每个单词都要和其他所有单词进行</a:t>
            </a:r>
            <a:r>
              <a:rPr lang="en-US" altLang="zh-CN" dirty="0"/>
              <a:t>attention</a:t>
            </a:r>
            <a:endParaRPr lang="zh-CN" altLang="en-US" dirty="0"/>
          </a:p>
        </p:txBody>
      </p:sp>
    </p:spTree>
    <p:extLst>
      <p:ext uri="{BB962C8B-B14F-4D97-AF65-F5344CB8AC3E}">
        <p14:creationId xmlns:p14="http://schemas.microsoft.com/office/powerpoint/2010/main" val="34114802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solidFill>
                  <a:schemeClr val="tx1">
                    <a:lumMod val="50000"/>
                  </a:schemeClr>
                </a:solidFill>
                <a:latin typeface="+mn-ea"/>
              </a:rPr>
              <a:t>文本过长，内存会爆</a:t>
            </a:r>
          </a:p>
          <a:p>
            <a:endParaRPr lang="zh-CN" altLang="en-US" dirty="0"/>
          </a:p>
        </p:txBody>
      </p:sp>
    </p:spTree>
    <p:extLst>
      <p:ext uri="{BB962C8B-B14F-4D97-AF65-F5344CB8AC3E}">
        <p14:creationId xmlns:p14="http://schemas.microsoft.com/office/powerpoint/2010/main" val="2724286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724683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序列长度的二次依赖，每个单词都要和其他所有单词进行</a:t>
            </a:r>
            <a:r>
              <a:rPr lang="en-US" altLang="zh-CN" dirty="0"/>
              <a:t>attention, </a:t>
            </a:r>
            <a:r>
              <a:rPr lang="zh-CN" altLang="en-US" dirty="0"/>
              <a:t>采用图论的方法来降低复杂度</a:t>
            </a:r>
          </a:p>
        </p:txBody>
      </p:sp>
    </p:spTree>
    <p:extLst>
      <p:ext uri="{BB962C8B-B14F-4D97-AF65-F5344CB8AC3E}">
        <p14:creationId xmlns:p14="http://schemas.microsoft.com/office/powerpoint/2010/main" val="9998585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r>
              <a:rPr lang="zh-CN" altLang="en-US" dirty="0"/>
              <a:t>并且它的（邻接矩阵的）第二特征值与第一特征值相差很远。</a:t>
            </a:r>
          </a:p>
        </p:txBody>
      </p:sp>
    </p:spTree>
    <p:extLst>
      <p:ext uri="{BB962C8B-B14F-4D97-AF65-F5344CB8AC3E}">
        <p14:creationId xmlns:p14="http://schemas.microsoft.com/office/powerpoint/2010/main" val="1241389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r>
              <a:rPr lang="zh-CN" altLang="en-US" dirty="0"/>
              <a:t>参考文献</a:t>
            </a:r>
            <a:r>
              <a:rPr lang="en-US" altLang="zh-CN" dirty="0"/>
              <a:t>95</a:t>
            </a:r>
            <a:endParaRPr lang="zh-CN" altLang="en-US" dirty="0"/>
          </a:p>
        </p:txBody>
      </p:sp>
    </p:spTree>
    <p:extLst>
      <p:ext uri="{BB962C8B-B14F-4D97-AF65-F5344CB8AC3E}">
        <p14:creationId xmlns:p14="http://schemas.microsoft.com/office/powerpoint/2010/main" val="5156309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2235822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r>
              <a:rPr lang="zh-CN" altLang="en-US" dirty="0"/>
              <a:t>在是啊严重可以看到对性能提升很有帮助。</a:t>
            </a:r>
          </a:p>
        </p:txBody>
      </p:sp>
    </p:spTree>
    <p:extLst>
      <p:ext uri="{BB962C8B-B14F-4D97-AF65-F5344CB8AC3E}">
        <p14:creationId xmlns:p14="http://schemas.microsoft.com/office/powerpoint/2010/main" val="23496944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7904497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4037650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CF002AC-902A-4D37-BE49-E7BB1BC83047}" type="slidenum">
              <a:rPr lang="zh-CN" altLang="en-US" smtClean="0"/>
              <a:t>17</a:t>
            </a:fld>
            <a:endParaRPr lang="zh-CN" altLang="en-US"/>
          </a:p>
        </p:txBody>
      </p:sp>
    </p:spTree>
    <p:extLst>
      <p:ext uri="{BB962C8B-B14F-4D97-AF65-F5344CB8AC3E}">
        <p14:creationId xmlns:p14="http://schemas.microsoft.com/office/powerpoint/2010/main" val="1552247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r>
              <a:rPr lang="en-US" altLang="zh-CN" dirty="0"/>
              <a:t>MLM</a:t>
            </a:r>
            <a:r>
              <a:rPr lang="zh-CN" altLang="en-US" dirty="0"/>
              <a:t>：预测被遮蔽的</a:t>
            </a:r>
            <a:r>
              <a:rPr lang="en-US" altLang="zh-CN" dirty="0"/>
              <a:t>token</a:t>
            </a:r>
            <a:r>
              <a:rPr lang="zh-CN" altLang="en-US" dirty="0"/>
              <a:t>随机子集</a:t>
            </a:r>
          </a:p>
        </p:txBody>
      </p:sp>
    </p:spTree>
    <p:extLst>
      <p:ext uri="{BB962C8B-B14F-4D97-AF65-F5344CB8AC3E}">
        <p14:creationId xmlns:p14="http://schemas.microsoft.com/office/powerpoint/2010/main" val="20166798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3772567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r>
              <a:rPr lang="zh-CN" altLang="en-US" sz="1200" b="0" i="0" kern="1200" dirty="0">
                <a:solidFill>
                  <a:schemeClr val="tx1"/>
                </a:solidFill>
                <a:effectLst/>
                <a:latin typeface="+mn-lt"/>
                <a:ea typeface="+mn-ea"/>
                <a:cs typeface="+mn-cs"/>
              </a:rPr>
              <a:t>好的语言模型对于未观察过的文本应该能输出一个高概率或者低混淆度</a:t>
            </a:r>
            <a:endParaRPr lang="zh-CN" altLang="en-US" dirty="0"/>
          </a:p>
        </p:txBody>
      </p:sp>
    </p:spTree>
    <p:extLst>
      <p:ext uri="{BB962C8B-B14F-4D97-AF65-F5344CB8AC3E}">
        <p14:creationId xmlns:p14="http://schemas.microsoft.com/office/powerpoint/2010/main" val="35053396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r>
              <a:rPr lang="en-US" altLang="zh-CN" dirty="0"/>
              <a:t>BIGBIRD-ETC</a:t>
            </a:r>
            <a:r>
              <a:rPr lang="zh-CN" altLang="en-US" dirty="0"/>
              <a:t>综合性能最佳</a:t>
            </a:r>
          </a:p>
        </p:txBody>
      </p:sp>
    </p:spTree>
    <p:extLst>
      <p:ext uri="{BB962C8B-B14F-4D97-AF65-F5344CB8AC3E}">
        <p14:creationId xmlns:p14="http://schemas.microsoft.com/office/powerpoint/2010/main" val="20907743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r>
              <a:rPr lang="zh-CN" altLang="en-US" dirty="0"/>
              <a:t>与排行榜上性能</a:t>
            </a:r>
            <a:r>
              <a:rPr lang="en-US" altLang="zh-CN" dirty="0"/>
              <a:t>TOP3</a:t>
            </a:r>
            <a:r>
              <a:rPr lang="zh-CN" altLang="en-US" dirty="0"/>
              <a:t>模型进行对比，其他方法采用的是融合模型，所以</a:t>
            </a:r>
            <a:r>
              <a:rPr lang="en-US" altLang="zh-CN" dirty="0"/>
              <a:t>big</a:t>
            </a:r>
            <a:r>
              <a:rPr lang="en-US" altLang="zh-CN" baseline="0" dirty="0"/>
              <a:t> bird</a:t>
            </a:r>
            <a:r>
              <a:rPr lang="zh-CN" altLang="en-US" baseline="0" dirty="0"/>
              <a:t>在精确答案短语上的准确率稍低。</a:t>
            </a:r>
            <a:endParaRPr lang="zh-CN" altLang="en-US" dirty="0"/>
          </a:p>
        </p:txBody>
      </p:sp>
    </p:spTree>
    <p:extLst>
      <p:ext uri="{BB962C8B-B14F-4D97-AF65-F5344CB8AC3E}">
        <p14:creationId xmlns:p14="http://schemas.microsoft.com/office/powerpoint/2010/main" val="5474990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6978007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r>
              <a:rPr lang="zh-CN" altLang="en-US" dirty="0">
                <a:solidFill>
                  <a:schemeClr val="tx1">
                    <a:lumMod val="50000"/>
                  </a:schemeClr>
                </a:solidFill>
                <a:latin typeface="+mn-ea"/>
              </a:rPr>
              <a:t>在全局注意力的编解码阶段，极易产生二次方复杂度。</a:t>
            </a:r>
            <a:endParaRPr lang="zh-CN" altLang="en-US" dirty="0"/>
          </a:p>
        </p:txBody>
      </p:sp>
    </p:spTree>
    <p:extLst>
      <p:ext uri="{BB962C8B-B14F-4D97-AF65-F5344CB8AC3E}">
        <p14:creationId xmlns:p14="http://schemas.microsoft.com/office/powerpoint/2010/main" val="41862205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r>
              <a:rPr lang="zh-CN" altLang="en-US" dirty="0"/>
              <a:t>采用更长的上下文编码器可提升文本摘要任务的性能。</a:t>
            </a:r>
          </a:p>
        </p:txBody>
      </p:sp>
    </p:spTree>
    <p:extLst>
      <p:ext uri="{BB962C8B-B14F-4D97-AF65-F5344CB8AC3E}">
        <p14:creationId xmlns:p14="http://schemas.microsoft.com/office/powerpoint/2010/main" val="18506284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CF002AC-902A-4D37-BE49-E7BB1BC83047}" type="slidenum">
              <a:rPr lang="zh-CN" altLang="en-US" smtClean="0"/>
              <a:t>26</a:t>
            </a:fld>
            <a:endParaRPr lang="zh-CN" altLang="en-US"/>
          </a:p>
        </p:txBody>
      </p:sp>
    </p:spTree>
    <p:extLst>
      <p:ext uri="{BB962C8B-B14F-4D97-AF65-F5344CB8AC3E}">
        <p14:creationId xmlns:p14="http://schemas.microsoft.com/office/powerpoint/2010/main" val="20947517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1223765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CF002AC-902A-4D37-BE49-E7BB1BC83047}" type="slidenum">
              <a:rPr lang="zh-CN" altLang="en-US" smtClean="0"/>
              <a:t>28</a:t>
            </a:fld>
            <a:endParaRPr lang="zh-CN" altLang="en-US"/>
          </a:p>
        </p:txBody>
      </p:sp>
    </p:spTree>
    <p:extLst>
      <p:ext uri="{BB962C8B-B14F-4D97-AF65-F5344CB8AC3E}">
        <p14:creationId xmlns:p14="http://schemas.microsoft.com/office/powerpoint/2010/main" val="31965713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Laptop3">
    <p:spTree>
      <p:nvGrpSpPr>
        <p:cNvPr id="1" name=""/>
        <p:cNvGrpSpPr/>
        <p:nvPr/>
      </p:nvGrpSpPr>
      <p:grpSpPr>
        <a:xfrm>
          <a:off x="0" y="0"/>
          <a:ext cx="0" cy="0"/>
          <a:chOff x="0" y="0"/>
          <a:chExt cx="0" cy="0"/>
        </a:xfrm>
      </p:grpSpPr>
      <p:sp>
        <p:nvSpPr>
          <p:cNvPr id="16" name="Picture Placeholder 13"/>
          <p:cNvSpPr>
            <a:spLocks noGrp="1"/>
          </p:cNvSpPr>
          <p:nvPr>
            <p:ph type="pic" sz="quarter" idx="20"/>
          </p:nvPr>
        </p:nvSpPr>
        <p:spPr>
          <a:xfrm>
            <a:off x="4216574" y="2674242"/>
            <a:ext cx="3790604" cy="2401306"/>
          </a:xfrm>
          <a:prstGeom prst="rect">
            <a:avLst/>
          </a:prstGeom>
          <a:effectLst/>
        </p:spPr>
        <p:txBody>
          <a:bodyPr>
            <a:normAutofit/>
          </a:bodyPr>
          <a:lstStyle>
            <a:lvl1pPr marL="0" indent="0">
              <a:buNone/>
              <a:defRPr sz="1300" b="0" i="0">
                <a:ln>
                  <a:noFill/>
                </a:ln>
                <a:solidFill>
                  <a:schemeClr val="bg1">
                    <a:lumMod val="85000"/>
                  </a:schemeClr>
                </a:solidFill>
                <a:latin typeface="Poppins Light" charset="0"/>
                <a:ea typeface="Poppins Light" charset="0"/>
                <a:cs typeface="Poppins Light" charset="0"/>
              </a:defRPr>
            </a:lvl1pPr>
          </a:lstStyle>
          <a:p>
            <a:endParaRPr lang="en-US" dirty="0"/>
          </a:p>
        </p:txBody>
      </p:sp>
    </p:spTree>
    <p:extLst>
      <p:ext uri="{BB962C8B-B14F-4D97-AF65-F5344CB8AC3E}">
        <p14:creationId xmlns:p14="http://schemas.microsoft.com/office/powerpoint/2010/main" val="2605148685"/>
      </p:ext>
    </p:extLst>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aptop mockup">
    <p:spTree>
      <p:nvGrpSpPr>
        <p:cNvPr id="1" name=""/>
        <p:cNvGrpSpPr/>
        <p:nvPr/>
      </p:nvGrpSpPr>
      <p:grpSpPr>
        <a:xfrm>
          <a:off x="0" y="0"/>
          <a:ext cx="0" cy="0"/>
          <a:chOff x="0" y="0"/>
          <a:chExt cx="0" cy="0"/>
        </a:xfrm>
      </p:grpSpPr>
      <p:sp>
        <p:nvSpPr>
          <p:cNvPr id="45" name="Picture Placeholder 13"/>
          <p:cNvSpPr>
            <a:spLocks noGrp="1"/>
          </p:cNvSpPr>
          <p:nvPr>
            <p:ph type="pic" sz="quarter" idx="22"/>
          </p:nvPr>
        </p:nvSpPr>
        <p:spPr>
          <a:xfrm>
            <a:off x="7341086" y="3410818"/>
            <a:ext cx="2908549" cy="1847088"/>
          </a:xfrm>
          <a:prstGeom prst="rect">
            <a:avLst/>
          </a:prstGeom>
          <a:effectLst/>
        </p:spPr>
        <p:txBody>
          <a:bodyPr>
            <a:normAutofit/>
          </a:bodyPr>
          <a:lstStyle>
            <a:lvl1pPr marL="0" indent="0">
              <a:buNone/>
              <a:defRPr sz="1300" b="0" i="0">
                <a:ln>
                  <a:noFill/>
                </a:ln>
                <a:solidFill>
                  <a:schemeClr val="bg1">
                    <a:lumMod val="85000"/>
                  </a:schemeClr>
                </a:solidFill>
                <a:latin typeface="Poppins Light" charset="0"/>
                <a:ea typeface="Poppins Light" charset="0"/>
                <a:cs typeface="Poppins Light" charset="0"/>
              </a:defRPr>
            </a:lvl1pPr>
          </a:lstStyle>
          <a:p>
            <a:endParaRPr lang="en-US" dirty="0"/>
          </a:p>
        </p:txBody>
      </p:sp>
      <p:sp>
        <p:nvSpPr>
          <p:cNvPr id="47" name="Picture Placeholder 13"/>
          <p:cNvSpPr>
            <a:spLocks noGrp="1"/>
          </p:cNvSpPr>
          <p:nvPr>
            <p:ph type="pic" sz="quarter" idx="24"/>
          </p:nvPr>
        </p:nvSpPr>
        <p:spPr>
          <a:xfrm>
            <a:off x="1930377" y="3410818"/>
            <a:ext cx="2908549" cy="1847088"/>
          </a:xfrm>
          <a:prstGeom prst="rect">
            <a:avLst/>
          </a:prstGeom>
          <a:effectLst/>
        </p:spPr>
        <p:txBody>
          <a:bodyPr>
            <a:normAutofit/>
          </a:bodyPr>
          <a:lstStyle>
            <a:lvl1pPr marL="0" indent="0">
              <a:buNone/>
              <a:defRPr sz="1300" b="0" i="0">
                <a:ln>
                  <a:noFill/>
                </a:ln>
                <a:solidFill>
                  <a:schemeClr val="bg1">
                    <a:lumMod val="85000"/>
                  </a:schemeClr>
                </a:solidFill>
                <a:latin typeface="Poppins Light" charset="0"/>
                <a:ea typeface="Poppins Light" charset="0"/>
                <a:cs typeface="Poppins Light" charset="0"/>
              </a:defRPr>
            </a:lvl1pPr>
          </a:lstStyle>
          <a:p>
            <a:endParaRPr lang="en-US" dirty="0"/>
          </a:p>
        </p:txBody>
      </p:sp>
      <p:sp>
        <p:nvSpPr>
          <p:cNvPr id="46" name="Picture Placeholder 13"/>
          <p:cNvSpPr>
            <a:spLocks noGrp="1"/>
          </p:cNvSpPr>
          <p:nvPr>
            <p:ph type="pic" sz="quarter" idx="23"/>
          </p:nvPr>
        </p:nvSpPr>
        <p:spPr>
          <a:xfrm>
            <a:off x="4452513" y="3767647"/>
            <a:ext cx="3281748" cy="2071116"/>
          </a:xfrm>
          <a:prstGeom prst="rect">
            <a:avLst/>
          </a:prstGeom>
          <a:effectLst/>
        </p:spPr>
        <p:txBody>
          <a:bodyPr>
            <a:normAutofit/>
          </a:bodyPr>
          <a:lstStyle>
            <a:lvl1pPr marL="0" indent="0">
              <a:buNone/>
              <a:defRPr sz="1300" b="0" i="0">
                <a:ln>
                  <a:noFill/>
                </a:ln>
                <a:solidFill>
                  <a:schemeClr val="bg1">
                    <a:lumMod val="85000"/>
                  </a:schemeClr>
                </a:solidFill>
                <a:latin typeface="Poppins Light" charset="0"/>
                <a:ea typeface="Poppins Light" charset="0"/>
                <a:cs typeface="Poppins Light" charset="0"/>
              </a:defRPr>
            </a:lvl1pPr>
          </a:lstStyle>
          <a:p>
            <a:endParaRPr lang="en-US" dirty="0"/>
          </a:p>
        </p:txBody>
      </p:sp>
    </p:spTree>
    <p:extLst>
      <p:ext uri="{BB962C8B-B14F-4D97-AF65-F5344CB8AC3E}">
        <p14:creationId xmlns:p14="http://schemas.microsoft.com/office/powerpoint/2010/main" val="3765616748"/>
      </p:ext>
    </p:extLst>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Projects 2">
    <p:spTree>
      <p:nvGrpSpPr>
        <p:cNvPr id="1" name=""/>
        <p:cNvGrpSpPr/>
        <p:nvPr/>
      </p:nvGrpSpPr>
      <p:grpSpPr>
        <a:xfrm>
          <a:off x="0" y="0"/>
          <a:ext cx="0" cy="0"/>
          <a:chOff x="0" y="0"/>
          <a:chExt cx="0" cy="0"/>
        </a:xfrm>
      </p:grpSpPr>
      <p:sp>
        <p:nvSpPr>
          <p:cNvPr id="11" name="Picture Placeholder 13"/>
          <p:cNvSpPr>
            <a:spLocks noGrp="1"/>
          </p:cNvSpPr>
          <p:nvPr>
            <p:ph type="pic" sz="quarter" idx="18"/>
          </p:nvPr>
        </p:nvSpPr>
        <p:spPr>
          <a:xfrm>
            <a:off x="6096000" y="1892412"/>
            <a:ext cx="4795280" cy="3530600"/>
          </a:xfrm>
          <a:prstGeom prst="rect">
            <a:avLst/>
          </a:prstGeom>
          <a:effectLst/>
        </p:spPr>
        <p:txBody>
          <a:bodyPr>
            <a:normAutofit/>
          </a:bodyPr>
          <a:lstStyle>
            <a:lvl1pPr marL="0" indent="0">
              <a:buNone/>
              <a:defRPr sz="1300" b="0" i="0">
                <a:ln>
                  <a:noFill/>
                </a:ln>
                <a:solidFill>
                  <a:schemeClr val="bg1">
                    <a:lumMod val="85000"/>
                  </a:schemeClr>
                </a:solidFill>
                <a:latin typeface="Poppins Light" charset="0"/>
                <a:ea typeface="Poppins Light" charset="0"/>
                <a:cs typeface="Poppins Light" charset="0"/>
              </a:defRPr>
            </a:lvl1pPr>
          </a:lstStyle>
          <a:p>
            <a:endParaRPr lang="en-US" dirty="0"/>
          </a:p>
        </p:txBody>
      </p:sp>
    </p:spTree>
    <p:extLst>
      <p:ext uri="{BB962C8B-B14F-4D97-AF65-F5344CB8AC3E}">
        <p14:creationId xmlns:p14="http://schemas.microsoft.com/office/powerpoint/2010/main" val="1189814971"/>
      </p:ext>
    </p:extLst>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rojects_1">
    <p:spTree>
      <p:nvGrpSpPr>
        <p:cNvPr id="1" name=""/>
        <p:cNvGrpSpPr/>
        <p:nvPr/>
      </p:nvGrpSpPr>
      <p:grpSpPr>
        <a:xfrm>
          <a:off x="0" y="0"/>
          <a:ext cx="0" cy="0"/>
          <a:chOff x="0" y="0"/>
          <a:chExt cx="0" cy="0"/>
        </a:xfrm>
      </p:grpSpPr>
      <p:sp>
        <p:nvSpPr>
          <p:cNvPr id="7" name="Picture Placeholder 13"/>
          <p:cNvSpPr>
            <a:spLocks noGrp="1"/>
          </p:cNvSpPr>
          <p:nvPr>
            <p:ph type="pic" sz="quarter" idx="15"/>
          </p:nvPr>
        </p:nvSpPr>
        <p:spPr>
          <a:xfrm>
            <a:off x="9415221" y="1822450"/>
            <a:ext cx="2194147" cy="3213100"/>
          </a:xfrm>
          <a:prstGeom prst="rect">
            <a:avLst/>
          </a:prstGeom>
          <a:effectLst/>
        </p:spPr>
        <p:txBody>
          <a:bodyPr>
            <a:normAutofit/>
          </a:bodyPr>
          <a:lstStyle>
            <a:lvl1pPr marL="0" indent="0">
              <a:buNone/>
              <a:defRPr sz="1300" b="0" i="0">
                <a:ln>
                  <a:noFill/>
                </a:ln>
                <a:solidFill>
                  <a:schemeClr val="bg1">
                    <a:lumMod val="85000"/>
                  </a:schemeClr>
                </a:solidFill>
                <a:latin typeface="Poppins Light" charset="0"/>
                <a:ea typeface="Poppins Light" charset="0"/>
                <a:cs typeface="Poppins Light" charset="0"/>
              </a:defRPr>
            </a:lvl1pPr>
          </a:lstStyle>
          <a:p>
            <a:endParaRPr lang="en-US" dirty="0"/>
          </a:p>
        </p:txBody>
      </p:sp>
      <p:sp>
        <p:nvSpPr>
          <p:cNvPr id="8" name="Picture Placeholder 13"/>
          <p:cNvSpPr>
            <a:spLocks noGrp="1"/>
          </p:cNvSpPr>
          <p:nvPr>
            <p:ph type="pic" sz="quarter" idx="16"/>
          </p:nvPr>
        </p:nvSpPr>
        <p:spPr>
          <a:xfrm>
            <a:off x="489870" y="1822450"/>
            <a:ext cx="4534996" cy="3213100"/>
          </a:xfrm>
          <a:prstGeom prst="rect">
            <a:avLst/>
          </a:prstGeom>
          <a:effectLst/>
        </p:spPr>
        <p:txBody>
          <a:bodyPr>
            <a:normAutofit/>
          </a:bodyPr>
          <a:lstStyle>
            <a:lvl1pPr marL="0" indent="0">
              <a:buNone/>
              <a:defRPr sz="1300" b="0" i="0">
                <a:ln>
                  <a:noFill/>
                </a:ln>
                <a:solidFill>
                  <a:schemeClr val="bg1">
                    <a:lumMod val="85000"/>
                  </a:schemeClr>
                </a:solidFill>
                <a:latin typeface="Poppins Light" charset="0"/>
                <a:ea typeface="Poppins Light" charset="0"/>
                <a:cs typeface="Poppins Light" charset="0"/>
              </a:defRPr>
            </a:lvl1pPr>
          </a:lstStyle>
          <a:p>
            <a:endParaRPr lang="en-US" dirty="0"/>
          </a:p>
        </p:txBody>
      </p:sp>
      <p:sp>
        <p:nvSpPr>
          <p:cNvPr id="9" name="Picture Placeholder 13"/>
          <p:cNvSpPr>
            <a:spLocks noGrp="1"/>
          </p:cNvSpPr>
          <p:nvPr>
            <p:ph type="pic" sz="quarter" idx="17"/>
          </p:nvPr>
        </p:nvSpPr>
        <p:spPr>
          <a:xfrm>
            <a:off x="5029753" y="1822450"/>
            <a:ext cx="2194147" cy="3213100"/>
          </a:xfrm>
          <a:prstGeom prst="rect">
            <a:avLst/>
          </a:prstGeom>
          <a:effectLst/>
        </p:spPr>
        <p:txBody>
          <a:bodyPr>
            <a:normAutofit/>
          </a:bodyPr>
          <a:lstStyle>
            <a:lvl1pPr marL="0" indent="0">
              <a:buNone/>
              <a:defRPr sz="1300" b="0" i="0">
                <a:ln>
                  <a:noFill/>
                </a:ln>
                <a:solidFill>
                  <a:schemeClr val="bg1">
                    <a:lumMod val="85000"/>
                  </a:schemeClr>
                </a:solidFill>
                <a:latin typeface="Poppins Light" charset="0"/>
                <a:ea typeface="Poppins Light" charset="0"/>
                <a:cs typeface="Poppins Light" charset="0"/>
              </a:defRPr>
            </a:lvl1pPr>
          </a:lstStyle>
          <a:p>
            <a:endParaRPr lang="en-US" dirty="0"/>
          </a:p>
        </p:txBody>
      </p:sp>
      <p:sp>
        <p:nvSpPr>
          <p:cNvPr id="10" name="Picture Placeholder 13"/>
          <p:cNvSpPr>
            <a:spLocks noGrp="1"/>
          </p:cNvSpPr>
          <p:nvPr>
            <p:ph type="pic" sz="quarter" idx="18"/>
          </p:nvPr>
        </p:nvSpPr>
        <p:spPr>
          <a:xfrm>
            <a:off x="7227425" y="1822450"/>
            <a:ext cx="2194147" cy="3213100"/>
          </a:xfrm>
          <a:prstGeom prst="rect">
            <a:avLst/>
          </a:prstGeom>
          <a:effectLst/>
        </p:spPr>
        <p:txBody>
          <a:bodyPr>
            <a:normAutofit/>
          </a:bodyPr>
          <a:lstStyle>
            <a:lvl1pPr marL="0" indent="0">
              <a:buNone/>
              <a:defRPr sz="1300" b="0" i="0">
                <a:ln>
                  <a:noFill/>
                </a:ln>
                <a:solidFill>
                  <a:schemeClr val="bg1">
                    <a:lumMod val="85000"/>
                  </a:schemeClr>
                </a:solidFill>
                <a:latin typeface="Poppins Light" charset="0"/>
                <a:ea typeface="Poppins Light" charset="0"/>
                <a:cs typeface="Poppins Light" charset="0"/>
              </a:defRPr>
            </a:lvl1pPr>
          </a:lstStyle>
          <a:p>
            <a:endParaRPr lang="en-US" dirty="0"/>
          </a:p>
        </p:txBody>
      </p:sp>
    </p:spTree>
    <p:extLst>
      <p:ext uri="{BB962C8B-B14F-4D97-AF65-F5344CB8AC3E}">
        <p14:creationId xmlns:p14="http://schemas.microsoft.com/office/powerpoint/2010/main" val="1394175182"/>
      </p:ext>
    </p:extLst>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roject 4">
    <p:spTree>
      <p:nvGrpSpPr>
        <p:cNvPr id="1" name=""/>
        <p:cNvGrpSpPr/>
        <p:nvPr/>
      </p:nvGrpSpPr>
      <p:grpSpPr>
        <a:xfrm>
          <a:off x="0" y="0"/>
          <a:ext cx="0" cy="0"/>
          <a:chOff x="0" y="0"/>
          <a:chExt cx="0" cy="0"/>
        </a:xfrm>
      </p:grpSpPr>
      <p:sp>
        <p:nvSpPr>
          <p:cNvPr id="12" name="Picture Placeholder 13"/>
          <p:cNvSpPr>
            <a:spLocks noGrp="1"/>
          </p:cNvSpPr>
          <p:nvPr>
            <p:ph type="pic" sz="quarter" idx="18"/>
          </p:nvPr>
        </p:nvSpPr>
        <p:spPr>
          <a:xfrm>
            <a:off x="505326" y="1622080"/>
            <a:ext cx="3376309" cy="3211551"/>
          </a:xfrm>
          <a:prstGeom prst="rect">
            <a:avLst/>
          </a:prstGeom>
          <a:effectLst/>
        </p:spPr>
        <p:txBody>
          <a:bodyPr>
            <a:normAutofit/>
          </a:bodyPr>
          <a:lstStyle>
            <a:lvl1pPr marL="0" indent="0">
              <a:buNone/>
              <a:defRPr sz="1300" b="0" i="0">
                <a:ln>
                  <a:noFill/>
                </a:ln>
                <a:solidFill>
                  <a:schemeClr val="bg1">
                    <a:lumMod val="85000"/>
                  </a:schemeClr>
                </a:solidFill>
                <a:latin typeface="Poppins Light" charset="0"/>
                <a:ea typeface="Poppins Light" charset="0"/>
                <a:cs typeface="Poppins Light" charset="0"/>
              </a:defRPr>
            </a:lvl1pPr>
          </a:lstStyle>
          <a:p>
            <a:endParaRPr lang="en-US" dirty="0"/>
          </a:p>
        </p:txBody>
      </p:sp>
      <p:sp>
        <p:nvSpPr>
          <p:cNvPr id="13" name="Picture Placeholder 13"/>
          <p:cNvSpPr>
            <a:spLocks noGrp="1"/>
          </p:cNvSpPr>
          <p:nvPr>
            <p:ph type="pic" sz="quarter" idx="19"/>
          </p:nvPr>
        </p:nvSpPr>
        <p:spPr>
          <a:xfrm>
            <a:off x="8310365" y="1622080"/>
            <a:ext cx="3360267" cy="3211551"/>
          </a:xfrm>
          <a:prstGeom prst="rect">
            <a:avLst/>
          </a:prstGeom>
          <a:effectLst/>
        </p:spPr>
        <p:txBody>
          <a:bodyPr>
            <a:normAutofit/>
          </a:bodyPr>
          <a:lstStyle>
            <a:lvl1pPr marL="0" indent="0">
              <a:buNone/>
              <a:defRPr sz="1300" b="0" i="0">
                <a:ln>
                  <a:noFill/>
                </a:ln>
                <a:solidFill>
                  <a:schemeClr val="bg1">
                    <a:lumMod val="85000"/>
                  </a:schemeClr>
                </a:solidFill>
                <a:latin typeface="Poppins Light" charset="0"/>
                <a:ea typeface="Poppins Light" charset="0"/>
                <a:cs typeface="Poppins Light" charset="0"/>
              </a:defRPr>
            </a:lvl1pPr>
          </a:lstStyle>
          <a:p>
            <a:endParaRPr lang="en-US" dirty="0"/>
          </a:p>
        </p:txBody>
      </p:sp>
      <p:sp>
        <p:nvSpPr>
          <p:cNvPr id="9" name="Picture Placeholder 13"/>
          <p:cNvSpPr>
            <a:spLocks noGrp="1"/>
          </p:cNvSpPr>
          <p:nvPr>
            <p:ph type="pic" sz="quarter" idx="20"/>
          </p:nvPr>
        </p:nvSpPr>
        <p:spPr>
          <a:xfrm>
            <a:off x="4407845" y="1622080"/>
            <a:ext cx="3376309" cy="3211551"/>
          </a:xfrm>
          <a:prstGeom prst="rect">
            <a:avLst/>
          </a:prstGeom>
          <a:effectLst/>
        </p:spPr>
        <p:txBody>
          <a:bodyPr>
            <a:normAutofit/>
          </a:bodyPr>
          <a:lstStyle>
            <a:lvl1pPr marL="0" indent="0">
              <a:buNone/>
              <a:defRPr sz="1300" b="0" i="0">
                <a:ln>
                  <a:noFill/>
                </a:ln>
                <a:solidFill>
                  <a:schemeClr val="bg1">
                    <a:lumMod val="85000"/>
                  </a:schemeClr>
                </a:solidFill>
                <a:latin typeface="Poppins Light" charset="0"/>
                <a:ea typeface="Poppins Light" charset="0"/>
                <a:cs typeface="Poppins Light" charset="0"/>
              </a:defRPr>
            </a:lvl1pPr>
          </a:lstStyle>
          <a:p>
            <a:endParaRPr lang="en-US" dirty="0"/>
          </a:p>
        </p:txBody>
      </p:sp>
    </p:spTree>
    <p:extLst>
      <p:ext uri="{BB962C8B-B14F-4D97-AF65-F5344CB8AC3E}">
        <p14:creationId xmlns:p14="http://schemas.microsoft.com/office/powerpoint/2010/main" val="1692587965"/>
      </p:ext>
    </p:extLst>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rojects of 4">
    <p:spTree>
      <p:nvGrpSpPr>
        <p:cNvPr id="1" name=""/>
        <p:cNvGrpSpPr/>
        <p:nvPr/>
      </p:nvGrpSpPr>
      <p:grpSpPr>
        <a:xfrm>
          <a:off x="0" y="0"/>
          <a:ext cx="0" cy="0"/>
          <a:chOff x="0" y="0"/>
          <a:chExt cx="0" cy="0"/>
        </a:xfrm>
      </p:grpSpPr>
      <p:sp>
        <p:nvSpPr>
          <p:cNvPr id="12" name="Picture Placeholder 13"/>
          <p:cNvSpPr>
            <a:spLocks noGrp="1"/>
          </p:cNvSpPr>
          <p:nvPr>
            <p:ph type="pic" sz="quarter" idx="14"/>
          </p:nvPr>
        </p:nvSpPr>
        <p:spPr>
          <a:xfrm>
            <a:off x="9722980" y="4622275"/>
            <a:ext cx="2469020" cy="2235726"/>
          </a:xfrm>
          <a:prstGeom prst="rect">
            <a:avLst/>
          </a:prstGeom>
          <a:effectLst/>
        </p:spPr>
        <p:txBody>
          <a:bodyPr>
            <a:normAutofit/>
          </a:bodyPr>
          <a:lstStyle>
            <a:lvl1pPr marL="0" indent="0">
              <a:buNone/>
              <a:defRPr sz="1300" b="0" i="0">
                <a:ln>
                  <a:noFill/>
                </a:ln>
                <a:solidFill>
                  <a:schemeClr val="bg1">
                    <a:lumMod val="85000"/>
                  </a:schemeClr>
                </a:solidFill>
                <a:latin typeface="Poppins Light" charset="0"/>
                <a:ea typeface="Poppins Light" charset="0"/>
                <a:cs typeface="Poppins Light" charset="0"/>
              </a:defRPr>
            </a:lvl1pPr>
          </a:lstStyle>
          <a:p>
            <a:endParaRPr lang="en-US" dirty="0"/>
          </a:p>
        </p:txBody>
      </p:sp>
      <p:sp>
        <p:nvSpPr>
          <p:cNvPr id="13" name="Picture Placeholder 13"/>
          <p:cNvSpPr>
            <a:spLocks noGrp="1"/>
          </p:cNvSpPr>
          <p:nvPr>
            <p:ph type="pic" sz="quarter" idx="15"/>
          </p:nvPr>
        </p:nvSpPr>
        <p:spPr>
          <a:xfrm>
            <a:off x="2431592" y="2386549"/>
            <a:ext cx="2431604" cy="2235726"/>
          </a:xfrm>
          <a:prstGeom prst="rect">
            <a:avLst/>
          </a:prstGeom>
          <a:effectLst/>
        </p:spPr>
        <p:txBody>
          <a:bodyPr>
            <a:normAutofit/>
          </a:bodyPr>
          <a:lstStyle>
            <a:lvl1pPr marL="0" indent="0">
              <a:buNone/>
              <a:defRPr sz="1300" b="0" i="0">
                <a:ln>
                  <a:noFill/>
                </a:ln>
                <a:solidFill>
                  <a:schemeClr val="bg1">
                    <a:lumMod val="85000"/>
                  </a:schemeClr>
                </a:solidFill>
                <a:latin typeface="Poppins Light" charset="0"/>
                <a:ea typeface="Poppins Light" charset="0"/>
                <a:cs typeface="Poppins Light" charset="0"/>
              </a:defRPr>
            </a:lvl1pPr>
          </a:lstStyle>
          <a:p>
            <a:endParaRPr lang="en-US" dirty="0"/>
          </a:p>
        </p:txBody>
      </p:sp>
      <p:sp>
        <p:nvSpPr>
          <p:cNvPr id="14" name="Picture Placeholder 13"/>
          <p:cNvSpPr>
            <a:spLocks noGrp="1"/>
          </p:cNvSpPr>
          <p:nvPr>
            <p:ph type="pic" sz="quarter" idx="17"/>
          </p:nvPr>
        </p:nvSpPr>
        <p:spPr>
          <a:xfrm>
            <a:off x="0" y="4622275"/>
            <a:ext cx="2431604" cy="2235726"/>
          </a:xfrm>
          <a:prstGeom prst="rect">
            <a:avLst/>
          </a:prstGeom>
          <a:effectLst/>
        </p:spPr>
        <p:txBody>
          <a:bodyPr>
            <a:normAutofit/>
          </a:bodyPr>
          <a:lstStyle>
            <a:lvl1pPr marL="0" indent="0">
              <a:buNone/>
              <a:defRPr sz="1300" b="0" i="0">
                <a:ln>
                  <a:noFill/>
                </a:ln>
                <a:solidFill>
                  <a:schemeClr val="bg1">
                    <a:lumMod val="85000"/>
                  </a:schemeClr>
                </a:solidFill>
                <a:latin typeface="Poppins Light" charset="0"/>
                <a:ea typeface="Poppins Light" charset="0"/>
                <a:cs typeface="Poppins Light" charset="0"/>
              </a:defRPr>
            </a:lvl1pPr>
          </a:lstStyle>
          <a:p>
            <a:endParaRPr lang="en-US" dirty="0"/>
          </a:p>
        </p:txBody>
      </p:sp>
      <p:sp>
        <p:nvSpPr>
          <p:cNvPr id="15" name="Picture Placeholder 13"/>
          <p:cNvSpPr>
            <a:spLocks noGrp="1"/>
          </p:cNvSpPr>
          <p:nvPr>
            <p:ph type="pic" sz="quarter" idx="18"/>
          </p:nvPr>
        </p:nvSpPr>
        <p:spPr>
          <a:xfrm>
            <a:off x="7293088" y="2386549"/>
            <a:ext cx="2431604" cy="2235726"/>
          </a:xfrm>
          <a:prstGeom prst="rect">
            <a:avLst/>
          </a:prstGeom>
          <a:effectLst/>
        </p:spPr>
        <p:txBody>
          <a:bodyPr>
            <a:normAutofit/>
          </a:bodyPr>
          <a:lstStyle>
            <a:lvl1pPr marL="0" indent="0">
              <a:buNone/>
              <a:defRPr sz="1300" b="0" i="0">
                <a:ln>
                  <a:noFill/>
                </a:ln>
                <a:solidFill>
                  <a:schemeClr val="bg1">
                    <a:lumMod val="85000"/>
                  </a:schemeClr>
                </a:solidFill>
                <a:latin typeface="Poppins Light" charset="0"/>
                <a:ea typeface="Poppins Light" charset="0"/>
                <a:cs typeface="Poppins Light" charset="0"/>
              </a:defRPr>
            </a:lvl1pPr>
          </a:lstStyle>
          <a:p>
            <a:endParaRPr lang="en-US" dirty="0"/>
          </a:p>
        </p:txBody>
      </p:sp>
      <p:sp>
        <p:nvSpPr>
          <p:cNvPr id="16" name="Picture Placeholder 13"/>
          <p:cNvSpPr>
            <a:spLocks noGrp="1"/>
          </p:cNvSpPr>
          <p:nvPr>
            <p:ph type="pic" sz="quarter" idx="19"/>
          </p:nvPr>
        </p:nvSpPr>
        <p:spPr>
          <a:xfrm>
            <a:off x="4863197" y="4622275"/>
            <a:ext cx="2431604" cy="2235726"/>
          </a:xfrm>
          <a:prstGeom prst="rect">
            <a:avLst/>
          </a:prstGeom>
          <a:effectLst/>
        </p:spPr>
        <p:txBody>
          <a:bodyPr>
            <a:normAutofit/>
          </a:bodyPr>
          <a:lstStyle>
            <a:lvl1pPr marL="0" indent="0">
              <a:buNone/>
              <a:defRPr sz="1300" b="0" i="0">
                <a:ln>
                  <a:noFill/>
                </a:ln>
                <a:solidFill>
                  <a:schemeClr val="bg1">
                    <a:lumMod val="85000"/>
                  </a:schemeClr>
                </a:solidFill>
                <a:latin typeface="Poppins Light" charset="0"/>
                <a:ea typeface="Poppins Light" charset="0"/>
                <a:cs typeface="Poppins Light" charset="0"/>
              </a:defRPr>
            </a:lvl1pPr>
          </a:lstStyle>
          <a:p>
            <a:endParaRPr lang="en-US" dirty="0"/>
          </a:p>
        </p:txBody>
      </p:sp>
    </p:spTree>
    <p:extLst>
      <p:ext uri="{BB962C8B-B14F-4D97-AF65-F5344CB8AC3E}">
        <p14:creationId xmlns:p14="http://schemas.microsoft.com/office/powerpoint/2010/main" val="2672475990"/>
      </p:ext>
    </p:extLst>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artners of 4">
    <p:spTree>
      <p:nvGrpSpPr>
        <p:cNvPr id="1" name=""/>
        <p:cNvGrpSpPr/>
        <p:nvPr/>
      </p:nvGrpSpPr>
      <p:grpSpPr>
        <a:xfrm>
          <a:off x="0" y="0"/>
          <a:ext cx="0" cy="0"/>
          <a:chOff x="0" y="0"/>
          <a:chExt cx="0" cy="0"/>
        </a:xfrm>
      </p:grpSpPr>
      <p:sp>
        <p:nvSpPr>
          <p:cNvPr id="15" name="Picture Placeholder 13"/>
          <p:cNvSpPr>
            <a:spLocks noGrp="1"/>
          </p:cNvSpPr>
          <p:nvPr>
            <p:ph type="pic" sz="quarter" idx="20"/>
          </p:nvPr>
        </p:nvSpPr>
        <p:spPr>
          <a:xfrm>
            <a:off x="3639219" y="2112080"/>
            <a:ext cx="2268406" cy="2174170"/>
          </a:xfrm>
          <a:prstGeom prst="rect">
            <a:avLst/>
          </a:prstGeom>
          <a:effectLst/>
        </p:spPr>
        <p:txBody>
          <a:bodyPr>
            <a:normAutofit/>
          </a:bodyPr>
          <a:lstStyle>
            <a:lvl1pPr marL="0" indent="0">
              <a:buNone/>
              <a:defRPr sz="1150" b="0" i="0">
                <a:ln>
                  <a:noFill/>
                </a:ln>
                <a:solidFill>
                  <a:schemeClr val="bg1">
                    <a:lumMod val="85000"/>
                  </a:schemeClr>
                </a:solidFill>
                <a:latin typeface="Poppins Light" charset="0"/>
                <a:ea typeface="Poppins Light" charset="0"/>
                <a:cs typeface="Poppins Light" charset="0"/>
              </a:defRPr>
            </a:lvl1pPr>
          </a:lstStyle>
          <a:p>
            <a:endParaRPr lang="en-US" dirty="0"/>
          </a:p>
        </p:txBody>
      </p:sp>
      <p:sp>
        <p:nvSpPr>
          <p:cNvPr id="16" name="Picture Placeholder 13"/>
          <p:cNvSpPr>
            <a:spLocks noGrp="1"/>
          </p:cNvSpPr>
          <p:nvPr>
            <p:ph type="pic" sz="quarter" idx="21"/>
          </p:nvPr>
        </p:nvSpPr>
        <p:spPr>
          <a:xfrm>
            <a:off x="975336" y="2112080"/>
            <a:ext cx="2268406" cy="2174170"/>
          </a:xfrm>
          <a:prstGeom prst="rect">
            <a:avLst/>
          </a:prstGeom>
          <a:effectLst/>
        </p:spPr>
        <p:txBody>
          <a:bodyPr>
            <a:normAutofit/>
          </a:bodyPr>
          <a:lstStyle>
            <a:lvl1pPr marL="0" indent="0">
              <a:buNone/>
              <a:defRPr sz="1150" b="0" i="0">
                <a:ln>
                  <a:noFill/>
                </a:ln>
                <a:solidFill>
                  <a:schemeClr val="bg1">
                    <a:lumMod val="85000"/>
                  </a:schemeClr>
                </a:solidFill>
                <a:latin typeface="Poppins Light" charset="0"/>
                <a:ea typeface="Poppins Light" charset="0"/>
                <a:cs typeface="Poppins Light" charset="0"/>
              </a:defRPr>
            </a:lvl1pPr>
          </a:lstStyle>
          <a:p>
            <a:endParaRPr lang="en-US" dirty="0"/>
          </a:p>
        </p:txBody>
      </p:sp>
      <p:sp>
        <p:nvSpPr>
          <p:cNvPr id="17" name="Picture Placeholder 13"/>
          <p:cNvSpPr>
            <a:spLocks noGrp="1"/>
          </p:cNvSpPr>
          <p:nvPr>
            <p:ph type="pic" sz="quarter" idx="18"/>
          </p:nvPr>
        </p:nvSpPr>
        <p:spPr>
          <a:xfrm>
            <a:off x="8966987" y="2112080"/>
            <a:ext cx="2268406" cy="2174170"/>
          </a:xfrm>
          <a:prstGeom prst="rect">
            <a:avLst/>
          </a:prstGeom>
          <a:effectLst/>
        </p:spPr>
        <p:txBody>
          <a:bodyPr>
            <a:normAutofit/>
          </a:bodyPr>
          <a:lstStyle>
            <a:lvl1pPr marL="0" indent="0">
              <a:buNone/>
              <a:defRPr sz="1150" b="0" i="0">
                <a:ln>
                  <a:noFill/>
                </a:ln>
                <a:solidFill>
                  <a:schemeClr val="bg1">
                    <a:lumMod val="85000"/>
                  </a:schemeClr>
                </a:solidFill>
                <a:latin typeface="Poppins Light" charset="0"/>
                <a:ea typeface="Poppins Light" charset="0"/>
                <a:cs typeface="Poppins Light" charset="0"/>
              </a:defRPr>
            </a:lvl1pPr>
          </a:lstStyle>
          <a:p>
            <a:endParaRPr lang="en-US" dirty="0"/>
          </a:p>
        </p:txBody>
      </p:sp>
      <p:sp>
        <p:nvSpPr>
          <p:cNvPr id="18" name="Picture Placeholder 13"/>
          <p:cNvSpPr>
            <a:spLocks noGrp="1"/>
          </p:cNvSpPr>
          <p:nvPr>
            <p:ph type="pic" sz="quarter" idx="19"/>
          </p:nvPr>
        </p:nvSpPr>
        <p:spPr>
          <a:xfrm>
            <a:off x="6303104" y="2112080"/>
            <a:ext cx="2268406" cy="2174170"/>
          </a:xfrm>
          <a:prstGeom prst="rect">
            <a:avLst/>
          </a:prstGeom>
          <a:effectLst/>
        </p:spPr>
        <p:txBody>
          <a:bodyPr>
            <a:normAutofit/>
          </a:bodyPr>
          <a:lstStyle>
            <a:lvl1pPr marL="0" indent="0">
              <a:buNone/>
              <a:defRPr sz="1150" b="0" i="0">
                <a:ln>
                  <a:noFill/>
                </a:ln>
                <a:solidFill>
                  <a:schemeClr val="bg1">
                    <a:lumMod val="85000"/>
                  </a:schemeClr>
                </a:solidFill>
                <a:latin typeface="Poppins Light" charset="0"/>
                <a:ea typeface="Poppins Light" charset="0"/>
                <a:cs typeface="Poppins Light" charset="0"/>
              </a:defRPr>
            </a:lvl1pPr>
          </a:lstStyle>
          <a:p>
            <a:endParaRPr lang="en-US" dirty="0"/>
          </a:p>
        </p:txBody>
      </p:sp>
    </p:spTree>
    <p:extLst>
      <p:ext uri="{BB962C8B-B14F-4D97-AF65-F5344CB8AC3E}">
        <p14:creationId xmlns:p14="http://schemas.microsoft.com/office/powerpoint/2010/main" val="4106586767"/>
      </p:ext>
    </p:extLst>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Title Slide">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9241845"/>
      </p:ext>
    </p:extLst>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ED18F4-5EAE-4B28-846D-D66AE204A666}"/>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532219629"/>
      </p:ext>
    </p:extLst>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9236681"/>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2" r:id="rId9"/>
  </p:sldLayoutIdLst>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hf hdr="0" ftr="0" dt="0"/>
  <p:txStyles>
    <p:titleStyle>
      <a:lvl1pPr algn="l" defTabSz="914217" rtl="0" eaLnBrk="1" latinLnBrk="0" hangingPunct="1">
        <a:lnSpc>
          <a:spcPct val="90000"/>
        </a:lnSpc>
        <a:spcBef>
          <a:spcPct val="0"/>
        </a:spcBef>
        <a:buNone/>
        <a:defRPr lang="en-US" sz="3000" kern="1200">
          <a:solidFill>
            <a:schemeClr val="tx1"/>
          </a:solidFill>
          <a:latin typeface="Lato Light" charset="0"/>
          <a:ea typeface="Lato Light" charset="0"/>
          <a:cs typeface="Lato Light" charset="0"/>
        </a:defRPr>
      </a:lvl1pPr>
    </p:titleStyle>
    <p:bodyStyle>
      <a:lvl1pPr marL="228555" indent="-228555" algn="l" defTabSz="914217" rtl="0" eaLnBrk="1" latinLnBrk="0" hangingPunct="1">
        <a:lnSpc>
          <a:spcPct val="90000"/>
        </a:lnSpc>
        <a:spcBef>
          <a:spcPts val="1000"/>
        </a:spcBef>
        <a:buFont typeface="Arial" panose="020B0604020202020204" pitchFamily="34" charset="0"/>
        <a:buChar char="•"/>
        <a:defRPr lang="en-US" sz="2400" kern="1200" dirty="0" smtClean="0">
          <a:solidFill>
            <a:schemeClr val="tx1"/>
          </a:solidFill>
          <a:effectLst/>
          <a:latin typeface="Lato Light" charset="0"/>
          <a:ea typeface="Lato Light" charset="0"/>
          <a:cs typeface="Lato Light" charset="0"/>
        </a:defRPr>
      </a:lvl1pPr>
      <a:lvl2pPr marL="685663" indent="-228555" algn="l" defTabSz="914217" rtl="0" eaLnBrk="1" latinLnBrk="0" hangingPunct="1">
        <a:lnSpc>
          <a:spcPct val="90000"/>
        </a:lnSpc>
        <a:spcBef>
          <a:spcPts val="500"/>
        </a:spcBef>
        <a:buFont typeface="Arial" panose="020B0604020202020204" pitchFamily="34" charset="0"/>
        <a:buChar char="•"/>
        <a:defRPr lang="en-US" sz="2000" kern="1200" dirty="0" smtClean="0">
          <a:solidFill>
            <a:schemeClr val="tx1"/>
          </a:solidFill>
          <a:effectLst/>
          <a:latin typeface="Lato Light" charset="0"/>
          <a:ea typeface="Lato Light" charset="0"/>
          <a:cs typeface="Lato Light" charset="0"/>
        </a:defRPr>
      </a:lvl2pPr>
      <a:lvl3pPr marL="1142772" indent="-228555" algn="l" defTabSz="914217" rtl="0" eaLnBrk="1" latinLnBrk="0" hangingPunct="1">
        <a:lnSpc>
          <a:spcPct val="90000"/>
        </a:lnSpc>
        <a:spcBef>
          <a:spcPts val="500"/>
        </a:spcBef>
        <a:buFont typeface="Arial" panose="020B0604020202020204" pitchFamily="34" charset="0"/>
        <a:buChar char="•"/>
        <a:defRPr lang="en-US" sz="1800" kern="1200" dirty="0" smtClean="0">
          <a:solidFill>
            <a:schemeClr val="tx1"/>
          </a:solidFill>
          <a:effectLst/>
          <a:latin typeface="Lato Light" charset="0"/>
          <a:ea typeface="Lato Light" charset="0"/>
          <a:cs typeface="Lato Light" charset="0"/>
        </a:defRPr>
      </a:lvl3pPr>
      <a:lvl4pPr marL="1599880" indent="-228555" algn="l" defTabSz="914217" rtl="0" eaLnBrk="1" latinLnBrk="0" hangingPunct="1">
        <a:lnSpc>
          <a:spcPct val="90000"/>
        </a:lnSpc>
        <a:spcBef>
          <a:spcPts val="500"/>
        </a:spcBef>
        <a:buFont typeface="Arial" panose="020B0604020202020204" pitchFamily="34" charset="0"/>
        <a:buChar char="•"/>
        <a:defRPr lang="en-US" sz="1600" kern="1200" dirty="0" smtClean="0">
          <a:solidFill>
            <a:schemeClr val="tx1"/>
          </a:solidFill>
          <a:effectLst/>
          <a:latin typeface="Lato Light" charset="0"/>
          <a:ea typeface="Lato Light" charset="0"/>
          <a:cs typeface="Lato Light" charset="0"/>
        </a:defRPr>
      </a:lvl4pPr>
      <a:lvl5pPr marL="2056989" indent="-228555" algn="l" defTabSz="914217" rtl="0" eaLnBrk="1" latinLnBrk="0" hangingPunct="1">
        <a:lnSpc>
          <a:spcPct val="90000"/>
        </a:lnSpc>
        <a:spcBef>
          <a:spcPts val="500"/>
        </a:spcBef>
        <a:buFont typeface="Arial" panose="020B0604020202020204" pitchFamily="34" charset="0"/>
        <a:buChar char="•"/>
        <a:defRPr lang="en-US" sz="1600" kern="1200" dirty="0">
          <a:solidFill>
            <a:schemeClr val="tx1"/>
          </a:solidFill>
          <a:effectLst/>
          <a:latin typeface="Lato Light" charset="0"/>
          <a:ea typeface="Lato Light" charset="0"/>
          <a:cs typeface="Lato Light" charset="0"/>
        </a:defRPr>
      </a:lvl5pPr>
      <a:lvl6pPr marL="2514097" indent="-228555"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206" indent="-228555"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14" indent="-228555"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423" indent="-228555"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217" rtl="0" eaLnBrk="1" latinLnBrk="0" hangingPunct="1">
        <a:defRPr sz="1800" kern="1200">
          <a:solidFill>
            <a:schemeClr val="tx1"/>
          </a:solidFill>
          <a:latin typeface="+mn-lt"/>
          <a:ea typeface="+mn-ea"/>
          <a:cs typeface="+mn-cs"/>
        </a:defRPr>
      </a:lvl1pPr>
      <a:lvl2pPr marL="457109" algn="l" defTabSz="914217" rtl="0" eaLnBrk="1" latinLnBrk="0" hangingPunct="1">
        <a:defRPr sz="1800" kern="1200">
          <a:solidFill>
            <a:schemeClr val="tx1"/>
          </a:solidFill>
          <a:latin typeface="+mn-lt"/>
          <a:ea typeface="+mn-ea"/>
          <a:cs typeface="+mn-cs"/>
        </a:defRPr>
      </a:lvl2pPr>
      <a:lvl3pPr marL="914217" algn="l" defTabSz="914217" rtl="0" eaLnBrk="1" latinLnBrk="0" hangingPunct="1">
        <a:defRPr sz="1800" kern="1200">
          <a:solidFill>
            <a:schemeClr val="tx1"/>
          </a:solidFill>
          <a:latin typeface="+mn-lt"/>
          <a:ea typeface="+mn-ea"/>
          <a:cs typeface="+mn-cs"/>
        </a:defRPr>
      </a:lvl3pPr>
      <a:lvl4pPr marL="1371326" algn="l" defTabSz="914217" rtl="0" eaLnBrk="1" latinLnBrk="0" hangingPunct="1">
        <a:defRPr sz="1800" kern="1200">
          <a:solidFill>
            <a:schemeClr val="tx1"/>
          </a:solidFill>
          <a:latin typeface="+mn-lt"/>
          <a:ea typeface="+mn-ea"/>
          <a:cs typeface="+mn-cs"/>
        </a:defRPr>
      </a:lvl4pPr>
      <a:lvl5pPr marL="1828434" algn="l" defTabSz="914217" rtl="0" eaLnBrk="1" latinLnBrk="0" hangingPunct="1">
        <a:defRPr sz="1800" kern="1200">
          <a:solidFill>
            <a:schemeClr val="tx1"/>
          </a:solidFill>
          <a:latin typeface="+mn-lt"/>
          <a:ea typeface="+mn-ea"/>
          <a:cs typeface="+mn-cs"/>
        </a:defRPr>
      </a:lvl5pPr>
      <a:lvl6pPr marL="2285543" algn="l" defTabSz="914217" rtl="0" eaLnBrk="1" latinLnBrk="0" hangingPunct="1">
        <a:defRPr sz="1800" kern="1200">
          <a:solidFill>
            <a:schemeClr val="tx1"/>
          </a:solidFill>
          <a:latin typeface="+mn-lt"/>
          <a:ea typeface="+mn-ea"/>
          <a:cs typeface="+mn-cs"/>
        </a:defRPr>
      </a:lvl6pPr>
      <a:lvl7pPr marL="2742652" algn="l" defTabSz="914217" rtl="0" eaLnBrk="1" latinLnBrk="0" hangingPunct="1">
        <a:defRPr sz="1800" kern="1200">
          <a:solidFill>
            <a:schemeClr val="tx1"/>
          </a:solidFill>
          <a:latin typeface="+mn-lt"/>
          <a:ea typeface="+mn-ea"/>
          <a:cs typeface="+mn-cs"/>
        </a:defRPr>
      </a:lvl7pPr>
      <a:lvl8pPr marL="3199760" algn="l" defTabSz="914217" rtl="0" eaLnBrk="1" latinLnBrk="0" hangingPunct="1">
        <a:defRPr sz="1800" kern="1200">
          <a:solidFill>
            <a:schemeClr val="tx1"/>
          </a:solidFill>
          <a:latin typeface="+mn-lt"/>
          <a:ea typeface="+mn-ea"/>
          <a:cs typeface="+mn-cs"/>
        </a:defRPr>
      </a:lvl8pPr>
      <a:lvl9pPr marL="3656869" algn="l" defTabSz="91421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8" Type="http://schemas.openxmlformats.org/officeDocument/2006/relationships/image" Target="../media/image7.jpg"/><Relationship Id="rId3" Type="http://schemas.openxmlformats.org/officeDocument/2006/relationships/image" Target="../media/image3.jpeg"/><Relationship Id="rId7"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3" Type="http://schemas.openxmlformats.org/officeDocument/2006/relationships/image" Target="../media/image2.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24.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26.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7.png"/><Relationship Id="rId7"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image" Target="../media/image37.png"/><Relationship Id="rId4" Type="http://schemas.openxmlformats.org/officeDocument/2006/relationships/image" Target="../media/image36.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38.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39.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40.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41.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42.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4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44.png"/></Relationships>
</file>

<file path=ppt/slides/_rels/slide2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8.xml"/><Relationship Id="rId1" Type="http://schemas.openxmlformats.org/officeDocument/2006/relationships/slideLayout" Target="../slideLayouts/slideLayout8.xml"/><Relationship Id="rId5" Type="http://schemas.openxmlformats.org/officeDocument/2006/relationships/image" Target="../media/image2.png"/><Relationship Id="rId4" Type="http://schemas.openxmlformats.org/officeDocument/2006/relationships/image" Target="../media/image4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D5D6"/>
        </a:solidFill>
        <a:effectLst/>
      </p:bgPr>
    </p:bg>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FBD22FF2-0825-4E92-BADF-83668D4DED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9296"/>
            <a:ext cx="12192000" cy="6887296"/>
          </a:xfrm>
          <a:prstGeom prst="rect">
            <a:avLst/>
          </a:prstGeom>
        </p:spPr>
      </p:pic>
      <p:sp>
        <p:nvSpPr>
          <p:cNvPr id="5" name="文本框 4">
            <a:extLst>
              <a:ext uri="{FF2B5EF4-FFF2-40B4-BE49-F238E27FC236}">
                <a16:creationId xmlns:a16="http://schemas.microsoft.com/office/drawing/2014/main" id="{303EB5CD-367D-4867-BE89-958B5E0C9872}"/>
              </a:ext>
            </a:extLst>
          </p:cNvPr>
          <p:cNvSpPr txBox="1"/>
          <p:nvPr/>
        </p:nvSpPr>
        <p:spPr>
          <a:xfrm>
            <a:off x="2183977" y="1723244"/>
            <a:ext cx="5709820" cy="1323439"/>
          </a:xfrm>
          <a:prstGeom prst="rect">
            <a:avLst/>
          </a:prstGeom>
          <a:noFill/>
        </p:spPr>
        <p:txBody>
          <a:bodyPr wrap="square" rtlCol="0">
            <a:spAutoFit/>
          </a:bodyPr>
          <a:lstStyle/>
          <a:p>
            <a:pPr algn="dist"/>
            <a:r>
              <a:rPr lang="en-US" altLang="zh-CN" sz="8000" spc="600" dirty="0">
                <a:solidFill>
                  <a:srgbClr val="E9E4E2"/>
                </a:solidFill>
                <a:latin typeface="Bauhaus 93" panose="04030905020B02020C02" pitchFamily="82" charset="0"/>
              </a:rPr>
              <a:t>Big Bird</a:t>
            </a:r>
            <a:endParaRPr lang="zh-CN" altLang="en-US" sz="8000" spc="600" dirty="0">
              <a:solidFill>
                <a:srgbClr val="E9E4E2"/>
              </a:solidFill>
              <a:latin typeface="Bauhaus 93" panose="04030905020B02020C02" pitchFamily="82" charset="0"/>
            </a:endParaRPr>
          </a:p>
        </p:txBody>
      </p:sp>
      <p:sp>
        <p:nvSpPr>
          <p:cNvPr id="6" name="文本框 5">
            <a:extLst>
              <a:ext uri="{FF2B5EF4-FFF2-40B4-BE49-F238E27FC236}">
                <a16:creationId xmlns:a16="http://schemas.microsoft.com/office/drawing/2014/main" id="{B2969499-1034-491C-A0E0-18427802BA14}"/>
              </a:ext>
            </a:extLst>
          </p:cNvPr>
          <p:cNvSpPr txBox="1"/>
          <p:nvPr/>
        </p:nvSpPr>
        <p:spPr>
          <a:xfrm>
            <a:off x="2259790" y="3570958"/>
            <a:ext cx="5042348" cy="1200329"/>
          </a:xfrm>
          <a:prstGeom prst="rect">
            <a:avLst/>
          </a:prstGeom>
          <a:noFill/>
        </p:spPr>
        <p:txBody>
          <a:bodyPr wrap="square" rtlCol="0">
            <a:spAutoFit/>
          </a:bodyPr>
          <a:lstStyle/>
          <a:p>
            <a:r>
              <a:rPr lang="en-US" altLang="zh-CN" sz="3600" b="1" dirty="0">
                <a:solidFill>
                  <a:schemeClr val="bg1">
                    <a:lumMod val="95000"/>
                  </a:schemeClr>
                </a:solidFill>
                <a:effectLst>
                  <a:outerShdw blurRad="38100" dist="38100" dir="2700000" algn="tl">
                    <a:srgbClr val="000000">
                      <a:alpha val="43137"/>
                    </a:srgbClr>
                  </a:outerShdw>
                </a:effectLst>
                <a:cs typeface="+mn-ea"/>
                <a:sym typeface="+mn-lt"/>
              </a:rPr>
              <a:t>Transformers for Longer Sequences</a:t>
            </a:r>
            <a:endParaRPr lang="zh-CN" altLang="en-US" sz="3600" b="1" dirty="0">
              <a:solidFill>
                <a:schemeClr val="bg1">
                  <a:lumMod val="95000"/>
                </a:schemeClr>
              </a:solidFill>
              <a:effectLst>
                <a:outerShdw blurRad="38100" dist="38100" dir="2700000" algn="tl">
                  <a:srgbClr val="000000">
                    <a:alpha val="43137"/>
                  </a:srgbClr>
                </a:outerShdw>
              </a:effectLst>
              <a:cs typeface="+mn-ea"/>
              <a:sym typeface="+mn-lt"/>
            </a:endParaRPr>
          </a:p>
        </p:txBody>
      </p:sp>
      <p:sp>
        <p:nvSpPr>
          <p:cNvPr id="9" name="矩形 8"/>
          <p:cNvSpPr/>
          <p:nvPr/>
        </p:nvSpPr>
        <p:spPr>
          <a:xfrm>
            <a:off x="2259790" y="5779727"/>
            <a:ext cx="4846404" cy="553998"/>
          </a:xfrm>
          <a:prstGeom prst="rect">
            <a:avLst/>
          </a:prstGeom>
        </p:spPr>
        <p:txBody>
          <a:bodyPr wrap="square">
            <a:spAutoFit/>
          </a:bodyPr>
          <a:lstStyle/>
          <a:p>
            <a:pPr>
              <a:lnSpc>
                <a:spcPct val="150000"/>
              </a:lnSpc>
            </a:pPr>
            <a:r>
              <a:rPr lang="zh-CN" altLang="en-US" sz="2000" dirty="0">
                <a:solidFill>
                  <a:schemeClr val="bg1"/>
                </a:solidFill>
                <a:effectLst>
                  <a:outerShdw blurRad="38100" dist="38100" dir="2700000" algn="tl">
                    <a:srgbClr val="000000">
                      <a:alpha val="43137"/>
                    </a:srgbClr>
                  </a:outerShdw>
                </a:effectLst>
                <a:latin typeface="+mn-ea"/>
                <a:cs typeface="+mn-ea"/>
                <a:sym typeface="+mn-lt"/>
              </a:rPr>
              <a:t>汇报人：陈思萌</a:t>
            </a:r>
            <a:r>
              <a:rPr lang="en-US" altLang="zh-CN" sz="2000" dirty="0">
                <a:solidFill>
                  <a:schemeClr val="bg1"/>
                </a:solidFill>
                <a:effectLst>
                  <a:outerShdw blurRad="38100" dist="38100" dir="2700000" algn="tl">
                    <a:srgbClr val="000000">
                      <a:alpha val="43137"/>
                    </a:srgbClr>
                  </a:outerShdw>
                </a:effectLst>
                <a:latin typeface="+mn-ea"/>
                <a:cs typeface="+mn-ea"/>
                <a:sym typeface="+mn-lt"/>
              </a:rPr>
              <a:t>    </a:t>
            </a:r>
            <a:r>
              <a:rPr lang="zh-CN" altLang="en-US" sz="2000" dirty="0">
                <a:solidFill>
                  <a:schemeClr val="bg1"/>
                </a:solidFill>
                <a:effectLst>
                  <a:outerShdw blurRad="38100" dist="38100" dir="2700000" algn="tl">
                    <a:srgbClr val="000000">
                      <a:alpha val="43137"/>
                    </a:srgbClr>
                  </a:outerShdw>
                </a:effectLst>
                <a:latin typeface="+mn-ea"/>
                <a:cs typeface="+mn-ea"/>
                <a:sym typeface="+mn-lt"/>
              </a:rPr>
              <a:t>汇报时间：</a:t>
            </a:r>
            <a:r>
              <a:rPr lang="en-US" altLang="zh-CN" sz="2000" dirty="0">
                <a:solidFill>
                  <a:schemeClr val="bg1"/>
                </a:solidFill>
                <a:effectLst>
                  <a:outerShdw blurRad="38100" dist="38100" dir="2700000" algn="tl">
                    <a:srgbClr val="000000">
                      <a:alpha val="43137"/>
                    </a:srgbClr>
                  </a:outerShdw>
                </a:effectLst>
                <a:latin typeface="+mn-ea"/>
                <a:cs typeface="+mn-ea"/>
                <a:sym typeface="+mn-lt"/>
              </a:rPr>
              <a:t>2020</a:t>
            </a:r>
            <a:r>
              <a:rPr lang="zh-CN" altLang="en-US" sz="2000" dirty="0">
                <a:solidFill>
                  <a:schemeClr val="bg1"/>
                </a:solidFill>
                <a:effectLst>
                  <a:outerShdw blurRad="38100" dist="38100" dir="2700000" algn="tl">
                    <a:srgbClr val="000000">
                      <a:alpha val="43137"/>
                    </a:srgbClr>
                  </a:outerShdw>
                </a:effectLst>
                <a:latin typeface="+mn-ea"/>
                <a:cs typeface="+mn-ea"/>
                <a:sym typeface="+mn-lt"/>
              </a:rPr>
              <a:t>年</a:t>
            </a:r>
            <a:r>
              <a:rPr lang="en-US" altLang="zh-CN" sz="2000" dirty="0">
                <a:solidFill>
                  <a:schemeClr val="bg1"/>
                </a:solidFill>
                <a:effectLst>
                  <a:outerShdw blurRad="38100" dist="38100" dir="2700000" algn="tl">
                    <a:srgbClr val="000000">
                      <a:alpha val="43137"/>
                    </a:srgbClr>
                  </a:outerShdw>
                </a:effectLst>
                <a:latin typeface="+mn-ea"/>
                <a:cs typeface="+mn-ea"/>
                <a:sym typeface="+mn-lt"/>
              </a:rPr>
              <a:t>9</a:t>
            </a:r>
            <a:r>
              <a:rPr lang="zh-CN" altLang="en-US" sz="2000" dirty="0">
                <a:solidFill>
                  <a:schemeClr val="bg1"/>
                </a:solidFill>
                <a:effectLst>
                  <a:outerShdw blurRad="38100" dist="38100" dir="2700000" algn="tl">
                    <a:srgbClr val="000000">
                      <a:alpha val="43137"/>
                    </a:srgbClr>
                  </a:outerShdw>
                </a:effectLst>
                <a:latin typeface="+mn-ea"/>
                <a:cs typeface="+mn-ea"/>
                <a:sym typeface="+mn-lt"/>
              </a:rPr>
              <a:t>月     </a:t>
            </a:r>
            <a:endParaRPr lang="en-US" altLang="zh-CN" sz="2000" dirty="0">
              <a:solidFill>
                <a:schemeClr val="bg1"/>
              </a:solidFill>
              <a:effectLst>
                <a:outerShdw blurRad="38100" dist="38100" dir="2700000" algn="tl">
                  <a:srgbClr val="000000">
                    <a:alpha val="43137"/>
                  </a:srgbClr>
                </a:outerShdw>
              </a:effectLst>
              <a:latin typeface="+mn-ea"/>
              <a:cs typeface="+mn-ea"/>
              <a:sym typeface="+mn-lt"/>
            </a:endParaRPr>
          </a:p>
        </p:txBody>
      </p:sp>
      <p:pic>
        <p:nvPicPr>
          <p:cNvPr id="11" name="图片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3254"/>
            <a:ext cx="3374582" cy="537824"/>
          </a:xfrm>
          <a:prstGeom prst="rect">
            <a:avLst/>
          </a:prstGeom>
        </p:spPr>
      </p:pic>
      <p:sp>
        <p:nvSpPr>
          <p:cNvPr id="13" name="矩形 12"/>
          <p:cNvSpPr>
            <a:spLocks noChangeAspect="1"/>
          </p:cNvSpPr>
          <p:nvPr/>
        </p:nvSpPr>
        <p:spPr bwMode="auto">
          <a:xfrm>
            <a:off x="10873758" y="302166"/>
            <a:ext cx="1134614" cy="343391"/>
          </a:xfrm>
          <a:prstGeom prst="rect">
            <a:avLst/>
          </a:prstGeom>
          <a:noFill/>
          <a:ln w="9525" cap="flat" cmpd="sng" algn="ctr">
            <a:solidFill>
              <a:schemeClr val="bg1"/>
            </a:solidFill>
            <a:prstDash val="solid"/>
            <a:round/>
            <a:headEnd type="none" w="med" len="med"/>
            <a:tailEnd type="none" w="med" len="med"/>
          </a:ln>
          <a:effectLst>
            <a:outerShdw dist="17961" dir="2700000" algn="ctr" rotWithShape="0">
              <a:schemeClr val="tx1">
                <a:gamma/>
                <a:shade val="60000"/>
                <a:invGamma/>
              </a:schemeClr>
            </a:outerShdw>
          </a:effectLst>
        </p:spPr>
        <p:txBody>
          <a:bodyPr lIns="91422" tIns="45711" rIns="91422" bIns="45711"/>
          <a:lstStyle/>
          <a:p>
            <a:pPr algn="ctr">
              <a:defRPr/>
            </a:pPr>
            <a:r>
              <a:rPr lang="zh-CN" altLang="en-US" b="0" dirty="0">
                <a:solidFill>
                  <a:schemeClr val="bg1"/>
                </a:solidFill>
                <a:effectLst>
                  <a:outerShdw blurRad="38100" dist="38100" dir="2700000" algn="tl">
                    <a:srgbClr val="000000">
                      <a:alpha val="43137"/>
                    </a:srgbClr>
                  </a:outerShdw>
                </a:effectLst>
                <a:latin typeface="微软雅黑" panose="020B0503020204020204" pitchFamily="34" charset="-122"/>
              </a:rPr>
              <a:t>等级：</a:t>
            </a:r>
            <a:r>
              <a:rPr lang="en-US" altLang="zh-CN" dirty="0">
                <a:solidFill>
                  <a:schemeClr val="bg1"/>
                </a:solidFill>
                <a:effectLst>
                  <a:outerShdw blurRad="38100" dist="38100" dir="2700000" algn="tl">
                    <a:srgbClr val="000000">
                      <a:alpha val="43137"/>
                    </a:srgbClr>
                  </a:outerShdw>
                </a:effectLst>
                <a:latin typeface="微软雅黑" panose="020B0503020204020204" pitchFamily="34" charset="-122"/>
              </a:rPr>
              <a:t>D</a:t>
            </a:r>
            <a:endParaRPr lang="zh-CN" altLang="en-US" b="0" dirty="0">
              <a:solidFill>
                <a:schemeClr val="bg1"/>
              </a:solidFill>
              <a:effectLst>
                <a:outerShdw blurRad="38100" dist="38100" dir="2700000" algn="tl">
                  <a:srgbClr val="000000">
                    <a:alpha val="43137"/>
                  </a:srgbClr>
                </a:outerShdw>
              </a:effectLst>
              <a:latin typeface="微软雅黑" panose="020B0503020204020204" pitchFamily="34" charset="-122"/>
            </a:endParaRPr>
          </a:p>
        </p:txBody>
      </p:sp>
    </p:spTree>
    <p:extLst>
      <p:ext uri="{BB962C8B-B14F-4D97-AF65-F5344CB8AC3E}">
        <p14:creationId xmlns:p14="http://schemas.microsoft.com/office/powerpoint/2010/main" val="29498228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直接连接符 7">
            <a:extLst>
              <a:ext uri="{FF2B5EF4-FFF2-40B4-BE49-F238E27FC236}">
                <a16:creationId xmlns:a16="http://schemas.microsoft.com/office/drawing/2014/main" id="{4A39AB44-60D9-48C8-A5B7-F0BDDB08EFD9}"/>
              </a:ext>
            </a:extLst>
          </p:cNvPr>
          <p:cNvCxnSpPr/>
          <p:nvPr/>
        </p:nvCxnSpPr>
        <p:spPr>
          <a:xfrm>
            <a:off x="0" y="2473123"/>
            <a:ext cx="12192000" cy="0"/>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grpSp>
        <p:nvGrpSpPr>
          <p:cNvPr id="47" name="组合 46">
            <a:extLst>
              <a:ext uri="{FF2B5EF4-FFF2-40B4-BE49-F238E27FC236}">
                <a16:creationId xmlns:a16="http://schemas.microsoft.com/office/drawing/2014/main" id="{3397E659-397E-4FC7-AAAA-51CFC84C3FB0}"/>
              </a:ext>
            </a:extLst>
          </p:cNvPr>
          <p:cNvGrpSpPr/>
          <p:nvPr/>
        </p:nvGrpSpPr>
        <p:grpSpPr>
          <a:xfrm>
            <a:off x="0" y="0"/>
            <a:ext cx="12192000" cy="2662177"/>
            <a:chOff x="0" y="0"/>
            <a:chExt cx="12192000" cy="2662177"/>
          </a:xfrm>
        </p:grpSpPr>
        <p:sp>
          <p:nvSpPr>
            <p:cNvPr id="2" name="矩形 1">
              <a:extLst>
                <a:ext uri="{FF2B5EF4-FFF2-40B4-BE49-F238E27FC236}">
                  <a16:creationId xmlns:a16="http://schemas.microsoft.com/office/drawing/2014/main" id="{B27039C4-9C56-4E1C-A906-CE7B02F2A0D7}"/>
                </a:ext>
              </a:extLst>
            </p:cNvPr>
            <p:cNvSpPr/>
            <p:nvPr/>
          </p:nvSpPr>
          <p:spPr>
            <a:xfrm>
              <a:off x="0" y="0"/>
              <a:ext cx="12192000" cy="2662177"/>
            </a:xfrm>
            <a:prstGeom prst="rect">
              <a:avLst/>
            </a:prstGeom>
            <a:solidFill>
              <a:srgbClr val="CE45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a:extLst>
                <a:ext uri="{FF2B5EF4-FFF2-40B4-BE49-F238E27FC236}">
                  <a16:creationId xmlns:a16="http://schemas.microsoft.com/office/drawing/2014/main" id="{98C9D950-747C-4068-A60B-574F4BC4C58C}"/>
                </a:ext>
              </a:extLst>
            </p:cNvPr>
            <p:cNvCxnSpPr/>
            <p:nvPr/>
          </p:nvCxnSpPr>
          <p:spPr>
            <a:xfrm>
              <a:off x="0" y="428263"/>
              <a:ext cx="12192000" cy="0"/>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A36937F1-9401-47CF-A16D-271070CE1D7C}"/>
                </a:ext>
              </a:extLst>
            </p:cNvPr>
            <p:cNvCxnSpPr/>
            <p:nvPr/>
          </p:nvCxnSpPr>
          <p:spPr>
            <a:xfrm>
              <a:off x="0" y="939478"/>
              <a:ext cx="12192000" cy="0"/>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DBEA89E6-C1A1-4F0E-8F32-E7F2C7A7A1E7}"/>
                </a:ext>
              </a:extLst>
            </p:cNvPr>
            <p:cNvCxnSpPr/>
            <p:nvPr/>
          </p:nvCxnSpPr>
          <p:spPr>
            <a:xfrm>
              <a:off x="0" y="1450693"/>
              <a:ext cx="12192000" cy="0"/>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803C5655-F6BD-4E81-945D-EED5AF217AE1}"/>
                </a:ext>
              </a:extLst>
            </p:cNvPr>
            <p:cNvCxnSpPr/>
            <p:nvPr/>
          </p:nvCxnSpPr>
          <p:spPr>
            <a:xfrm>
              <a:off x="0" y="1961908"/>
              <a:ext cx="12192000" cy="0"/>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70577A33-0AAF-4533-A827-A1AFB33C56F3}"/>
                </a:ext>
              </a:extLst>
            </p:cNvPr>
            <p:cNvCxnSpPr/>
            <p:nvPr/>
          </p:nvCxnSpPr>
          <p:spPr>
            <a:xfrm>
              <a:off x="590309"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93B27995-8ADB-4A9D-91D4-4D3CC57FE088}"/>
                </a:ext>
              </a:extLst>
            </p:cNvPr>
            <p:cNvCxnSpPr/>
            <p:nvPr/>
          </p:nvCxnSpPr>
          <p:spPr>
            <a:xfrm>
              <a:off x="1170972"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B30E8408-7E2A-4444-B33A-90D9281C1A54}"/>
                </a:ext>
              </a:extLst>
            </p:cNvPr>
            <p:cNvCxnSpPr/>
            <p:nvPr/>
          </p:nvCxnSpPr>
          <p:spPr>
            <a:xfrm>
              <a:off x="1751635"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3D524D02-7C47-436D-9566-3E4807453FB4}"/>
                </a:ext>
              </a:extLst>
            </p:cNvPr>
            <p:cNvCxnSpPr/>
            <p:nvPr/>
          </p:nvCxnSpPr>
          <p:spPr>
            <a:xfrm>
              <a:off x="2332298"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2BE4BF61-D389-478A-B15B-56E9E501C430}"/>
                </a:ext>
              </a:extLst>
            </p:cNvPr>
            <p:cNvCxnSpPr/>
            <p:nvPr/>
          </p:nvCxnSpPr>
          <p:spPr>
            <a:xfrm>
              <a:off x="2912961"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00ABDC7C-AD04-43FB-A4FB-EF534DF13CD0}"/>
                </a:ext>
              </a:extLst>
            </p:cNvPr>
            <p:cNvCxnSpPr/>
            <p:nvPr/>
          </p:nvCxnSpPr>
          <p:spPr>
            <a:xfrm>
              <a:off x="3493624"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EE07B836-6DE9-4695-89EF-EBB9A5C0A81E}"/>
                </a:ext>
              </a:extLst>
            </p:cNvPr>
            <p:cNvCxnSpPr/>
            <p:nvPr/>
          </p:nvCxnSpPr>
          <p:spPr>
            <a:xfrm>
              <a:off x="4074287"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BEDB4141-8C96-40FF-9441-A1ACD8015E8B}"/>
                </a:ext>
              </a:extLst>
            </p:cNvPr>
            <p:cNvCxnSpPr/>
            <p:nvPr/>
          </p:nvCxnSpPr>
          <p:spPr>
            <a:xfrm>
              <a:off x="4654950"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AE89DE8C-15ED-4916-BCBC-1178E94C9A7E}"/>
                </a:ext>
              </a:extLst>
            </p:cNvPr>
            <p:cNvCxnSpPr/>
            <p:nvPr/>
          </p:nvCxnSpPr>
          <p:spPr>
            <a:xfrm>
              <a:off x="5235613"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9A51793E-FE1A-4DE7-8257-47852B2F927C}"/>
                </a:ext>
              </a:extLst>
            </p:cNvPr>
            <p:cNvCxnSpPr/>
            <p:nvPr/>
          </p:nvCxnSpPr>
          <p:spPr>
            <a:xfrm>
              <a:off x="5816276"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F8AC1399-0E8F-4B68-95E2-6384664DF502}"/>
                </a:ext>
              </a:extLst>
            </p:cNvPr>
            <p:cNvCxnSpPr/>
            <p:nvPr/>
          </p:nvCxnSpPr>
          <p:spPr>
            <a:xfrm>
              <a:off x="6396939"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7AA5D9F1-251A-4361-AAF3-18825228F111}"/>
                </a:ext>
              </a:extLst>
            </p:cNvPr>
            <p:cNvCxnSpPr/>
            <p:nvPr/>
          </p:nvCxnSpPr>
          <p:spPr>
            <a:xfrm>
              <a:off x="6977602"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BEF12196-2935-492B-81E1-923FE42D546D}"/>
                </a:ext>
              </a:extLst>
            </p:cNvPr>
            <p:cNvCxnSpPr/>
            <p:nvPr/>
          </p:nvCxnSpPr>
          <p:spPr>
            <a:xfrm>
              <a:off x="7558265"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D81C1085-7136-40D9-A5CD-1014C1706892}"/>
                </a:ext>
              </a:extLst>
            </p:cNvPr>
            <p:cNvCxnSpPr/>
            <p:nvPr/>
          </p:nvCxnSpPr>
          <p:spPr>
            <a:xfrm>
              <a:off x="8138928"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BF4818DD-60D1-4DA3-AA9D-10837BFC76C7}"/>
                </a:ext>
              </a:extLst>
            </p:cNvPr>
            <p:cNvCxnSpPr/>
            <p:nvPr/>
          </p:nvCxnSpPr>
          <p:spPr>
            <a:xfrm>
              <a:off x="8719591"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D4CCB666-5768-4161-9693-B9754E8AD73A}"/>
                </a:ext>
              </a:extLst>
            </p:cNvPr>
            <p:cNvCxnSpPr/>
            <p:nvPr/>
          </p:nvCxnSpPr>
          <p:spPr>
            <a:xfrm>
              <a:off x="9300254"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AD754544-5B4D-40D2-B026-2DF2D8F1E40B}"/>
                </a:ext>
              </a:extLst>
            </p:cNvPr>
            <p:cNvCxnSpPr/>
            <p:nvPr/>
          </p:nvCxnSpPr>
          <p:spPr>
            <a:xfrm>
              <a:off x="9880917"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C9F0A7B9-4B6E-42D4-BAB7-6F2992D023AB}"/>
                </a:ext>
              </a:extLst>
            </p:cNvPr>
            <p:cNvCxnSpPr/>
            <p:nvPr/>
          </p:nvCxnSpPr>
          <p:spPr>
            <a:xfrm>
              <a:off x="10461580"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9748A0F5-6236-4D75-AEBA-5069982D8222}"/>
                </a:ext>
              </a:extLst>
            </p:cNvPr>
            <p:cNvCxnSpPr/>
            <p:nvPr/>
          </p:nvCxnSpPr>
          <p:spPr>
            <a:xfrm>
              <a:off x="11042243"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9A7FB5F7-9A3D-4445-89B6-CF122FE22F09}"/>
                </a:ext>
              </a:extLst>
            </p:cNvPr>
            <p:cNvCxnSpPr/>
            <p:nvPr/>
          </p:nvCxnSpPr>
          <p:spPr>
            <a:xfrm>
              <a:off x="11622906"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grpSp>
      <p:sp>
        <p:nvSpPr>
          <p:cNvPr id="30" name="矩形 29">
            <a:extLst>
              <a:ext uri="{FF2B5EF4-FFF2-40B4-BE49-F238E27FC236}">
                <a16:creationId xmlns:a16="http://schemas.microsoft.com/office/drawing/2014/main" id="{500B2D42-D268-4D31-8650-BB295843F077}"/>
              </a:ext>
            </a:extLst>
          </p:cNvPr>
          <p:cNvSpPr/>
          <p:nvPr/>
        </p:nvSpPr>
        <p:spPr>
          <a:xfrm>
            <a:off x="0" y="1961909"/>
            <a:ext cx="12192000" cy="4896092"/>
          </a:xfrm>
          <a:prstGeom prst="rect">
            <a:avLst/>
          </a:prstGeom>
          <a:solidFill>
            <a:srgbClr val="4D3F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a:extLst>
              <a:ext uri="{FF2B5EF4-FFF2-40B4-BE49-F238E27FC236}">
                <a16:creationId xmlns:a16="http://schemas.microsoft.com/office/drawing/2014/main" id="{F93C365A-15C7-4C95-BFB4-2DA083E38C0A}"/>
              </a:ext>
            </a:extLst>
          </p:cNvPr>
          <p:cNvSpPr/>
          <p:nvPr/>
        </p:nvSpPr>
        <p:spPr>
          <a:xfrm>
            <a:off x="3669175" y="1180618"/>
            <a:ext cx="5150711" cy="1909822"/>
          </a:xfrm>
          <a:prstGeom prst="rect">
            <a:avLst/>
          </a:prstGeom>
          <a:solidFill>
            <a:srgbClr val="4D3F82"/>
          </a:solidFill>
          <a:ln>
            <a:noFill/>
          </a:ln>
          <a:effectLst>
            <a:outerShdw blurRad="50800" dist="127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spc="600" dirty="0">
                <a:solidFill>
                  <a:srgbClr val="E9E4E2"/>
                </a:solidFill>
                <a:latin typeface="Bauhaus 93" panose="04030905020B02020C02" pitchFamily="82" charset="0"/>
              </a:rPr>
              <a:t>目录</a:t>
            </a:r>
          </a:p>
        </p:txBody>
      </p:sp>
      <p:sp>
        <p:nvSpPr>
          <p:cNvPr id="32" name="椭圆 31">
            <a:extLst>
              <a:ext uri="{FF2B5EF4-FFF2-40B4-BE49-F238E27FC236}">
                <a16:creationId xmlns:a16="http://schemas.microsoft.com/office/drawing/2014/main" id="{6A45C633-403D-4C33-9E18-297755E6D639}"/>
              </a:ext>
            </a:extLst>
          </p:cNvPr>
          <p:cNvSpPr/>
          <p:nvPr/>
        </p:nvSpPr>
        <p:spPr>
          <a:xfrm>
            <a:off x="297061" y="1091877"/>
            <a:ext cx="478420" cy="478420"/>
          </a:xfrm>
          <a:prstGeom prst="ellipse">
            <a:avLst/>
          </a:prstGeom>
          <a:solidFill>
            <a:srgbClr val="4D3F82"/>
          </a:solidFill>
          <a:ln>
            <a:noFill/>
          </a:ln>
          <a:effectLst>
            <a:outerShdw blurRad="50800" dist="1016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a:extLst>
              <a:ext uri="{FF2B5EF4-FFF2-40B4-BE49-F238E27FC236}">
                <a16:creationId xmlns:a16="http://schemas.microsoft.com/office/drawing/2014/main" id="{FEC10CAF-80ED-4A63-BFD4-0445C39BE323}"/>
              </a:ext>
            </a:extLst>
          </p:cNvPr>
          <p:cNvSpPr/>
          <p:nvPr/>
        </p:nvSpPr>
        <p:spPr>
          <a:xfrm rot="2557811">
            <a:off x="11516803" y="6190528"/>
            <a:ext cx="478420" cy="478420"/>
          </a:xfrm>
          <a:prstGeom prst="ellipse">
            <a:avLst/>
          </a:prstGeom>
          <a:solidFill>
            <a:srgbClr val="CE4569"/>
          </a:solidFill>
          <a:ln>
            <a:noFill/>
          </a:ln>
          <a:effectLst>
            <a:outerShdw blurRad="50800" dist="1016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a:extLst>
              <a:ext uri="{FF2B5EF4-FFF2-40B4-BE49-F238E27FC236}">
                <a16:creationId xmlns:a16="http://schemas.microsoft.com/office/drawing/2014/main" id="{2F7B7820-183C-43D3-8567-DFD5519A76D0}"/>
              </a:ext>
            </a:extLst>
          </p:cNvPr>
          <p:cNvSpPr txBox="1"/>
          <p:nvPr/>
        </p:nvSpPr>
        <p:spPr>
          <a:xfrm>
            <a:off x="1170972" y="3429000"/>
            <a:ext cx="2322651" cy="461665"/>
          </a:xfrm>
          <a:prstGeom prst="rect">
            <a:avLst/>
          </a:prstGeom>
          <a:noFill/>
        </p:spPr>
        <p:txBody>
          <a:bodyPr wrap="square" rtlCol="0">
            <a:spAutoFit/>
          </a:bodyPr>
          <a:lstStyle/>
          <a:p>
            <a:r>
              <a:rPr lang="en-US" altLang="zh-CN" sz="2400" b="1">
                <a:solidFill>
                  <a:schemeClr val="bg1"/>
                </a:solidFill>
                <a:latin typeface="Century Gothic" panose="020B0502020202020204" pitchFamily="34" charset="0"/>
              </a:rPr>
              <a:t>PART  01</a:t>
            </a:r>
            <a:endParaRPr lang="zh-CN" altLang="en-US" sz="2400" b="1">
              <a:solidFill>
                <a:schemeClr val="bg1"/>
              </a:solidFill>
              <a:latin typeface="Century Gothic" panose="020B0502020202020204" pitchFamily="34" charset="0"/>
            </a:endParaRPr>
          </a:p>
        </p:txBody>
      </p:sp>
      <p:sp>
        <p:nvSpPr>
          <p:cNvPr id="35" name="矩形 34" descr="e7d195523061f1c021b92b3d25e54ab5e788c0576048880950C3AFFA1066A7153250F1349197BA8C5246BA9D557EC0274B8DA272D2431748978789E76D2CD7D1F11E7447C1D163F5D9CA1CD35DC7B6F0FFA3D66467BAE7C14FE869A837C1E39FB23BF3059C959301C16FA617AB6F15A687D6E703783DD4D83CCE8CB0A27A0D15A4A6B80C6EB515DF9C8660C3E3F8A3AC">
            <a:extLst>
              <a:ext uri="{FF2B5EF4-FFF2-40B4-BE49-F238E27FC236}">
                <a16:creationId xmlns:a16="http://schemas.microsoft.com/office/drawing/2014/main" id="{DC091622-8212-493B-931A-C99823C4B7F8}"/>
              </a:ext>
            </a:extLst>
          </p:cNvPr>
          <p:cNvSpPr/>
          <p:nvPr/>
        </p:nvSpPr>
        <p:spPr>
          <a:xfrm>
            <a:off x="1170972" y="3857263"/>
            <a:ext cx="3086580" cy="523220"/>
          </a:xfrm>
          <a:prstGeom prst="rect">
            <a:avLst/>
          </a:prstGeom>
        </p:spPr>
        <p:txBody>
          <a:bodyPr wrap="square">
            <a:spAutoFit/>
          </a:bodyPr>
          <a:lstStyle/>
          <a:p>
            <a:r>
              <a:rPr lang="zh-CN" altLang="en-US" sz="2800" b="1" dirty="0">
                <a:solidFill>
                  <a:schemeClr val="bg1"/>
                </a:solidFill>
                <a:cs typeface="+mn-ea"/>
                <a:sym typeface="+mn-lt"/>
              </a:rPr>
              <a:t>认识</a:t>
            </a:r>
            <a:r>
              <a:rPr lang="en-US" altLang="zh-CN" sz="2800" b="1" dirty="0">
                <a:solidFill>
                  <a:schemeClr val="bg1"/>
                </a:solidFill>
                <a:cs typeface="+mn-ea"/>
                <a:sym typeface="+mn-lt"/>
              </a:rPr>
              <a:t>NLP</a:t>
            </a:r>
            <a:r>
              <a:rPr lang="zh-CN" altLang="en-US" sz="2800" b="1" dirty="0">
                <a:solidFill>
                  <a:schemeClr val="bg1"/>
                </a:solidFill>
                <a:cs typeface="+mn-ea"/>
                <a:sym typeface="+mn-lt"/>
              </a:rPr>
              <a:t>芝麻街</a:t>
            </a:r>
          </a:p>
        </p:txBody>
      </p:sp>
      <p:sp>
        <p:nvSpPr>
          <p:cNvPr id="38" name="文本框 37">
            <a:extLst>
              <a:ext uri="{FF2B5EF4-FFF2-40B4-BE49-F238E27FC236}">
                <a16:creationId xmlns:a16="http://schemas.microsoft.com/office/drawing/2014/main" id="{15EAFC2F-4114-4152-9AB1-6F818B03B74A}"/>
              </a:ext>
            </a:extLst>
          </p:cNvPr>
          <p:cNvSpPr txBox="1"/>
          <p:nvPr/>
        </p:nvSpPr>
        <p:spPr>
          <a:xfrm>
            <a:off x="1170972" y="5011466"/>
            <a:ext cx="2322651" cy="461665"/>
          </a:xfrm>
          <a:prstGeom prst="rect">
            <a:avLst/>
          </a:prstGeom>
          <a:noFill/>
        </p:spPr>
        <p:txBody>
          <a:bodyPr wrap="square" rtlCol="0">
            <a:spAutoFit/>
          </a:bodyPr>
          <a:lstStyle/>
          <a:p>
            <a:r>
              <a:rPr lang="en-US" altLang="zh-CN" sz="2400" b="1">
                <a:solidFill>
                  <a:schemeClr val="bg1"/>
                </a:solidFill>
                <a:latin typeface="Century Gothic" panose="020B0502020202020204" pitchFamily="34" charset="0"/>
              </a:rPr>
              <a:t>PART  03</a:t>
            </a:r>
            <a:endParaRPr lang="zh-CN" altLang="en-US" sz="2400" b="1">
              <a:solidFill>
                <a:schemeClr val="bg1"/>
              </a:solidFill>
              <a:latin typeface="Century Gothic" panose="020B0502020202020204" pitchFamily="34" charset="0"/>
            </a:endParaRPr>
          </a:p>
        </p:txBody>
      </p:sp>
      <p:sp>
        <p:nvSpPr>
          <p:cNvPr id="40" name="文本框 39">
            <a:extLst>
              <a:ext uri="{FF2B5EF4-FFF2-40B4-BE49-F238E27FC236}">
                <a16:creationId xmlns:a16="http://schemas.microsoft.com/office/drawing/2014/main" id="{4DE2380E-5A53-41BD-9BEF-8C31DCDBFFE6}"/>
              </a:ext>
            </a:extLst>
          </p:cNvPr>
          <p:cNvSpPr txBox="1"/>
          <p:nvPr/>
        </p:nvSpPr>
        <p:spPr>
          <a:xfrm>
            <a:off x="7961449" y="3429000"/>
            <a:ext cx="2322651" cy="461665"/>
          </a:xfrm>
          <a:prstGeom prst="rect">
            <a:avLst/>
          </a:prstGeom>
          <a:noFill/>
        </p:spPr>
        <p:txBody>
          <a:bodyPr wrap="square" rtlCol="0">
            <a:spAutoFit/>
          </a:bodyPr>
          <a:lstStyle/>
          <a:p>
            <a:r>
              <a:rPr lang="en-US" altLang="zh-CN" sz="2400" b="1">
                <a:solidFill>
                  <a:schemeClr val="bg1"/>
                </a:solidFill>
                <a:latin typeface="Century Gothic" panose="020B0502020202020204" pitchFamily="34" charset="0"/>
              </a:rPr>
              <a:t>PART  02</a:t>
            </a:r>
            <a:endParaRPr lang="zh-CN" altLang="en-US" sz="2400" b="1">
              <a:solidFill>
                <a:schemeClr val="bg1"/>
              </a:solidFill>
              <a:latin typeface="Century Gothic" panose="020B0502020202020204" pitchFamily="34" charset="0"/>
            </a:endParaRPr>
          </a:p>
        </p:txBody>
      </p:sp>
      <p:sp>
        <p:nvSpPr>
          <p:cNvPr id="42" name="文本框 41">
            <a:extLst>
              <a:ext uri="{FF2B5EF4-FFF2-40B4-BE49-F238E27FC236}">
                <a16:creationId xmlns:a16="http://schemas.microsoft.com/office/drawing/2014/main" id="{97F27641-CD39-41FA-BDE5-FD03AE991DAE}"/>
              </a:ext>
            </a:extLst>
          </p:cNvPr>
          <p:cNvSpPr txBox="1"/>
          <p:nvPr/>
        </p:nvSpPr>
        <p:spPr>
          <a:xfrm>
            <a:off x="7961449" y="5011466"/>
            <a:ext cx="2322651" cy="461665"/>
          </a:xfrm>
          <a:prstGeom prst="rect">
            <a:avLst/>
          </a:prstGeom>
          <a:noFill/>
        </p:spPr>
        <p:txBody>
          <a:bodyPr wrap="square" rtlCol="0">
            <a:spAutoFit/>
          </a:bodyPr>
          <a:lstStyle/>
          <a:p>
            <a:r>
              <a:rPr lang="en-US" altLang="zh-CN" sz="2400" b="1">
                <a:solidFill>
                  <a:schemeClr val="bg1"/>
                </a:solidFill>
                <a:latin typeface="Century Gothic" panose="020B0502020202020204" pitchFamily="34" charset="0"/>
              </a:rPr>
              <a:t>PART  04</a:t>
            </a:r>
            <a:endParaRPr lang="zh-CN" altLang="en-US" sz="2400" b="1">
              <a:solidFill>
                <a:schemeClr val="bg1"/>
              </a:solidFill>
              <a:latin typeface="Century Gothic" panose="020B0502020202020204" pitchFamily="34" charset="0"/>
            </a:endParaRPr>
          </a:p>
        </p:txBody>
      </p:sp>
      <p:sp>
        <p:nvSpPr>
          <p:cNvPr id="41" name="矩形 40" descr="e7d195523061f1c021b92b3d25e54ab5e788c0576048880950C3AFFA1066A7153250F1349197BA8C5246BA9D557EC0274B8DA272D2431748978789E76D2CD7D1F11E7447C1D163F5D9CA1CD35DC7B6F0FFA3D66467BAE7C14FE869A837C1E39FB23BF3059C959301C16FA617AB6F15A687D6E703783DD4D83CCE8CB0A27A0D15A4A6B80C6EB515DF9C8660C3E3F8A3AC">
            <a:extLst>
              <a:ext uri="{FF2B5EF4-FFF2-40B4-BE49-F238E27FC236}">
                <a16:creationId xmlns:a16="http://schemas.microsoft.com/office/drawing/2014/main" id="{DC091622-8212-493B-931A-C99823C4B7F8}"/>
              </a:ext>
            </a:extLst>
          </p:cNvPr>
          <p:cNvSpPr/>
          <p:nvPr/>
        </p:nvSpPr>
        <p:spPr>
          <a:xfrm>
            <a:off x="7963386" y="3890665"/>
            <a:ext cx="3086580" cy="523220"/>
          </a:xfrm>
          <a:prstGeom prst="rect">
            <a:avLst/>
          </a:prstGeom>
        </p:spPr>
        <p:txBody>
          <a:bodyPr wrap="square">
            <a:spAutoFit/>
          </a:bodyPr>
          <a:lstStyle/>
          <a:p>
            <a:r>
              <a:rPr lang="en-US" altLang="zh-CN" sz="2800" b="1" dirty="0">
                <a:solidFill>
                  <a:schemeClr val="bg1"/>
                </a:solidFill>
                <a:cs typeface="+mn-ea"/>
                <a:sym typeface="+mn-lt"/>
              </a:rPr>
              <a:t>Big Bird </a:t>
            </a:r>
            <a:r>
              <a:rPr lang="zh-CN" altLang="en-US" sz="2800" b="1" dirty="0">
                <a:solidFill>
                  <a:schemeClr val="bg1"/>
                </a:solidFill>
                <a:cs typeface="+mn-ea"/>
                <a:sym typeface="+mn-lt"/>
              </a:rPr>
              <a:t>简介</a:t>
            </a:r>
          </a:p>
        </p:txBody>
      </p:sp>
      <p:sp>
        <p:nvSpPr>
          <p:cNvPr id="43" name="矩形 42" descr="e7d195523061f1c021b92b3d25e54ab5e788c0576048880950C3AFFA1066A7153250F1349197BA8C5246BA9D557EC0274B8DA272D2431748978789E76D2CD7D1F11E7447C1D163F5D9CA1CD35DC7B6F0FFA3D66467BAE7C14FE869A837C1E39FB23BF3059C959301C16FA617AB6F15A687D6E703783DD4D83CCE8CB0A27A0D15A4A6B80C6EB515DF9C8660C3E3F8A3AC">
            <a:extLst>
              <a:ext uri="{FF2B5EF4-FFF2-40B4-BE49-F238E27FC236}">
                <a16:creationId xmlns:a16="http://schemas.microsoft.com/office/drawing/2014/main" id="{DC091622-8212-493B-931A-C99823C4B7F8}"/>
              </a:ext>
            </a:extLst>
          </p:cNvPr>
          <p:cNvSpPr/>
          <p:nvPr/>
        </p:nvSpPr>
        <p:spPr>
          <a:xfrm>
            <a:off x="1170972" y="5474606"/>
            <a:ext cx="3086580" cy="523220"/>
          </a:xfrm>
          <a:prstGeom prst="rect">
            <a:avLst/>
          </a:prstGeom>
        </p:spPr>
        <p:txBody>
          <a:bodyPr wrap="square">
            <a:spAutoFit/>
          </a:bodyPr>
          <a:lstStyle/>
          <a:p>
            <a:r>
              <a:rPr lang="zh-CN" altLang="en-US" sz="2800" b="1" dirty="0">
                <a:solidFill>
                  <a:schemeClr val="bg1"/>
                </a:solidFill>
                <a:cs typeface="+mn-ea"/>
                <a:sym typeface="+mn-lt"/>
              </a:rPr>
              <a:t>实验结果</a:t>
            </a:r>
          </a:p>
        </p:txBody>
      </p:sp>
      <p:sp>
        <p:nvSpPr>
          <p:cNvPr id="48" name="矩形 47" descr="e7d195523061f1c021b92b3d25e54ab5e788c0576048880950C3AFFA1066A7153250F1349197BA8C5246BA9D557EC0274B8DA272D2431748978789E76D2CD7D1F11E7447C1D163F5D9CA1CD35DC7B6F0FFA3D66467BAE7C14FE869A837C1E39FB23BF3059C959301C16FA617AB6F15A687D6E703783DD4D83CCE8CB0A27A0D15A4A6B80C6EB515DF9C8660C3E3F8A3AC">
            <a:extLst>
              <a:ext uri="{FF2B5EF4-FFF2-40B4-BE49-F238E27FC236}">
                <a16:creationId xmlns:a16="http://schemas.microsoft.com/office/drawing/2014/main" id="{DC091622-8212-493B-931A-C99823C4B7F8}"/>
              </a:ext>
            </a:extLst>
          </p:cNvPr>
          <p:cNvSpPr/>
          <p:nvPr/>
        </p:nvSpPr>
        <p:spPr>
          <a:xfrm>
            <a:off x="7944095" y="5473131"/>
            <a:ext cx="3086580" cy="523220"/>
          </a:xfrm>
          <a:prstGeom prst="rect">
            <a:avLst/>
          </a:prstGeom>
        </p:spPr>
        <p:txBody>
          <a:bodyPr wrap="square">
            <a:spAutoFit/>
          </a:bodyPr>
          <a:lstStyle/>
          <a:p>
            <a:r>
              <a:rPr lang="zh-CN" altLang="en-US" sz="2800" b="1" dirty="0">
                <a:solidFill>
                  <a:schemeClr val="bg1"/>
                </a:solidFill>
                <a:cs typeface="+mn-ea"/>
                <a:sym typeface="+mn-lt"/>
              </a:rPr>
              <a:t>总结</a:t>
            </a:r>
          </a:p>
        </p:txBody>
      </p:sp>
    </p:spTree>
    <p:extLst>
      <p:ext uri="{BB962C8B-B14F-4D97-AF65-F5344CB8AC3E}">
        <p14:creationId xmlns:p14="http://schemas.microsoft.com/office/powerpoint/2010/main" val="353971350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randombar(horizontal)">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1000"/>
                                        <p:tgtEl>
                                          <p:spTgt spid="34"/>
                                        </p:tgtEl>
                                      </p:cBhvr>
                                    </p:animEffect>
                                    <p:anim calcmode="lin" valueType="num">
                                      <p:cBhvr>
                                        <p:cTn id="13" dur="1000" fill="hold"/>
                                        <p:tgtEl>
                                          <p:spTgt spid="34"/>
                                        </p:tgtEl>
                                        <p:attrNameLst>
                                          <p:attrName>ppt_x</p:attrName>
                                        </p:attrNameLst>
                                      </p:cBhvr>
                                      <p:tavLst>
                                        <p:tav tm="0">
                                          <p:val>
                                            <p:strVal val="#ppt_x"/>
                                          </p:val>
                                        </p:tav>
                                        <p:tav tm="100000">
                                          <p:val>
                                            <p:strVal val="#ppt_x"/>
                                          </p:val>
                                        </p:tav>
                                      </p:tavLst>
                                    </p:anim>
                                    <p:anim calcmode="lin" valueType="num">
                                      <p:cBhvr>
                                        <p:cTn id="14" dur="1000" fill="hold"/>
                                        <p:tgtEl>
                                          <p:spTgt spid="3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0"/>
                                        </p:tgtEl>
                                        <p:attrNameLst>
                                          <p:attrName>style.visibility</p:attrName>
                                        </p:attrNameLst>
                                      </p:cBhvr>
                                      <p:to>
                                        <p:strVal val="visible"/>
                                      </p:to>
                                    </p:set>
                                    <p:animEffect transition="in" filter="fade">
                                      <p:cBhvr>
                                        <p:cTn id="17" dur="1000"/>
                                        <p:tgtEl>
                                          <p:spTgt spid="40"/>
                                        </p:tgtEl>
                                      </p:cBhvr>
                                    </p:animEffect>
                                    <p:anim calcmode="lin" valueType="num">
                                      <p:cBhvr>
                                        <p:cTn id="18" dur="1000" fill="hold"/>
                                        <p:tgtEl>
                                          <p:spTgt spid="40"/>
                                        </p:tgtEl>
                                        <p:attrNameLst>
                                          <p:attrName>ppt_x</p:attrName>
                                        </p:attrNameLst>
                                      </p:cBhvr>
                                      <p:tavLst>
                                        <p:tav tm="0">
                                          <p:val>
                                            <p:strVal val="#ppt_x"/>
                                          </p:val>
                                        </p:tav>
                                        <p:tav tm="100000">
                                          <p:val>
                                            <p:strVal val="#ppt_x"/>
                                          </p:val>
                                        </p:tav>
                                      </p:tavLst>
                                    </p:anim>
                                    <p:anim calcmode="lin" valueType="num">
                                      <p:cBhvr>
                                        <p:cTn id="19" dur="1000" fill="hold"/>
                                        <p:tgtEl>
                                          <p:spTgt spid="40"/>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42"/>
                                        </p:tgtEl>
                                        <p:attrNameLst>
                                          <p:attrName>style.visibility</p:attrName>
                                        </p:attrNameLst>
                                      </p:cBhvr>
                                      <p:to>
                                        <p:strVal val="visible"/>
                                      </p:to>
                                    </p:set>
                                    <p:animEffect transition="in" filter="fade">
                                      <p:cBhvr>
                                        <p:cTn id="22" dur="1000"/>
                                        <p:tgtEl>
                                          <p:spTgt spid="42"/>
                                        </p:tgtEl>
                                      </p:cBhvr>
                                    </p:animEffect>
                                    <p:anim calcmode="lin" valueType="num">
                                      <p:cBhvr>
                                        <p:cTn id="23" dur="1000" fill="hold"/>
                                        <p:tgtEl>
                                          <p:spTgt spid="42"/>
                                        </p:tgtEl>
                                        <p:attrNameLst>
                                          <p:attrName>ppt_x</p:attrName>
                                        </p:attrNameLst>
                                      </p:cBhvr>
                                      <p:tavLst>
                                        <p:tav tm="0">
                                          <p:val>
                                            <p:strVal val="#ppt_x"/>
                                          </p:val>
                                        </p:tav>
                                        <p:tav tm="100000">
                                          <p:val>
                                            <p:strVal val="#ppt_x"/>
                                          </p:val>
                                        </p:tav>
                                      </p:tavLst>
                                    </p:anim>
                                    <p:anim calcmode="lin" valueType="num">
                                      <p:cBhvr>
                                        <p:cTn id="24" dur="1000" fill="hold"/>
                                        <p:tgtEl>
                                          <p:spTgt spid="42"/>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8"/>
                                        </p:tgtEl>
                                        <p:attrNameLst>
                                          <p:attrName>style.visibility</p:attrName>
                                        </p:attrNameLst>
                                      </p:cBhvr>
                                      <p:to>
                                        <p:strVal val="visible"/>
                                      </p:to>
                                    </p:set>
                                    <p:animEffect transition="in" filter="fade">
                                      <p:cBhvr>
                                        <p:cTn id="27" dur="1000"/>
                                        <p:tgtEl>
                                          <p:spTgt spid="38"/>
                                        </p:tgtEl>
                                      </p:cBhvr>
                                    </p:animEffect>
                                    <p:anim calcmode="lin" valueType="num">
                                      <p:cBhvr>
                                        <p:cTn id="28" dur="1000" fill="hold"/>
                                        <p:tgtEl>
                                          <p:spTgt spid="38"/>
                                        </p:tgtEl>
                                        <p:attrNameLst>
                                          <p:attrName>ppt_x</p:attrName>
                                        </p:attrNameLst>
                                      </p:cBhvr>
                                      <p:tavLst>
                                        <p:tav tm="0">
                                          <p:val>
                                            <p:strVal val="#ppt_x"/>
                                          </p:val>
                                        </p:tav>
                                        <p:tav tm="100000">
                                          <p:val>
                                            <p:strVal val="#ppt_x"/>
                                          </p:val>
                                        </p:tav>
                                      </p:tavLst>
                                    </p:anim>
                                    <p:anim calcmode="lin" valueType="num">
                                      <p:cBhvr>
                                        <p:cTn id="29" dur="1000" fill="hold"/>
                                        <p:tgtEl>
                                          <p:spTgt spid="38"/>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fade">
                                      <p:cBhvr>
                                        <p:cTn id="32" dur="1000"/>
                                        <p:tgtEl>
                                          <p:spTgt spid="35"/>
                                        </p:tgtEl>
                                      </p:cBhvr>
                                    </p:animEffect>
                                    <p:anim calcmode="lin" valueType="num">
                                      <p:cBhvr>
                                        <p:cTn id="33" dur="1000" fill="hold"/>
                                        <p:tgtEl>
                                          <p:spTgt spid="35"/>
                                        </p:tgtEl>
                                        <p:attrNameLst>
                                          <p:attrName>ppt_x</p:attrName>
                                        </p:attrNameLst>
                                      </p:cBhvr>
                                      <p:tavLst>
                                        <p:tav tm="0">
                                          <p:val>
                                            <p:strVal val="#ppt_x"/>
                                          </p:val>
                                        </p:tav>
                                        <p:tav tm="100000">
                                          <p:val>
                                            <p:strVal val="#ppt_x"/>
                                          </p:val>
                                        </p:tav>
                                      </p:tavLst>
                                    </p:anim>
                                    <p:anim calcmode="lin" valueType="num">
                                      <p:cBhvr>
                                        <p:cTn id="34" dur="1000" fill="hold"/>
                                        <p:tgtEl>
                                          <p:spTgt spid="35"/>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41"/>
                                        </p:tgtEl>
                                        <p:attrNameLst>
                                          <p:attrName>style.visibility</p:attrName>
                                        </p:attrNameLst>
                                      </p:cBhvr>
                                      <p:to>
                                        <p:strVal val="visible"/>
                                      </p:to>
                                    </p:set>
                                    <p:animEffect transition="in" filter="fade">
                                      <p:cBhvr>
                                        <p:cTn id="37" dur="1000"/>
                                        <p:tgtEl>
                                          <p:spTgt spid="41"/>
                                        </p:tgtEl>
                                      </p:cBhvr>
                                    </p:animEffect>
                                    <p:anim calcmode="lin" valueType="num">
                                      <p:cBhvr>
                                        <p:cTn id="38" dur="1000" fill="hold"/>
                                        <p:tgtEl>
                                          <p:spTgt spid="41"/>
                                        </p:tgtEl>
                                        <p:attrNameLst>
                                          <p:attrName>ppt_x</p:attrName>
                                        </p:attrNameLst>
                                      </p:cBhvr>
                                      <p:tavLst>
                                        <p:tav tm="0">
                                          <p:val>
                                            <p:strVal val="#ppt_x"/>
                                          </p:val>
                                        </p:tav>
                                        <p:tav tm="100000">
                                          <p:val>
                                            <p:strVal val="#ppt_x"/>
                                          </p:val>
                                        </p:tav>
                                      </p:tavLst>
                                    </p:anim>
                                    <p:anim calcmode="lin" valueType="num">
                                      <p:cBhvr>
                                        <p:cTn id="39" dur="1000" fill="hold"/>
                                        <p:tgtEl>
                                          <p:spTgt spid="41"/>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43"/>
                                        </p:tgtEl>
                                        <p:attrNameLst>
                                          <p:attrName>style.visibility</p:attrName>
                                        </p:attrNameLst>
                                      </p:cBhvr>
                                      <p:to>
                                        <p:strVal val="visible"/>
                                      </p:to>
                                    </p:set>
                                    <p:animEffect transition="in" filter="fade">
                                      <p:cBhvr>
                                        <p:cTn id="42" dur="1000"/>
                                        <p:tgtEl>
                                          <p:spTgt spid="43"/>
                                        </p:tgtEl>
                                      </p:cBhvr>
                                    </p:animEffect>
                                    <p:anim calcmode="lin" valueType="num">
                                      <p:cBhvr>
                                        <p:cTn id="43" dur="1000" fill="hold"/>
                                        <p:tgtEl>
                                          <p:spTgt spid="43"/>
                                        </p:tgtEl>
                                        <p:attrNameLst>
                                          <p:attrName>ppt_x</p:attrName>
                                        </p:attrNameLst>
                                      </p:cBhvr>
                                      <p:tavLst>
                                        <p:tav tm="0">
                                          <p:val>
                                            <p:strVal val="#ppt_x"/>
                                          </p:val>
                                        </p:tav>
                                        <p:tav tm="100000">
                                          <p:val>
                                            <p:strVal val="#ppt_x"/>
                                          </p:val>
                                        </p:tav>
                                      </p:tavLst>
                                    </p:anim>
                                    <p:anim calcmode="lin" valueType="num">
                                      <p:cBhvr>
                                        <p:cTn id="44" dur="1000" fill="hold"/>
                                        <p:tgtEl>
                                          <p:spTgt spid="43"/>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48"/>
                                        </p:tgtEl>
                                        <p:attrNameLst>
                                          <p:attrName>style.visibility</p:attrName>
                                        </p:attrNameLst>
                                      </p:cBhvr>
                                      <p:to>
                                        <p:strVal val="visible"/>
                                      </p:to>
                                    </p:set>
                                    <p:animEffect transition="in" filter="fade">
                                      <p:cBhvr>
                                        <p:cTn id="47" dur="1000"/>
                                        <p:tgtEl>
                                          <p:spTgt spid="48"/>
                                        </p:tgtEl>
                                      </p:cBhvr>
                                    </p:animEffect>
                                    <p:anim calcmode="lin" valueType="num">
                                      <p:cBhvr>
                                        <p:cTn id="48" dur="1000" fill="hold"/>
                                        <p:tgtEl>
                                          <p:spTgt spid="48"/>
                                        </p:tgtEl>
                                        <p:attrNameLst>
                                          <p:attrName>ppt_x</p:attrName>
                                        </p:attrNameLst>
                                      </p:cBhvr>
                                      <p:tavLst>
                                        <p:tav tm="0">
                                          <p:val>
                                            <p:strVal val="#ppt_x"/>
                                          </p:val>
                                        </p:tav>
                                        <p:tav tm="100000">
                                          <p:val>
                                            <p:strVal val="#ppt_x"/>
                                          </p:val>
                                        </p:tav>
                                      </p:tavLst>
                                    </p:anim>
                                    <p:anim calcmode="lin" valueType="num">
                                      <p:cBhvr>
                                        <p:cTn id="49" dur="1000" fill="hold"/>
                                        <p:tgtEl>
                                          <p:spTgt spid="4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4" grpId="0"/>
      <p:bldP spid="35" grpId="0"/>
      <p:bldP spid="38" grpId="0"/>
      <p:bldP spid="40" grpId="0"/>
      <p:bldP spid="42" grpId="0"/>
      <p:bldP spid="41" grpId="0"/>
      <p:bldP spid="43" grpId="0"/>
      <p:bldP spid="4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a16="http://schemas.microsoft.com/office/drawing/2014/main" id="{55164F64-BEF1-41A1-A6DD-02DF11269F12}"/>
              </a:ext>
            </a:extLst>
          </p:cNvPr>
          <p:cNvSpPr/>
          <p:nvPr/>
        </p:nvSpPr>
        <p:spPr>
          <a:xfrm>
            <a:off x="0" y="-1"/>
            <a:ext cx="12192000" cy="6858000"/>
          </a:xfrm>
          <a:prstGeom prst="rect">
            <a:avLst/>
          </a:prstGeom>
          <a:solidFill>
            <a:srgbClr val="4D3F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a:extLst>
              <a:ext uri="{FF2B5EF4-FFF2-40B4-BE49-F238E27FC236}">
                <a16:creationId xmlns:a16="http://schemas.microsoft.com/office/drawing/2014/main" id="{E92A6508-C4C2-46DE-9B0C-E4518948436E}"/>
              </a:ext>
            </a:extLst>
          </p:cNvPr>
          <p:cNvGrpSpPr/>
          <p:nvPr/>
        </p:nvGrpSpPr>
        <p:grpSpPr>
          <a:xfrm>
            <a:off x="0" y="2097911"/>
            <a:ext cx="12192000" cy="2662177"/>
            <a:chOff x="0" y="0"/>
            <a:chExt cx="12192000" cy="2662177"/>
          </a:xfrm>
        </p:grpSpPr>
        <p:sp>
          <p:nvSpPr>
            <p:cNvPr id="3" name="矩形 2">
              <a:extLst>
                <a:ext uri="{FF2B5EF4-FFF2-40B4-BE49-F238E27FC236}">
                  <a16:creationId xmlns:a16="http://schemas.microsoft.com/office/drawing/2014/main" id="{8132A4A6-78E0-4DB7-BB5C-5BB9EA399CFB}"/>
                </a:ext>
              </a:extLst>
            </p:cNvPr>
            <p:cNvSpPr/>
            <p:nvPr/>
          </p:nvSpPr>
          <p:spPr>
            <a:xfrm>
              <a:off x="0" y="0"/>
              <a:ext cx="12192000" cy="2662177"/>
            </a:xfrm>
            <a:prstGeom prst="rect">
              <a:avLst/>
            </a:prstGeom>
            <a:solidFill>
              <a:srgbClr val="CE45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a:extLst>
                <a:ext uri="{FF2B5EF4-FFF2-40B4-BE49-F238E27FC236}">
                  <a16:creationId xmlns:a16="http://schemas.microsoft.com/office/drawing/2014/main" id="{7F2B08F7-2990-4E6D-8F1E-1B5943E1E76F}"/>
                </a:ext>
              </a:extLst>
            </p:cNvPr>
            <p:cNvCxnSpPr/>
            <p:nvPr/>
          </p:nvCxnSpPr>
          <p:spPr>
            <a:xfrm>
              <a:off x="0" y="428263"/>
              <a:ext cx="12192000" cy="0"/>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8E583180-A716-43A9-B855-9425078598B0}"/>
                </a:ext>
              </a:extLst>
            </p:cNvPr>
            <p:cNvCxnSpPr/>
            <p:nvPr/>
          </p:nvCxnSpPr>
          <p:spPr>
            <a:xfrm>
              <a:off x="0" y="939478"/>
              <a:ext cx="12192000" cy="0"/>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FDC324B6-918C-4E6F-8EFB-0278E6C3FA7C}"/>
                </a:ext>
              </a:extLst>
            </p:cNvPr>
            <p:cNvCxnSpPr/>
            <p:nvPr/>
          </p:nvCxnSpPr>
          <p:spPr>
            <a:xfrm>
              <a:off x="0" y="1450693"/>
              <a:ext cx="12192000" cy="0"/>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0EFF3A5C-D2DE-49B9-9027-C8C7C633A4DB}"/>
                </a:ext>
              </a:extLst>
            </p:cNvPr>
            <p:cNvCxnSpPr/>
            <p:nvPr/>
          </p:nvCxnSpPr>
          <p:spPr>
            <a:xfrm>
              <a:off x="0" y="1961908"/>
              <a:ext cx="12192000" cy="0"/>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61D76C6B-C0C1-41D0-881A-C1E9D8ED664C}"/>
                </a:ext>
              </a:extLst>
            </p:cNvPr>
            <p:cNvCxnSpPr/>
            <p:nvPr/>
          </p:nvCxnSpPr>
          <p:spPr>
            <a:xfrm>
              <a:off x="590309"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9A805BFF-524B-48F9-B47E-B94AB6AFB031}"/>
                </a:ext>
              </a:extLst>
            </p:cNvPr>
            <p:cNvCxnSpPr/>
            <p:nvPr/>
          </p:nvCxnSpPr>
          <p:spPr>
            <a:xfrm>
              <a:off x="1170972"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9BE2AA2F-8430-4DB9-AE3A-5FC1FC51807F}"/>
                </a:ext>
              </a:extLst>
            </p:cNvPr>
            <p:cNvCxnSpPr/>
            <p:nvPr/>
          </p:nvCxnSpPr>
          <p:spPr>
            <a:xfrm>
              <a:off x="1751635"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0ADC280E-A58D-4AB2-8545-ABD30653DE3A}"/>
                </a:ext>
              </a:extLst>
            </p:cNvPr>
            <p:cNvCxnSpPr/>
            <p:nvPr/>
          </p:nvCxnSpPr>
          <p:spPr>
            <a:xfrm>
              <a:off x="2332298"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43E2A3D7-72C6-43BE-AF7A-CD631D4FD3FF}"/>
                </a:ext>
              </a:extLst>
            </p:cNvPr>
            <p:cNvCxnSpPr/>
            <p:nvPr/>
          </p:nvCxnSpPr>
          <p:spPr>
            <a:xfrm>
              <a:off x="2912961"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416D857C-603E-46D4-9E3C-329BF93FA47F}"/>
                </a:ext>
              </a:extLst>
            </p:cNvPr>
            <p:cNvCxnSpPr/>
            <p:nvPr/>
          </p:nvCxnSpPr>
          <p:spPr>
            <a:xfrm>
              <a:off x="3493624"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448B7987-5E53-472E-B89C-7D3F40D34EAD}"/>
                </a:ext>
              </a:extLst>
            </p:cNvPr>
            <p:cNvCxnSpPr/>
            <p:nvPr/>
          </p:nvCxnSpPr>
          <p:spPr>
            <a:xfrm>
              <a:off x="4074287"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75407F92-E9FA-42C8-88B6-34D254B700E4}"/>
                </a:ext>
              </a:extLst>
            </p:cNvPr>
            <p:cNvCxnSpPr/>
            <p:nvPr/>
          </p:nvCxnSpPr>
          <p:spPr>
            <a:xfrm>
              <a:off x="4654950"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E2C2CB76-049F-4583-9F8C-3462CD54E821}"/>
                </a:ext>
              </a:extLst>
            </p:cNvPr>
            <p:cNvCxnSpPr/>
            <p:nvPr/>
          </p:nvCxnSpPr>
          <p:spPr>
            <a:xfrm>
              <a:off x="5235613"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054C728B-6510-4168-97C1-232AEC30CE3A}"/>
                </a:ext>
              </a:extLst>
            </p:cNvPr>
            <p:cNvCxnSpPr/>
            <p:nvPr/>
          </p:nvCxnSpPr>
          <p:spPr>
            <a:xfrm>
              <a:off x="5816276"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A0A3F8EB-EF69-4A3A-BF55-E98B8459CE09}"/>
                </a:ext>
              </a:extLst>
            </p:cNvPr>
            <p:cNvCxnSpPr/>
            <p:nvPr/>
          </p:nvCxnSpPr>
          <p:spPr>
            <a:xfrm>
              <a:off x="6396939"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5C88CF4F-98A9-4E94-A21A-787ECE2C3238}"/>
                </a:ext>
              </a:extLst>
            </p:cNvPr>
            <p:cNvCxnSpPr/>
            <p:nvPr/>
          </p:nvCxnSpPr>
          <p:spPr>
            <a:xfrm>
              <a:off x="6977602"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212753DC-2381-4531-A177-2293D0078626}"/>
                </a:ext>
              </a:extLst>
            </p:cNvPr>
            <p:cNvCxnSpPr/>
            <p:nvPr/>
          </p:nvCxnSpPr>
          <p:spPr>
            <a:xfrm>
              <a:off x="7558265"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1708E870-C5C3-434A-BFD1-D7A7793BDE48}"/>
                </a:ext>
              </a:extLst>
            </p:cNvPr>
            <p:cNvCxnSpPr/>
            <p:nvPr/>
          </p:nvCxnSpPr>
          <p:spPr>
            <a:xfrm>
              <a:off x="8138928"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CE3A6AF3-3FE4-4C58-82B0-3811BDEBBADF}"/>
                </a:ext>
              </a:extLst>
            </p:cNvPr>
            <p:cNvCxnSpPr/>
            <p:nvPr/>
          </p:nvCxnSpPr>
          <p:spPr>
            <a:xfrm>
              <a:off x="8719591"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77244BD5-43DD-4E23-BDDE-6DB84D67B88D}"/>
                </a:ext>
              </a:extLst>
            </p:cNvPr>
            <p:cNvCxnSpPr/>
            <p:nvPr/>
          </p:nvCxnSpPr>
          <p:spPr>
            <a:xfrm>
              <a:off x="9300254"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347F9664-D2F3-4775-989A-6E14ADD4356A}"/>
                </a:ext>
              </a:extLst>
            </p:cNvPr>
            <p:cNvCxnSpPr/>
            <p:nvPr/>
          </p:nvCxnSpPr>
          <p:spPr>
            <a:xfrm>
              <a:off x="9880917"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3120FA74-E9E3-4AE4-B8AF-6D8C29392C1E}"/>
                </a:ext>
              </a:extLst>
            </p:cNvPr>
            <p:cNvCxnSpPr/>
            <p:nvPr/>
          </p:nvCxnSpPr>
          <p:spPr>
            <a:xfrm>
              <a:off x="10461580"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AF693444-EB4D-42CF-AD2F-A47C04F4353C}"/>
                </a:ext>
              </a:extLst>
            </p:cNvPr>
            <p:cNvCxnSpPr/>
            <p:nvPr/>
          </p:nvCxnSpPr>
          <p:spPr>
            <a:xfrm>
              <a:off x="11042243"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2FDFE81F-E0DB-4238-A1CB-4EACD0EDD01B}"/>
                </a:ext>
              </a:extLst>
            </p:cNvPr>
            <p:cNvCxnSpPr/>
            <p:nvPr/>
          </p:nvCxnSpPr>
          <p:spPr>
            <a:xfrm>
              <a:off x="11622906"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grpSp>
      <p:sp>
        <p:nvSpPr>
          <p:cNvPr id="29" name="矩形 28">
            <a:extLst>
              <a:ext uri="{FF2B5EF4-FFF2-40B4-BE49-F238E27FC236}">
                <a16:creationId xmlns:a16="http://schemas.microsoft.com/office/drawing/2014/main" id="{6443A7B5-2534-4A93-8180-11DCF023065C}"/>
              </a:ext>
            </a:extLst>
          </p:cNvPr>
          <p:cNvSpPr/>
          <p:nvPr/>
        </p:nvSpPr>
        <p:spPr>
          <a:xfrm>
            <a:off x="2332301" y="1241385"/>
            <a:ext cx="7527399" cy="4375230"/>
          </a:xfrm>
          <a:prstGeom prst="rect">
            <a:avLst/>
          </a:prstGeom>
          <a:solidFill>
            <a:srgbClr val="4D3F82"/>
          </a:solidFill>
          <a:ln>
            <a:noFill/>
          </a:ln>
          <a:effectLst>
            <a:outerShdw blurRad="63500" sx="106000" sy="106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a:extLst>
              <a:ext uri="{FF2B5EF4-FFF2-40B4-BE49-F238E27FC236}">
                <a16:creationId xmlns:a16="http://schemas.microsoft.com/office/drawing/2014/main" id="{2C10FBED-D4ED-4A8F-9A64-839ABD83AE70}"/>
              </a:ext>
            </a:extLst>
          </p:cNvPr>
          <p:cNvSpPr txBox="1"/>
          <p:nvPr/>
        </p:nvSpPr>
        <p:spPr>
          <a:xfrm>
            <a:off x="4407055" y="2779163"/>
            <a:ext cx="2882097" cy="769441"/>
          </a:xfrm>
          <a:prstGeom prst="rect">
            <a:avLst/>
          </a:prstGeom>
          <a:noFill/>
        </p:spPr>
        <p:txBody>
          <a:bodyPr wrap="square" rtlCol="0">
            <a:spAutoFit/>
          </a:bodyPr>
          <a:lstStyle/>
          <a:p>
            <a:pPr algn="ctr"/>
            <a:r>
              <a:rPr lang="en-US" altLang="zh-CN" sz="4400" b="1">
                <a:solidFill>
                  <a:srgbClr val="4D3F82"/>
                </a:solidFill>
                <a:latin typeface="Century Gothic" panose="020B0502020202020204" pitchFamily="34" charset="0"/>
              </a:rPr>
              <a:t>PART  01</a:t>
            </a:r>
            <a:endParaRPr lang="zh-CN" altLang="en-US" sz="4400" b="1">
              <a:solidFill>
                <a:srgbClr val="4D3F82"/>
              </a:solidFill>
              <a:latin typeface="Century Gothic" panose="020B0502020202020204" pitchFamily="34" charset="0"/>
            </a:endParaRPr>
          </a:p>
        </p:txBody>
      </p:sp>
      <p:sp>
        <p:nvSpPr>
          <p:cNvPr id="32" name="文本框 31">
            <a:extLst>
              <a:ext uri="{FF2B5EF4-FFF2-40B4-BE49-F238E27FC236}">
                <a16:creationId xmlns:a16="http://schemas.microsoft.com/office/drawing/2014/main" id="{5104F2DC-C794-4550-9679-A4FDA2310F94}"/>
              </a:ext>
            </a:extLst>
          </p:cNvPr>
          <p:cNvSpPr txBox="1"/>
          <p:nvPr/>
        </p:nvSpPr>
        <p:spPr>
          <a:xfrm>
            <a:off x="4751612" y="892224"/>
            <a:ext cx="2688776" cy="2646878"/>
          </a:xfrm>
          <a:prstGeom prst="rect">
            <a:avLst/>
          </a:prstGeom>
          <a:noFill/>
        </p:spPr>
        <p:txBody>
          <a:bodyPr wrap="square" rtlCol="0">
            <a:spAutoFit/>
          </a:bodyPr>
          <a:lstStyle/>
          <a:p>
            <a:pPr algn="ctr"/>
            <a:r>
              <a:rPr lang="en-US" altLang="zh-CN" sz="16600">
                <a:solidFill>
                  <a:schemeClr val="bg1"/>
                </a:solidFill>
                <a:latin typeface="Bauhaus 93" panose="04030905020B02020C02" pitchFamily="82" charset="0"/>
              </a:rPr>
              <a:t>01</a:t>
            </a:r>
            <a:endParaRPr lang="zh-CN" altLang="en-US" sz="16600">
              <a:solidFill>
                <a:schemeClr val="bg1"/>
              </a:solidFill>
              <a:latin typeface="Bauhaus 93" panose="04030905020B02020C02" pitchFamily="82" charset="0"/>
            </a:endParaRPr>
          </a:p>
        </p:txBody>
      </p:sp>
      <p:sp>
        <p:nvSpPr>
          <p:cNvPr id="34" name="椭圆 33">
            <a:extLst>
              <a:ext uri="{FF2B5EF4-FFF2-40B4-BE49-F238E27FC236}">
                <a16:creationId xmlns:a16="http://schemas.microsoft.com/office/drawing/2014/main" id="{695E17C3-B4C6-4AB9-9EB5-BD6A63284E90}"/>
              </a:ext>
            </a:extLst>
          </p:cNvPr>
          <p:cNvSpPr/>
          <p:nvPr/>
        </p:nvSpPr>
        <p:spPr>
          <a:xfrm rot="2557811">
            <a:off x="9061044" y="5322088"/>
            <a:ext cx="478420" cy="478420"/>
          </a:xfrm>
          <a:prstGeom prst="ellipse">
            <a:avLst/>
          </a:prstGeom>
          <a:solidFill>
            <a:srgbClr val="CE4569"/>
          </a:solidFill>
          <a:ln>
            <a:noFill/>
          </a:ln>
          <a:effectLst>
            <a:outerShdw blurRad="50800" dist="1016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a:extLst>
              <a:ext uri="{FF2B5EF4-FFF2-40B4-BE49-F238E27FC236}">
                <a16:creationId xmlns:a16="http://schemas.microsoft.com/office/drawing/2014/main" id="{CC000E46-6AF4-4594-A9DF-80A429D9E045}"/>
              </a:ext>
            </a:extLst>
          </p:cNvPr>
          <p:cNvSpPr/>
          <p:nvPr/>
        </p:nvSpPr>
        <p:spPr>
          <a:xfrm rot="2557811">
            <a:off x="924600" y="231320"/>
            <a:ext cx="1073409" cy="1073409"/>
          </a:xfrm>
          <a:prstGeom prst="ellipse">
            <a:avLst/>
          </a:prstGeom>
          <a:solidFill>
            <a:srgbClr val="CE4569"/>
          </a:solidFill>
          <a:ln>
            <a:noFill/>
          </a:ln>
          <a:effectLst>
            <a:outerShdw blurRad="50800" dist="38100" sx="105000" sy="1050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 35">
            <a:extLst>
              <a:ext uri="{FF2B5EF4-FFF2-40B4-BE49-F238E27FC236}">
                <a16:creationId xmlns:a16="http://schemas.microsoft.com/office/drawing/2014/main" id="{23C69A77-F915-4361-82AE-DD0CD44CE947}"/>
              </a:ext>
            </a:extLst>
          </p:cNvPr>
          <p:cNvSpPr/>
          <p:nvPr/>
        </p:nvSpPr>
        <p:spPr>
          <a:xfrm rot="8799648">
            <a:off x="1840248" y="5850403"/>
            <a:ext cx="429104" cy="429104"/>
          </a:xfrm>
          <a:prstGeom prst="ellipse">
            <a:avLst/>
          </a:prstGeom>
          <a:solidFill>
            <a:srgbClr val="CE4569"/>
          </a:solidFill>
          <a:ln>
            <a:noFill/>
          </a:ln>
          <a:effectLst>
            <a:outerShdw blurRad="50800" dist="38100" sx="105000" sy="1050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a:extLst>
              <a:ext uri="{FF2B5EF4-FFF2-40B4-BE49-F238E27FC236}">
                <a16:creationId xmlns:a16="http://schemas.microsoft.com/office/drawing/2014/main" id="{D7EF4AA4-688F-47C9-9020-B357F4A30475}"/>
              </a:ext>
            </a:extLst>
          </p:cNvPr>
          <p:cNvSpPr/>
          <p:nvPr/>
        </p:nvSpPr>
        <p:spPr>
          <a:xfrm rot="2962617">
            <a:off x="8947701" y="1420155"/>
            <a:ext cx="429104" cy="429104"/>
          </a:xfrm>
          <a:prstGeom prst="ellipse">
            <a:avLst/>
          </a:prstGeom>
          <a:solidFill>
            <a:srgbClr val="CE4569"/>
          </a:solidFill>
          <a:ln>
            <a:noFill/>
          </a:ln>
          <a:effectLst>
            <a:outerShdw blurRad="38100" dist="63500" dir="10800000" sx="101000" sy="101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2CB25251-652D-46A8-B19B-6DE6EEDF3EB6}"/>
              </a:ext>
            </a:extLst>
          </p:cNvPr>
          <p:cNvSpPr/>
          <p:nvPr/>
        </p:nvSpPr>
        <p:spPr>
          <a:xfrm rot="2962617">
            <a:off x="10610130" y="3019329"/>
            <a:ext cx="351210" cy="351210"/>
          </a:xfrm>
          <a:prstGeom prst="ellipse">
            <a:avLst/>
          </a:prstGeom>
          <a:solidFill>
            <a:srgbClr val="4D3F82"/>
          </a:solidFill>
          <a:ln>
            <a:noFill/>
          </a:ln>
          <a:effectLst>
            <a:outerShdw blurRad="38100" dist="63500" dir="10800000" sx="101000" sy="101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a:extLst>
              <a:ext uri="{FF2B5EF4-FFF2-40B4-BE49-F238E27FC236}">
                <a16:creationId xmlns:a16="http://schemas.microsoft.com/office/drawing/2014/main" id="{4591EE37-3ADC-4ADC-A525-CC8E9AF29EAA}"/>
              </a:ext>
            </a:extLst>
          </p:cNvPr>
          <p:cNvSpPr/>
          <p:nvPr/>
        </p:nvSpPr>
        <p:spPr>
          <a:xfrm rot="2962617">
            <a:off x="1982806" y="3709369"/>
            <a:ext cx="351210" cy="351210"/>
          </a:xfrm>
          <a:prstGeom prst="ellipse">
            <a:avLst/>
          </a:prstGeom>
          <a:solidFill>
            <a:srgbClr val="4D3F82"/>
          </a:solidFill>
          <a:ln>
            <a:noFill/>
          </a:ln>
          <a:effectLst>
            <a:outerShdw blurRad="38100" dist="63500" dir="10800000" sx="101000" sy="101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a:extLst>
              <a:ext uri="{FF2B5EF4-FFF2-40B4-BE49-F238E27FC236}">
                <a16:creationId xmlns:a16="http://schemas.microsoft.com/office/drawing/2014/main" id="{6FE2F28D-601C-4A36-8EAC-F80E8828B650}"/>
              </a:ext>
            </a:extLst>
          </p:cNvPr>
          <p:cNvSpPr txBox="1"/>
          <p:nvPr/>
        </p:nvSpPr>
        <p:spPr>
          <a:xfrm>
            <a:off x="4182894" y="3558106"/>
            <a:ext cx="3956034" cy="707886"/>
          </a:xfrm>
          <a:prstGeom prst="rect">
            <a:avLst/>
          </a:prstGeom>
          <a:noFill/>
        </p:spPr>
        <p:txBody>
          <a:bodyPr wrap="square" rtlCol="0">
            <a:spAutoFit/>
          </a:bodyPr>
          <a:lstStyle/>
          <a:p>
            <a:pPr algn="ctr"/>
            <a:r>
              <a:rPr lang="zh-CN" altLang="en-US" sz="4000" b="1" dirty="0">
                <a:solidFill>
                  <a:schemeClr val="bg1"/>
                </a:solidFill>
                <a:cs typeface="+mn-ea"/>
                <a:sym typeface="+mn-lt"/>
              </a:rPr>
              <a:t>认识</a:t>
            </a:r>
            <a:r>
              <a:rPr lang="en-US" altLang="zh-CN" sz="4000" b="1" dirty="0">
                <a:solidFill>
                  <a:schemeClr val="bg1"/>
                </a:solidFill>
                <a:cs typeface="+mn-ea"/>
                <a:sym typeface="+mn-lt"/>
              </a:rPr>
              <a:t>NLP</a:t>
            </a:r>
            <a:r>
              <a:rPr lang="zh-CN" altLang="en-US" sz="4000" b="1" dirty="0">
                <a:solidFill>
                  <a:schemeClr val="bg1"/>
                </a:solidFill>
                <a:cs typeface="+mn-ea"/>
                <a:sym typeface="+mn-lt"/>
              </a:rPr>
              <a:t>芝麻街</a:t>
            </a:r>
            <a:endParaRPr lang="zh-CN" altLang="en-US" sz="4000" spc="600" dirty="0">
              <a:solidFill>
                <a:schemeClr val="bg1"/>
              </a:solidFill>
              <a:latin typeface="微软雅黑" panose="020B0503020204020204" pitchFamily="34" charset="-122"/>
              <a:ea typeface="微软雅黑" panose="020B0503020204020204" pitchFamily="34" charset="-122"/>
            </a:endParaRPr>
          </a:p>
        </p:txBody>
      </p:sp>
      <p:pic>
        <p:nvPicPr>
          <p:cNvPr id="41" name="图片 4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17418" y="6320176"/>
            <a:ext cx="3374582" cy="537824"/>
          </a:xfrm>
          <a:prstGeom prst="rect">
            <a:avLst/>
          </a:prstGeom>
        </p:spPr>
      </p:pic>
    </p:spTree>
    <p:extLst>
      <p:ext uri="{BB962C8B-B14F-4D97-AF65-F5344CB8AC3E}">
        <p14:creationId xmlns:p14="http://schemas.microsoft.com/office/powerpoint/2010/main" val="132466202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randombar(horizontal)">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1000"/>
                                        <p:tgtEl>
                                          <p:spTgt spid="40"/>
                                        </p:tgtEl>
                                      </p:cBhvr>
                                    </p:animEffect>
                                    <p:anim calcmode="lin" valueType="num">
                                      <p:cBhvr>
                                        <p:cTn id="13" dur="1000" fill="hold"/>
                                        <p:tgtEl>
                                          <p:spTgt spid="40"/>
                                        </p:tgtEl>
                                        <p:attrNameLst>
                                          <p:attrName>ppt_x</p:attrName>
                                        </p:attrNameLst>
                                      </p:cBhvr>
                                      <p:tavLst>
                                        <p:tav tm="0">
                                          <p:val>
                                            <p:strVal val="#ppt_x"/>
                                          </p:val>
                                        </p:tav>
                                        <p:tav tm="100000">
                                          <p:val>
                                            <p:strVal val="#ppt_x"/>
                                          </p:val>
                                        </p:tav>
                                      </p:tavLst>
                                    </p:anim>
                                    <p:anim calcmode="lin" valueType="num">
                                      <p:cBhvr>
                                        <p:cTn id="14"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4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6342617" y="671045"/>
            <a:ext cx="3937910" cy="5721306"/>
            <a:chOff x="4454428" y="625252"/>
            <a:chExt cx="3937910" cy="5721306"/>
          </a:xfrm>
        </p:grpSpPr>
        <p:pic>
          <p:nvPicPr>
            <p:cNvPr id="29" name="图片 2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1442" y="625252"/>
              <a:ext cx="1790896" cy="2530725"/>
            </a:xfrm>
            <a:prstGeom prst="rect">
              <a:avLst/>
            </a:prstGeom>
          </p:spPr>
        </p:pic>
        <p:pic>
          <p:nvPicPr>
            <p:cNvPr id="34" name="图片 3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54428" y="3480131"/>
              <a:ext cx="1913349" cy="2520520"/>
            </a:xfrm>
            <a:prstGeom prst="rect">
              <a:avLst/>
            </a:prstGeom>
          </p:spPr>
        </p:pic>
        <p:pic>
          <p:nvPicPr>
            <p:cNvPr id="35" name="图片 3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10114" y="3471816"/>
              <a:ext cx="1782224" cy="2535827"/>
            </a:xfrm>
            <a:prstGeom prst="rect">
              <a:avLst/>
            </a:prstGeom>
          </p:spPr>
        </p:pic>
        <p:pic>
          <p:nvPicPr>
            <p:cNvPr id="36" name="图片 3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454428" y="626558"/>
              <a:ext cx="1913350" cy="2525622"/>
            </a:xfrm>
            <a:prstGeom prst="rect">
              <a:avLst/>
            </a:prstGeom>
          </p:spPr>
        </p:pic>
        <p:sp>
          <p:nvSpPr>
            <p:cNvPr id="16" name="文本框 15"/>
            <p:cNvSpPr txBox="1"/>
            <p:nvPr/>
          </p:nvSpPr>
          <p:spPr>
            <a:xfrm>
              <a:off x="4675575" y="3152180"/>
              <a:ext cx="1471054" cy="369332"/>
            </a:xfrm>
            <a:prstGeom prst="rect">
              <a:avLst/>
            </a:prstGeom>
            <a:noFill/>
          </p:spPr>
          <p:txBody>
            <a:bodyPr wrap="square" rtlCol="0">
              <a:spAutoFit/>
            </a:bodyPr>
            <a:lstStyle/>
            <a:p>
              <a:pPr algn="ctr"/>
              <a:r>
                <a:rPr lang="en-US" altLang="zh-CN" dirty="0">
                  <a:solidFill>
                    <a:srgbClr val="4D3F82"/>
                  </a:solidFill>
                  <a:latin typeface="+mn-ea"/>
                </a:rPr>
                <a:t>2018</a:t>
              </a:r>
            </a:p>
          </p:txBody>
        </p:sp>
        <p:sp>
          <p:nvSpPr>
            <p:cNvPr id="18" name="文本框 17"/>
            <p:cNvSpPr txBox="1"/>
            <p:nvPr/>
          </p:nvSpPr>
          <p:spPr>
            <a:xfrm>
              <a:off x="6761363" y="3133436"/>
              <a:ext cx="1471054" cy="369332"/>
            </a:xfrm>
            <a:prstGeom prst="rect">
              <a:avLst/>
            </a:prstGeom>
            <a:noFill/>
          </p:spPr>
          <p:txBody>
            <a:bodyPr wrap="square" rtlCol="0">
              <a:spAutoFit/>
            </a:bodyPr>
            <a:lstStyle/>
            <a:p>
              <a:pPr algn="ctr"/>
              <a:r>
                <a:rPr lang="en-US" altLang="zh-CN" dirty="0">
                  <a:solidFill>
                    <a:srgbClr val="4D3F82"/>
                  </a:solidFill>
                  <a:latin typeface="+mn-ea"/>
                </a:rPr>
                <a:t>2018</a:t>
              </a:r>
            </a:p>
          </p:txBody>
        </p:sp>
        <p:sp>
          <p:nvSpPr>
            <p:cNvPr id="19" name="文本框 18"/>
            <p:cNvSpPr txBox="1"/>
            <p:nvPr/>
          </p:nvSpPr>
          <p:spPr>
            <a:xfrm>
              <a:off x="4675575" y="5977226"/>
              <a:ext cx="1471054" cy="369332"/>
            </a:xfrm>
            <a:prstGeom prst="rect">
              <a:avLst/>
            </a:prstGeom>
            <a:noFill/>
          </p:spPr>
          <p:txBody>
            <a:bodyPr wrap="square" rtlCol="0">
              <a:spAutoFit/>
            </a:bodyPr>
            <a:lstStyle/>
            <a:p>
              <a:pPr algn="ctr"/>
              <a:r>
                <a:rPr lang="en-US" altLang="zh-CN" dirty="0">
                  <a:solidFill>
                    <a:srgbClr val="4D3F82"/>
                  </a:solidFill>
                  <a:latin typeface="+mn-ea"/>
                </a:rPr>
                <a:t>2019</a:t>
              </a:r>
              <a:endParaRPr lang="en-US" altLang="zh-CN" sz="2000" dirty="0">
                <a:solidFill>
                  <a:srgbClr val="4D3F82"/>
                </a:solidFill>
                <a:latin typeface="+mn-ea"/>
              </a:endParaRPr>
            </a:p>
          </p:txBody>
        </p:sp>
        <p:sp>
          <p:nvSpPr>
            <p:cNvPr id="21" name="文本框 20"/>
            <p:cNvSpPr txBox="1"/>
            <p:nvPr/>
          </p:nvSpPr>
          <p:spPr>
            <a:xfrm>
              <a:off x="6761363" y="5962561"/>
              <a:ext cx="1471054" cy="369332"/>
            </a:xfrm>
            <a:prstGeom prst="rect">
              <a:avLst/>
            </a:prstGeom>
            <a:noFill/>
          </p:spPr>
          <p:txBody>
            <a:bodyPr wrap="square" rtlCol="0">
              <a:spAutoFit/>
            </a:bodyPr>
            <a:lstStyle/>
            <a:p>
              <a:pPr algn="ctr"/>
              <a:r>
                <a:rPr lang="en-US" altLang="zh-CN" dirty="0">
                  <a:solidFill>
                    <a:srgbClr val="4D3F82"/>
                  </a:solidFill>
                  <a:latin typeface="+mn-ea"/>
                </a:rPr>
                <a:t>2020</a:t>
              </a:r>
              <a:endParaRPr lang="en-US" altLang="zh-CN" sz="2000" dirty="0">
                <a:solidFill>
                  <a:srgbClr val="4D3F82"/>
                </a:solidFill>
                <a:latin typeface="+mn-ea"/>
              </a:endParaRPr>
            </a:p>
          </p:txBody>
        </p:sp>
      </p:grpSp>
      <p:sp>
        <p:nvSpPr>
          <p:cNvPr id="20" name="文本框 19"/>
          <p:cNvSpPr txBox="1"/>
          <p:nvPr/>
        </p:nvSpPr>
        <p:spPr>
          <a:xfrm>
            <a:off x="1071199" y="457068"/>
            <a:ext cx="2560316" cy="523220"/>
          </a:xfrm>
          <a:prstGeom prst="rect">
            <a:avLst/>
          </a:prstGeom>
          <a:noFill/>
        </p:spPr>
        <p:txBody>
          <a:bodyPr wrap="none" rtlCol="0">
            <a:spAutoFit/>
          </a:bodyPr>
          <a:lstStyle/>
          <a:p>
            <a:pPr lvl="0">
              <a:defRPr/>
            </a:pPr>
            <a:r>
              <a:rPr kumimoji="0" lang="zh-CN" altLang="en-US" sz="2800" b="1" i="0" u="none" strike="noStrike" kern="1200" cap="none" spc="0" normalizeH="0" baseline="0" noProof="0" dirty="0">
                <a:ln>
                  <a:noFill/>
                </a:ln>
                <a:solidFill>
                  <a:srgbClr val="4D3F82"/>
                </a:solidFill>
                <a:effectLst/>
                <a:uLnTx/>
                <a:uFillTx/>
                <a:latin typeface="Calibri"/>
                <a:ea typeface="微软雅黑"/>
                <a:cs typeface="+mn-ea"/>
                <a:sym typeface="+mn-lt"/>
              </a:rPr>
              <a:t>认识</a:t>
            </a:r>
            <a:r>
              <a:rPr kumimoji="0" lang="en-US" altLang="zh-CN" sz="2800" b="1" i="0" u="none" strike="noStrike" kern="1200" cap="none" spc="0" normalizeH="0" baseline="0" noProof="0" dirty="0">
                <a:ln>
                  <a:noFill/>
                </a:ln>
                <a:solidFill>
                  <a:srgbClr val="4D3F82"/>
                </a:solidFill>
                <a:effectLst/>
                <a:uLnTx/>
                <a:uFillTx/>
                <a:latin typeface="Calibri"/>
                <a:ea typeface="微软雅黑"/>
                <a:cs typeface="+mn-ea"/>
                <a:sym typeface="+mn-lt"/>
              </a:rPr>
              <a:t>NLP</a:t>
            </a:r>
            <a:r>
              <a:rPr kumimoji="0" lang="zh-CN" altLang="en-US" sz="2800" b="1" i="0" u="none" strike="noStrike" kern="1200" cap="none" spc="0" normalizeH="0" baseline="0" noProof="0" dirty="0">
                <a:ln>
                  <a:noFill/>
                </a:ln>
                <a:solidFill>
                  <a:srgbClr val="4D3F82"/>
                </a:solidFill>
                <a:effectLst/>
                <a:uLnTx/>
                <a:uFillTx/>
                <a:latin typeface="Calibri"/>
                <a:ea typeface="微软雅黑"/>
                <a:cs typeface="+mn-ea"/>
                <a:sym typeface="+mn-lt"/>
              </a:rPr>
              <a:t>芝麻街</a:t>
            </a:r>
          </a:p>
        </p:txBody>
      </p:sp>
      <p:sp>
        <p:nvSpPr>
          <p:cNvPr id="6" name="椭圆 5">
            <a:extLst>
              <a:ext uri="{FF2B5EF4-FFF2-40B4-BE49-F238E27FC236}">
                <a16:creationId xmlns:a16="http://schemas.microsoft.com/office/drawing/2014/main" id="{DF773A56-49AF-444E-AF6D-49DFDB041C2E}"/>
              </a:ext>
            </a:extLst>
          </p:cNvPr>
          <p:cNvSpPr/>
          <p:nvPr/>
        </p:nvSpPr>
        <p:spPr>
          <a:xfrm>
            <a:off x="11073997" y="5889631"/>
            <a:ext cx="872276" cy="872276"/>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9723BAD4-F047-4320-87A0-E95852694C3F}"/>
              </a:ext>
            </a:extLst>
          </p:cNvPr>
          <p:cNvSpPr/>
          <p:nvPr/>
        </p:nvSpPr>
        <p:spPr>
          <a:xfrm rot="9430845">
            <a:off x="11432508" y="5123846"/>
            <a:ext cx="344849" cy="344849"/>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D4E3EEDC-7C8A-43DB-BD42-E8947B413BB8}"/>
              </a:ext>
            </a:extLst>
          </p:cNvPr>
          <p:cNvSpPr/>
          <p:nvPr/>
        </p:nvSpPr>
        <p:spPr>
          <a:xfrm rot="9430845">
            <a:off x="10447956" y="6589483"/>
            <a:ext cx="344849" cy="344849"/>
          </a:xfrm>
          <a:prstGeom prst="ellipse">
            <a:avLst/>
          </a:prstGeom>
          <a:solidFill>
            <a:srgbClr val="4D3F82"/>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EF07DB3A-3E81-4DC1-8E47-D5A7AB5ABD16}"/>
              </a:ext>
            </a:extLst>
          </p:cNvPr>
          <p:cNvSpPr/>
          <p:nvPr/>
        </p:nvSpPr>
        <p:spPr>
          <a:xfrm rot="9430845">
            <a:off x="528920" y="441278"/>
            <a:ext cx="503796" cy="511184"/>
          </a:xfrm>
          <a:prstGeom prst="ellipse">
            <a:avLst/>
          </a:prstGeom>
          <a:solidFill>
            <a:srgbClr val="4D3F8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FB187FA8-C04C-4322-891C-A741CEA371EC}"/>
              </a:ext>
            </a:extLst>
          </p:cNvPr>
          <p:cNvSpPr txBox="1"/>
          <p:nvPr/>
        </p:nvSpPr>
        <p:spPr>
          <a:xfrm>
            <a:off x="538162" y="466029"/>
            <a:ext cx="561265" cy="461665"/>
          </a:xfrm>
          <a:prstGeom prst="rect">
            <a:avLst/>
          </a:prstGeom>
          <a:noFill/>
        </p:spPr>
        <p:txBody>
          <a:bodyPr wrap="square" rtlCol="0">
            <a:spAutoFit/>
          </a:bodyPr>
          <a:lstStyle/>
          <a:p>
            <a:r>
              <a:rPr lang="en-US" altLang="zh-CN" sz="2400" dirty="0">
                <a:solidFill>
                  <a:schemeClr val="bg1"/>
                </a:solidFill>
                <a:latin typeface="Bauhaus 93" panose="04030905020B02020C02" pitchFamily="82" charset="0"/>
              </a:rPr>
              <a:t>01</a:t>
            </a:r>
            <a:endParaRPr lang="zh-CN" altLang="en-US" sz="2400" dirty="0">
              <a:solidFill>
                <a:schemeClr val="bg1"/>
              </a:solidFill>
              <a:latin typeface="Bauhaus 93" panose="04030905020B02020C02" pitchFamily="82" charset="0"/>
            </a:endParaRPr>
          </a:p>
        </p:txBody>
      </p:sp>
      <p:sp>
        <p:nvSpPr>
          <p:cNvPr id="37" name="椭圆 36">
            <a:extLst>
              <a:ext uri="{FF2B5EF4-FFF2-40B4-BE49-F238E27FC236}">
                <a16:creationId xmlns:a16="http://schemas.microsoft.com/office/drawing/2014/main" id="{7A007603-F3D9-40C8-B984-92A6C591C1ED}"/>
              </a:ext>
            </a:extLst>
          </p:cNvPr>
          <p:cNvSpPr/>
          <p:nvPr/>
        </p:nvSpPr>
        <p:spPr>
          <a:xfrm rot="14219635">
            <a:off x="-422765" y="-198887"/>
            <a:ext cx="872276" cy="872276"/>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6E536261-448B-42D2-AA47-008BC8415B5E}"/>
              </a:ext>
            </a:extLst>
          </p:cNvPr>
          <p:cNvSpPr/>
          <p:nvPr/>
        </p:nvSpPr>
        <p:spPr>
          <a:xfrm rot="14219635">
            <a:off x="367756" y="1142977"/>
            <a:ext cx="163510" cy="163510"/>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文本框 38"/>
          <p:cNvSpPr txBox="1"/>
          <p:nvPr/>
        </p:nvSpPr>
        <p:spPr>
          <a:xfrm>
            <a:off x="6527393" y="6377686"/>
            <a:ext cx="3753134" cy="369332"/>
          </a:xfrm>
          <a:prstGeom prst="rect">
            <a:avLst/>
          </a:prstGeom>
          <a:noFill/>
        </p:spPr>
        <p:txBody>
          <a:bodyPr wrap="square" rtlCol="0">
            <a:spAutoFit/>
          </a:bodyPr>
          <a:lstStyle/>
          <a:p>
            <a:pPr algn="ctr"/>
            <a:r>
              <a:rPr lang="zh-CN" altLang="en-US" dirty="0">
                <a:solidFill>
                  <a:srgbClr val="4D3F82"/>
                </a:solidFill>
                <a:effectLst>
                  <a:outerShdw blurRad="38100" dist="38100" dir="2700000" algn="tl">
                    <a:srgbClr val="000000">
                      <a:alpha val="43137"/>
                    </a:srgbClr>
                  </a:outerShdw>
                </a:effectLst>
                <a:latin typeface="+mn-ea"/>
              </a:rPr>
              <a:t>现</a:t>
            </a:r>
            <a:r>
              <a:rPr lang="en-US" altLang="zh-CN" dirty="0">
                <a:solidFill>
                  <a:srgbClr val="4D3F82"/>
                </a:solidFill>
                <a:effectLst>
                  <a:outerShdw blurRad="38100" dist="38100" dir="2700000" algn="tl">
                    <a:srgbClr val="000000">
                      <a:alpha val="43137"/>
                    </a:srgbClr>
                  </a:outerShdw>
                </a:effectLst>
                <a:latin typeface="+mn-ea"/>
              </a:rPr>
              <a:t>NLP </a:t>
            </a:r>
            <a:r>
              <a:rPr lang="zh-CN" altLang="en-US" dirty="0">
                <a:solidFill>
                  <a:srgbClr val="4D3F82"/>
                </a:solidFill>
                <a:effectLst>
                  <a:outerShdw blurRad="38100" dist="38100" dir="2700000" algn="tl">
                    <a:srgbClr val="000000">
                      <a:alpha val="43137"/>
                    </a:srgbClr>
                  </a:outerShdw>
                </a:effectLst>
                <a:latin typeface="+mn-ea"/>
              </a:rPr>
              <a:t>芝麻街家族成员</a:t>
            </a:r>
          </a:p>
        </p:txBody>
      </p:sp>
      <p:pic>
        <p:nvPicPr>
          <p:cNvPr id="40" name="图片 3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6359445"/>
            <a:ext cx="3374582" cy="537824"/>
          </a:xfrm>
          <a:prstGeom prst="rect">
            <a:avLst/>
          </a:prstGeom>
        </p:spPr>
      </p:pic>
      <p:sp>
        <p:nvSpPr>
          <p:cNvPr id="65" name="椭圆 64">
            <a:extLst>
              <a:ext uri="{FF2B5EF4-FFF2-40B4-BE49-F238E27FC236}">
                <a16:creationId xmlns:a16="http://schemas.microsoft.com/office/drawing/2014/main" id="{8EC13F04-9904-4D97-B522-6A185D88CADE}"/>
              </a:ext>
            </a:extLst>
          </p:cNvPr>
          <p:cNvSpPr/>
          <p:nvPr/>
        </p:nvSpPr>
        <p:spPr>
          <a:xfrm>
            <a:off x="483268" y="3920495"/>
            <a:ext cx="1074427" cy="1117398"/>
          </a:xfrm>
          <a:prstGeom prst="ellipse">
            <a:avLst/>
          </a:prstGeom>
          <a:solidFill>
            <a:srgbClr val="CE45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a:extLst>
              <a:ext uri="{FF2B5EF4-FFF2-40B4-BE49-F238E27FC236}">
                <a16:creationId xmlns:a16="http://schemas.microsoft.com/office/drawing/2014/main" id="{40419A52-C3DD-4C3C-BE17-9E5B9B2BD71F}"/>
              </a:ext>
            </a:extLst>
          </p:cNvPr>
          <p:cNvSpPr/>
          <p:nvPr/>
        </p:nvSpPr>
        <p:spPr>
          <a:xfrm>
            <a:off x="2421574" y="1445440"/>
            <a:ext cx="2977629" cy="3096719"/>
          </a:xfrm>
          <a:prstGeom prst="ellipse">
            <a:avLst/>
          </a:prstGeom>
          <a:solidFill>
            <a:srgbClr val="4D3F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2" name="组合 21"/>
          <p:cNvGrpSpPr/>
          <p:nvPr/>
        </p:nvGrpSpPr>
        <p:grpSpPr>
          <a:xfrm>
            <a:off x="616701" y="2539694"/>
            <a:ext cx="4656604" cy="2864810"/>
            <a:chOff x="3922414" y="2558492"/>
            <a:chExt cx="4363738" cy="2511978"/>
          </a:xfrm>
        </p:grpSpPr>
        <p:grpSp>
          <p:nvGrpSpPr>
            <p:cNvPr id="23" name="Group 98">
              <a:extLst>
                <a:ext uri="{FF2B5EF4-FFF2-40B4-BE49-F238E27FC236}">
                  <a16:creationId xmlns:a16="http://schemas.microsoft.com/office/drawing/2014/main" id="{49FA497C-2DE0-4D4F-974D-0F1BAC5846C2}"/>
                </a:ext>
              </a:extLst>
            </p:cNvPr>
            <p:cNvGrpSpPr/>
            <p:nvPr/>
          </p:nvGrpSpPr>
          <p:grpSpPr>
            <a:xfrm>
              <a:off x="3922414" y="2558492"/>
              <a:ext cx="4363738" cy="2511978"/>
              <a:chOff x="5898415" y="1976415"/>
              <a:chExt cx="5654530" cy="3255020"/>
            </a:xfrm>
          </p:grpSpPr>
          <p:sp>
            <p:nvSpPr>
              <p:cNvPr id="30" name="Freeform 45">
                <a:extLst>
                  <a:ext uri="{FF2B5EF4-FFF2-40B4-BE49-F238E27FC236}">
                    <a16:creationId xmlns:a16="http://schemas.microsoft.com/office/drawing/2014/main" id="{DCA683A4-D651-4FFF-AB93-BF791DA7EE45}"/>
                  </a:ext>
                </a:extLst>
              </p:cNvPr>
              <p:cNvSpPr>
                <a:spLocks/>
              </p:cNvSpPr>
              <p:nvPr/>
            </p:nvSpPr>
            <p:spPr bwMode="auto">
              <a:xfrm>
                <a:off x="5898415" y="5105745"/>
                <a:ext cx="2848207" cy="125690"/>
              </a:xfrm>
              <a:custGeom>
                <a:avLst/>
                <a:gdLst>
                  <a:gd name="T0" fmla="*/ 0 w 885"/>
                  <a:gd name="T1" fmla="*/ 16 h 39"/>
                  <a:gd name="T2" fmla="*/ 78 w 885"/>
                  <a:gd name="T3" fmla="*/ 39 h 39"/>
                  <a:gd name="T4" fmla="*/ 885 w 885"/>
                  <a:gd name="T5" fmla="*/ 39 h 39"/>
                  <a:gd name="T6" fmla="*/ 885 w 885"/>
                  <a:gd name="T7" fmla="*/ 0 h 39"/>
                  <a:gd name="T8" fmla="*/ 0 w 885"/>
                  <a:gd name="T9" fmla="*/ 0 h 39"/>
                  <a:gd name="T10" fmla="*/ 0 w 885"/>
                  <a:gd name="T11" fmla="*/ 16 h 39"/>
                </a:gdLst>
                <a:ahLst/>
                <a:cxnLst>
                  <a:cxn ang="0">
                    <a:pos x="T0" y="T1"/>
                  </a:cxn>
                  <a:cxn ang="0">
                    <a:pos x="T2" y="T3"/>
                  </a:cxn>
                  <a:cxn ang="0">
                    <a:pos x="T4" y="T5"/>
                  </a:cxn>
                  <a:cxn ang="0">
                    <a:pos x="T6" y="T7"/>
                  </a:cxn>
                  <a:cxn ang="0">
                    <a:pos x="T8" y="T9"/>
                  </a:cxn>
                  <a:cxn ang="0">
                    <a:pos x="T10" y="T11"/>
                  </a:cxn>
                </a:cxnLst>
                <a:rect l="0" t="0" r="r" b="b"/>
                <a:pathLst>
                  <a:path w="885" h="39">
                    <a:moveTo>
                      <a:pt x="0" y="16"/>
                    </a:moveTo>
                    <a:cubicBezTo>
                      <a:pt x="0" y="23"/>
                      <a:pt x="30" y="39"/>
                      <a:pt x="78" y="39"/>
                    </a:cubicBezTo>
                    <a:cubicBezTo>
                      <a:pt x="126" y="39"/>
                      <a:pt x="885" y="39"/>
                      <a:pt x="885" y="39"/>
                    </a:cubicBezTo>
                    <a:cubicBezTo>
                      <a:pt x="885" y="0"/>
                      <a:pt x="885" y="0"/>
                      <a:pt x="885" y="0"/>
                    </a:cubicBezTo>
                    <a:cubicBezTo>
                      <a:pt x="0" y="0"/>
                      <a:pt x="0" y="0"/>
                      <a:pt x="0" y="0"/>
                    </a:cubicBezTo>
                    <a:lnTo>
                      <a:pt x="0" y="16"/>
                    </a:lnTo>
                    <a:close/>
                  </a:path>
                </a:pathLst>
              </a:custGeom>
              <a:solidFill>
                <a:srgbClr val="B3B4B5"/>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900" b="0" i="0" u="none" strike="noStrike" kern="1200" cap="none" spc="0" normalizeH="0" baseline="0" noProof="0">
                  <a:ln>
                    <a:noFill/>
                  </a:ln>
                  <a:solidFill>
                    <a:srgbClr val="7F7F7F"/>
                  </a:solidFill>
                  <a:effectLst/>
                  <a:uLnTx/>
                  <a:uFillTx/>
                  <a:latin typeface="Roboto Light"/>
                  <a:ea typeface="微软雅黑"/>
                  <a:cs typeface="+mn-cs"/>
                </a:endParaRPr>
              </a:p>
            </p:txBody>
          </p:sp>
          <p:sp>
            <p:nvSpPr>
              <p:cNvPr id="31" name="Freeform 46">
                <a:extLst>
                  <a:ext uri="{FF2B5EF4-FFF2-40B4-BE49-F238E27FC236}">
                    <a16:creationId xmlns:a16="http://schemas.microsoft.com/office/drawing/2014/main" id="{5BC86B2F-06A8-4EB1-B8BA-AD8C65DDD6F8}"/>
                  </a:ext>
                </a:extLst>
              </p:cNvPr>
              <p:cNvSpPr>
                <a:spLocks/>
              </p:cNvSpPr>
              <p:nvPr/>
            </p:nvSpPr>
            <p:spPr bwMode="auto">
              <a:xfrm>
                <a:off x="8704736" y="5105745"/>
                <a:ext cx="2848207" cy="125690"/>
              </a:xfrm>
              <a:custGeom>
                <a:avLst/>
                <a:gdLst>
                  <a:gd name="T0" fmla="*/ 884 w 884"/>
                  <a:gd name="T1" fmla="*/ 16 h 39"/>
                  <a:gd name="T2" fmla="*/ 806 w 884"/>
                  <a:gd name="T3" fmla="*/ 39 h 39"/>
                  <a:gd name="T4" fmla="*/ 0 w 884"/>
                  <a:gd name="T5" fmla="*/ 39 h 39"/>
                  <a:gd name="T6" fmla="*/ 0 w 884"/>
                  <a:gd name="T7" fmla="*/ 0 h 39"/>
                  <a:gd name="T8" fmla="*/ 884 w 884"/>
                  <a:gd name="T9" fmla="*/ 0 h 39"/>
                  <a:gd name="T10" fmla="*/ 884 w 884"/>
                  <a:gd name="T11" fmla="*/ 16 h 39"/>
                </a:gdLst>
                <a:ahLst/>
                <a:cxnLst>
                  <a:cxn ang="0">
                    <a:pos x="T0" y="T1"/>
                  </a:cxn>
                  <a:cxn ang="0">
                    <a:pos x="T2" y="T3"/>
                  </a:cxn>
                  <a:cxn ang="0">
                    <a:pos x="T4" y="T5"/>
                  </a:cxn>
                  <a:cxn ang="0">
                    <a:pos x="T6" y="T7"/>
                  </a:cxn>
                  <a:cxn ang="0">
                    <a:pos x="T8" y="T9"/>
                  </a:cxn>
                  <a:cxn ang="0">
                    <a:pos x="T10" y="T11"/>
                  </a:cxn>
                </a:cxnLst>
                <a:rect l="0" t="0" r="r" b="b"/>
                <a:pathLst>
                  <a:path w="884" h="39">
                    <a:moveTo>
                      <a:pt x="884" y="16"/>
                    </a:moveTo>
                    <a:cubicBezTo>
                      <a:pt x="884" y="23"/>
                      <a:pt x="854" y="39"/>
                      <a:pt x="806" y="39"/>
                    </a:cubicBezTo>
                    <a:cubicBezTo>
                      <a:pt x="758" y="39"/>
                      <a:pt x="0" y="39"/>
                      <a:pt x="0" y="39"/>
                    </a:cubicBezTo>
                    <a:cubicBezTo>
                      <a:pt x="0" y="0"/>
                      <a:pt x="0" y="0"/>
                      <a:pt x="0" y="0"/>
                    </a:cubicBezTo>
                    <a:cubicBezTo>
                      <a:pt x="884" y="0"/>
                      <a:pt x="884" y="0"/>
                      <a:pt x="884" y="0"/>
                    </a:cubicBezTo>
                    <a:lnTo>
                      <a:pt x="884" y="16"/>
                    </a:lnTo>
                    <a:close/>
                  </a:path>
                </a:pathLst>
              </a:custGeom>
              <a:solidFill>
                <a:srgbClr val="B3B4B5"/>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900" b="0" i="0" u="none" strike="noStrike" kern="1200" cap="none" spc="0" normalizeH="0" baseline="0" noProof="0">
                  <a:ln>
                    <a:noFill/>
                  </a:ln>
                  <a:solidFill>
                    <a:srgbClr val="7F7F7F"/>
                  </a:solidFill>
                  <a:effectLst/>
                  <a:uLnTx/>
                  <a:uFillTx/>
                  <a:latin typeface="Roboto Light"/>
                  <a:ea typeface="微软雅黑"/>
                  <a:cs typeface="+mn-cs"/>
                </a:endParaRPr>
              </a:p>
            </p:txBody>
          </p:sp>
          <p:sp>
            <p:nvSpPr>
              <p:cNvPr id="32" name="Freeform 47">
                <a:extLst>
                  <a:ext uri="{FF2B5EF4-FFF2-40B4-BE49-F238E27FC236}">
                    <a16:creationId xmlns:a16="http://schemas.microsoft.com/office/drawing/2014/main" id="{3F374CF9-9881-4AD4-B972-1C04250C844F}"/>
                  </a:ext>
                </a:extLst>
              </p:cNvPr>
              <p:cNvSpPr>
                <a:spLocks/>
              </p:cNvSpPr>
              <p:nvPr/>
            </p:nvSpPr>
            <p:spPr bwMode="auto">
              <a:xfrm>
                <a:off x="6455812" y="1976415"/>
                <a:ext cx="4581618" cy="3138999"/>
              </a:xfrm>
              <a:custGeom>
                <a:avLst/>
                <a:gdLst>
                  <a:gd name="T0" fmla="*/ 1378 w 1423"/>
                  <a:gd name="T1" fmla="*/ 0 h 974"/>
                  <a:gd name="T2" fmla="*/ 45 w 1423"/>
                  <a:gd name="T3" fmla="*/ 0 h 974"/>
                  <a:gd name="T4" fmla="*/ 0 w 1423"/>
                  <a:gd name="T5" fmla="*/ 45 h 974"/>
                  <a:gd name="T6" fmla="*/ 0 w 1423"/>
                  <a:gd name="T7" fmla="*/ 218 h 974"/>
                  <a:gd name="T8" fmla="*/ 0 w 1423"/>
                  <a:gd name="T9" fmla="*/ 929 h 974"/>
                  <a:gd name="T10" fmla="*/ 45 w 1423"/>
                  <a:gd name="T11" fmla="*/ 974 h 974"/>
                  <a:gd name="T12" fmla="*/ 1378 w 1423"/>
                  <a:gd name="T13" fmla="*/ 974 h 974"/>
                  <a:gd name="T14" fmla="*/ 1423 w 1423"/>
                  <a:gd name="T15" fmla="*/ 929 h 974"/>
                  <a:gd name="T16" fmla="*/ 1423 w 1423"/>
                  <a:gd name="T17" fmla="*/ 45 h 974"/>
                  <a:gd name="T18" fmla="*/ 1378 w 1423"/>
                  <a:gd name="T19" fmla="*/ 0 h 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23" h="974">
                    <a:moveTo>
                      <a:pt x="1378" y="0"/>
                    </a:moveTo>
                    <a:cubicBezTo>
                      <a:pt x="45" y="0"/>
                      <a:pt x="45" y="0"/>
                      <a:pt x="45" y="0"/>
                    </a:cubicBezTo>
                    <a:cubicBezTo>
                      <a:pt x="20" y="0"/>
                      <a:pt x="0" y="20"/>
                      <a:pt x="0" y="45"/>
                    </a:cubicBezTo>
                    <a:cubicBezTo>
                      <a:pt x="0" y="218"/>
                      <a:pt x="0" y="218"/>
                      <a:pt x="0" y="218"/>
                    </a:cubicBezTo>
                    <a:cubicBezTo>
                      <a:pt x="0" y="929"/>
                      <a:pt x="0" y="929"/>
                      <a:pt x="0" y="929"/>
                    </a:cubicBezTo>
                    <a:cubicBezTo>
                      <a:pt x="0" y="954"/>
                      <a:pt x="20" y="974"/>
                      <a:pt x="45" y="974"/>
                    </a:cubicBezTo>
                    <a:cubicBezTo>
                      <a:pt x="1378" y="974"/>
                      <a:pt x="1378" y="974"/>
                      <a:pt x="1378" y="974"/>
                    </a:cubicBezTo>
                    <a:cubicBezTo>
                      <a:pt x="1403" y="974"/>
                      <a:pt x="1423" y="954"/>
                      <a:pt x="1423" y="929"/>
                    </a:cubicBezTo>
                    <a:cubicBezTo>
                      <a:pt x="1423" y="45"/>
                      <a:pt x="1423" y="45"/>
                      <a:pt x="1423" y="45"/>
                    </a:cubicBezTo>
                    <a:cubicBezTo>
                      <a:pt x="1423" y="20"/>
                      <a:pt x="1403" y="0"/>
                      <a:pt x="1378" y="0"/>
                    </a:cubicBezTo>
                    <a:close/>
                  </a:path>
                </a:pathLst>
              </a:custGeom>
              <a:solidFill>
                <a:srgbClr val="D2D3D5"/>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900" b="0" i="0" u="none" strike="noStrike" kern="1200" cap="none" spc="0" normalizeH="0" baseline="0" noProof="0">
                  <a:ln>
                    <a:noFill/>
                  </a:ln>
                  <a:solidFill>
                    <a:srgbClr val="7F7F7F"/>
                  </a:solidFill>
                  <a:effectLst/>
                  <a:uLnTx/>
                  <a:uFillTx/>
                  <a:latin typeface="Roboto Light"/>
                  <a:ea typeface="微软雅黑"/>
                  <a:cs typeface="+mn-cs"/>
                </a:endParaRPr>
              </a:p>
            </p:txBody>
          </p:sp>
          <p:sp>
            <p:nvSpPr>
              <p:cNvPr id="33" name="Freeform 48">
                <a:extLst>
                  <a:ext uri="{FF2B5EF4-FFF2-40B4-BE49-F238E27FC236}">
                    <a16:creationId xmlns:a16="http://schemas.microsoft.com/office/drawing/2014/main" id="{4FDF16B9-0DBD-43DE-85A0-E621E680DFDC}"/>
                  </a:ext>
                </a:extLst>
              </p:cNvPr>
              <p:cNvSpPr>
                <a:spLocks/>
              </p:cNvSpPr>
              <p:nvPr/>
            </p:nvSpPr>
            <p:spPr bwMode="auto">
              <a:xfrm>
                <a:off x="6471923" y="1992528"/>
                <a:ext cx="4552622" cy="3106772"/>
              </a:xfrm>
              <a:custGeom>
                <a:avLst/>
                <a:gdLst>
                  <a:gd name="T0" fmla="*/ 40 w 1414"/>
                  <a:gd name="T1" fmla="*/ 964 h 964"/>
                  <a:gd name="T2" fmla="*/ 0 w 1414"/>
                  <a:gd name="T3" fmla="*/ 924 h 964"/>
                  <a:gd name="T4" fmla="*/ 0 w 1414"/>
                  <a:gd name="T5" fmla="*/ 40 h 964"/>
                  <a:gd name="T6" fmla="*/ 40 w 1414"/>
                  <a:gd name="T7" fmla="*/ 0 h 964"/>
                  <a:gd name="T8" fmla="*/ 1373 w 1414"/>
                  <a:gd name="T9" fmla="*/ 0 h 964"/>
                  <a:gd name="T10" fmla="*/ 1414 w 1414"/>
                  <a:gd name="T11" fmla="*/ 40 h 964"/>
                  <a:gd name="T12" fmla="*/ 1414 w 1414"/>
                  <a:gd name="T13" fmla="*/ 924 h 964"/>
                  <a:gd name="T14" fmla="*/ 1373 w 1414"/>
                  <a:gd name="T15" fmla="*/ 964 h 964"/>
                  <a:gd name="T16" fmla="*/ 40 w 1414"/>
                  <a:gd name="T17" fmla="*/ 964 h 9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4" h="964">
                    <a:moveTo>
                      <a:pt x="40" y="964"/>
                    </a:moveTo>
                    <a:cubicBezTo>
                      <a:pt x="18" y="964"/>
                      <a:pt x="0" y="946"/>
                      <a:pt x="0" y="924"/>
                    </a:cubicBezTo>
                    <a:cubicBezTo>
                      <a:pt x="0" y="40"/>
                      <a:pt x="0" y="40"/>
                      <a:pt x="0" y="40"/>
                    </a:cubicBezTo>
                    <a:cubicBezTo>
                      <a:pt x="0" y="18"/>
                      <a:pt x="18" y="0"/>
                      <a:pt x="40" y="0"/>
                    </a:cubicBezTo>
                    <a:cubicBezTo>
                      <a:pt x="1373" y="0"/>
                      <a:pt x="1373" y="0"/>
                      <a:pt x="1373" y="0"/>
                    </a:cubicBezTo>
                    <a:cubicBezTo>
                      <a:pt x="1396" y="0"/>
                      <a:pt x="1414" y="18"/>
                      <a:pt x="1414" y="40"/>
                    </a:cubicBezTo>
                    <a:cubicBezTo>
                      <a:pt x="1414" y="924"/>
                      <a:pt x="1414" y="924"/>
                      <a:pt x="1414" y="924"/>
                    </a:cubicBezTo>
                    <a:cubicBezTo>
                      <a:pt x="1414" y="946"/>
                      <a:pt x="1396" y="964"/>
                      <a:pt x="1373" y="964"/>
                    </a:cubicBezTo>
                    <a:lnTo>
                      <a:pt x="40" y="964"/>
                    </a:lnTo>
                    <a:close/>
                  </a:path>
                </a:pathLst>
              </a:custGeom>
              <a:solidFill>
                <a:schemeClr val="bg1">
                  <a:lumMod val="85000"/>
                </a:scheme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900" b="0" i="0" u="none" strike="noStrike" kern="1200" cap="none" spc="0" normalizeH="0" baseline="0" noProof="0">
                  <a:ln>
                    <a:noFill/>
                  </a:ln>
                  <a:solidFill>
                    <a:srgbClr val="7F7F7F"/>
                  </a:solidFill>
                  <a:effectLst/>
                  <a:uLnTx/>
                  <a:uFillTx/>
                  <a:latin typeface="Roboto Light"/>
                  <a:ea typeface="微软雅黑"/>
                  <a:cs typeface="+mn-cs"/>
                </a:endParaRPr>
              </a:p>
            </p:txBody>
          </p:sp>
          <p:sp>
            <p:nvSpPr>
              <p:cNvPr id="41" name="Rectangle 50">
                <a:extLst>
                  <a:ext uri="{FF2B5EF4-FFF2-40B4-BE49-F238E27FC236}">
                    <a16:creationId xmlns:a16="http://schemas.microsoft.com/office/drawing/2014/main" id="{F090C5C1-ED14-48C2-A0C8-DFEA07C87413}"/>
                  </a:ext>
                </a:extLst>
              </p:cNvPr>
              <p:cNvSpPr>
                <a:spLocks noChangeArrowheads="1"/>
              </p:cNvSpPr>
              <p:nvPr/>
            </p:nvSpPr>
            <p:spPr bwMode="auto">
              <a:xfrm>
                <a:off x="5898415" y="5054180"/>
                <a:ext cx="5654530" cy="103129"/>
              </a:xfrm>
              <a:prstGeom prst="rect">
                <a:avLst/>
              </a:prstGeom>
              <a:solidFill>
                <a:schemeClr val="bg1">
                  <a:lumMod val="95000"/>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900" b="0" i="0" u="none" strike="noStrike" kern="1200" cap="none" spc="0" normalizeH="0" baseline="0" noProof="0">
                  <a:ln>
                    <a:noFill/>
                  </a:ln>
                  <a:solidFill>
                    <a:srgbClr val="7F7F7F"/>
                  </a:solidFill>
                  <a:effectLst/>
                  <a:uLnTx/>
                  <a:uFillTx/>
                  <a:latin typeface="Roboto Light"/>
                  <a:ea typeface="微软雅黑"/>
                  <a:cs typeface="+mn-cs"/>
                </a:endParaRPr>
              </a:p>
            </p:txBody>
          </p:sp>
          <p:sp>
            <p:nvSpPr>
              <p:cNvPr id="42" name="Freeform 51">
                <a:extLst>
                  <a:ext uri="{FF2B5EF4-FFF2-40B4-BE49-F238E27FC236}">
                    <a16:creationId xmlns:a16="http://schemas.microsoft.com/office/drawing/2014/main" id="{DB97A4B8-0420-40C3-A739-D1409C607B89}"/>
                  </a:ext>
                </a:extLst>
              </p:cNvPr>
              <p:cNvSpPr>
                <a:spLocks/>
              </p:cNvSpPr>
              <p:nvPr/>
            </p:nvSpPr>
            <p:spPr bwMode="auto">
              <a:xfrm>
                <a:off x="8318101" y="5054180"/>
                <a:ext cx="811932" cy="58010"/>
              </a:xfrm>
              <a:custGeom>
                <a:avLst/>
                <a:gdLst>
                  <a:gd name="T0" fmla="*/ 0 w 252"/>
                  <a:gd name="T1" fmla="*/ 0 h 18"/>
                  <a:gd name="T2" fmla="*/ 22 w 252"/>
                  <a:gd name="T3" fmla="*/ 18 h 18"/>
                  <a:gd name="T4" fmla="*/ 230 w 252"/>
                  <a:gd name="T5" fmla="*/ 18 h 18"/>
                  <a:gd name="T6" fmla="*/ 252 w 252"/>
                  <a:gd name="T7" fmla="*/ 0 h 18"/>
                  <a:gd name="T8" fmla="*/ 0 w 252"/>
                  <a:gd name="T9" fmla="*/ 0 h 18"/>
                </a:gdLst>
                <a:ahLst/>
                <a:cxnLst>
                  <a:cxn ang="0">
                    <a:pos x="T0" y="T1"/>
                  </a:cxn>
                  <a:cxn ang="0">
                    <a:pos x="T2" y="T3"/>
                  </a:cxn>
                  <a:cxn ang="0">
                    <a:pos x="T4" y="T5"/>
                  </a:cxn>
                  <a:cxn ang="0">
                    <a:pos x="T6" y="T7"/>
                  </a:cxn>
                  <a:cxn ang="0">
                    <a:pos x="T8" y="T9"/>
                  </a:cxn>
                </a:cxnLst>
                <a:rect l="0" t="0" r="r" b="b"/>
                <a:pathLst>
                  <a:path w="252" h="18">
                    <a:moveTo>
                      <a:pt x="0" y="0"/>
                    </a:moveTo>
                    <a:cubicBezTo>
                      <a:pt x="2" y="10"/>
                      <a:pt x="11" y="18"/>
                      <a:pt x="22" y="18"/>
                    </a:cubicBezTo>
                    <a:cubicBezTo>
                      <a:pt x="230" y="18"/>
                      <a:pt x="230" y="18"/>
                      <a:pt x="230" y="18"/>
                    </a:cubicBezTo>
                    <a:cubicBezTo>
                      <a:pt x="241" y="18"/>
                      <a:pt x="250" y="10"/>
                      <a:pt x="252" y="0"/>
                    </a:cubicBezTo>
                    <a:lnTo>
                      <a:pt x="0" y="0"/>
                    </a:lnTo>
                    <a:close/>
                  </a:path>
                </a:pathLst>
              </a:custGeom>
              <a:solidFill>
                <a:srgbClr val="B3B4B5"/>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900" b="0" i="0" u="none" strike="noStrike" kern="1200" cap="none" spc="0" normalizeH="0" baseline="0" noProof="0">
                  <a:ln>
                    <a:noFill/>
                  </a:ln>
                  <a:solidFill>
                    <a:srgbClr val="7F7F7F"/>
                  </a:solidFill>
                  <a:effectLst/>
                  <a:uLnTx/>
                  <a:uFillTx/>
                  <a:latin typeface="Roboto Light"/>
                  <a:ea typeface="微软雅黑"/>
                  <a:cs typeface="+mn-cs"/>
                </a:endParaRPr>
              </a:p>
            </p:txBody>
          </p:sp>
          <p:sp>
            <p:nvSpPr>
              <p:cNvPr id="43" name="Rectangle 52">
                <a:extLst>
                  <a:ext uri="{FF2B5EF4-FFF2-40B4-BE49-F238E27FC236}">
                    <a16:creationId xmlns:a16="http://schemas.microsoft.com/office/drawing/2014/main" id="{A11CBA78-D0A9-4E58-901C-FE2B2F235EAB}"/>
                  </a:ext>
                </a:extLst>
              </p:cNvPr>
              <p:cNvSpPr>
                <a:spLocks noChangeArrowheads="1"/>
              </p:cNvSpPr>
              <p:nvPr/>
            </p:nvSpPr>
            <p:spPr bwMode="auto">
              <a:xfrm>
                <a:off x="6623354" y="2189119"/>
                <a:ext cx="4249758" cy="2684587"/>
              </a:xfrm>
              <a:prstGeom prst="rect">
                <a:avLst/>
              </a:prstGeom>
              <a:solidFill>
                <a:schemeClr val="bg1">
                  <a:lumMod val="95000"/>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900" b="0" i="0" u="none" strike="noStrike" kern="1200" cap="none" spc="0" normalizeH="0" baseline="0" noProof="0">
                  <a:ln>
                    <a:noFill/>
                  </a:ln>
                  <a:solidFill>
                    <a:srgbClr val="7F7F7F"/>
                  </a:solidFill>
                  <a:effectLst/>
                  <a:uLnTx/>
                  <a:uFillTx/>
                  <a:latin typeface="Roboto Light"/>
                  <a:ea typeface="微软雅黑"/>
                  <a:cs typeface="+mn-cs"/>
                </a:endParaRPr>
              </a:p>
            </p:txBody>
          </p:sp>
          <p:sp>
            <p:nvSpPr>
              <p:cNvPr id="44" name="Oval 54">
                <a:extLst>
                  <a:ext uri="{FF2B5EF4-FFF2-40B4-BE49-F238E27FC236}">
                    <a16:creationId xmlns:a16="http://schemas.microsoft.com/office/drawing/2014/main" id="{20C43813-AFF6-4E9B-B689-063FECE56148}"/>
                  </a:ext>
                </a:extLst>
              </p:cNvPr>
              <p:cNvSpPr>
                <a:spLocks noChangeArrowheads="1"/>
              </p:cNvSpPr>
              <p:nvPr/>
            </p:nvSpPr>
            <p:spPr bwMode="auto">
              <a:xfrm>
                <a:off x="8720847" y="2076321"/>
                <a:ext cx="48330" cy="48343"/>
              </a:xfrm>
              <a:prstGeom prst="ellipse">
                <a:avLst/>
              </a:prstGeom>
              <a:solidFill>
                <a:srgbClr val="2C2C2C"/>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900" b="0" i="0" u="none" strike="noStrike" kern="1200" cap="none" spc="0" normalizeH="0" baseline="0" noProof="0">
                  <a:ln>
                    <a:noFill/>
                  </a:ln>
                  <a:solidFill>
                    <a:srgbClr val="7F7F7F"/>
                  </a:solidFill>
                  <a:effectLst/>
                  <a:uLnTx/>
                  <a:uFillTx/>
                  <a:latin typeface="Roboto Light"/>
                  <a:ea typeface="微软雅黑"/>
                  <a:cs typeface="+mn-cs"/>
                </a:endParaRPr>
              </a:p>
            </p:txBody>
          </p:sp>
          <p:sp>
            <p:nvSpPr>
              <p:cNvPr id="45" name="Oval 55">
                <a:extLst>
                  <a:ext uri="{FF2B5EF4-FFF2-40B4-BE49-F238E27FC236}">
                    <a16:creationId xmlns:a16="http://schemas.microsoft.com/office/drawing/2014/main" id="{688ACD07-292E-4894-B6B3-4B9147790BF7}"/>
                  </a:ext>
                </a:extLst>
              </p:cNvPr>
              <p:cNvSpPr>
                <a:spLocks noChangeArrowheads="1"/>
              </p:cNvSpPr>
              <p:nvPr/>
            </p:nvSpPr>
            <p:spPr bwMode="auto">
              <a:xfrm>
                <a:off x="8720847" y="2073099"/>
                <a:ext cx="48330" cy="45119"/>
              </a:xfrm>
              <a:prstGeom prst="ellipse">
                <a:avLst/>
              </a:prstGeom>
              <a:solidFill>
                <a:srgbClr val="0A0A0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900" b="0" i="0" u="none" strike="noStrike" kern="1200" cap="none" spc="0" normalizeH="0" baseline="0" noProof="0">
                  <a:ln>
                    <a:noFill/>
                  </a:ln>
                  <a:solidFill>
                    <a:srgbClr val="7F7F7F"/>
                  </a:solidFill>
                  <a:effectLst/>
                  <a:uLnTx/>
                  <a:uFillTx/>
                  <a:latin typeface="Roboto Light"/>
                  <a:ea typeface="微软雅黑"/>
                  <a:cs typeface="+mn-cs"/>
                </a:endParaRPr>
              </a:p>
            </p:txBody>
          </p:sp>
          <p:sp>
            <p:nvSpPr>
              <p:cNvPr id="46" name="Oval 56">
                <a:extLst>
                  <a:ext uri="{FF2B5EF4-FFF2-40B4-BE49-F238E27FC236}">
                    <a16:creationId xmlns:a16="http://schemas.microsoft.com/office/drawing/2014/main" id="{B7DF9FA7-120A-4229-99A3-5B86455D3DB0}"/>
                  </a:ext>
                </a:extLst>
              </p:cNvPr>
              <p:cNvSpPr>
                <a:spLocks noChangeArrowheads="1"/>
              </p:cNvSpPr>
              <p:nvPr/>
            </p:nvSpPr>
            <p:spPr bwMode="auto">
              <a:xfrm>
                <a:off x="8730511" y="2079544"/>
                <a:ext cx="28999" cy="32228"/>
              </a:xfrm>
              <a:prstGeom prst="ellipse">
                <a:avLst/>
              </a:pr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900" b="0" i="0" u="none" strike="noStrike" kern="1200" cap="none" spc="0" normalizeH="0" baseline="0" noProof="0">
                  <a:ln>
                    <a:noFill/>
                  </a:ln>
                  <a:solidFill>
                    <a:srgbClr val="7F7F7F"/>
                  </a:solidFill>
                  <a:effectLst/>
                  <a:uLnTx/>
                  <a:uFillTx/>
                  <a:latin typeface="Roboto Light"/>
                  <a:ea typeface="微软雅黑"/>
                  <a:cs typeface="+mn-cs"/>
                </a:endParaRPr>
              </a:p>
            </p:txBody>
          </p:sp>
          <p:sp>
            <p:nvSpPr>
              <p:cNvPr id="47" name="Oval 57">
                <a:extLst>
                  <a:ext uri="{FF2B5EF4-FFF2-40B4-BE49-F238E27FC236}">
                    <a16:creationId xmlns:a16="http://schemas.microsoft.com/office/drawing/2014/main" id="{389F3DCB-FA94-4D9E-8310-1C8E63BBFF1A}"/>
                  </a:ext>
                </a:extLst>
              </p:cNvPr>
              <p:cNvSpPr>
                <a:spLocks noChangeArrowheads="1"/>
              </p:cNvSpPr>
              <p:nvPr/>
            </p:nvSpPr>
            <p:spPr bwMode="auto">
              <a:xfrm>
                <a:off x="8736955" y="2089212"/>
                <a:ext cx="16111" cy="16115"/>
              </a:xfrm>
              <a:prstGeom prst="ellipse">
                <a:avLst/>
              </a:prstGeom>
              <a:solidFill>
                <a:srgbClr val="2C99B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900" b="0" i="0" u="none" strike="noStrike" kern="1200" cap="none" spc="0" normalizeH="0" baseline="0" noProof="0">
                  <a:ln>
                    <a:noFill/>
                  </a:ln>
                  <a:solidFill>
                    <a:srgbClr val="7F7F7F"/>
                  </a:solidFill>
                  <a:effectLst/>
                  <a:uLnTx/>
                  <a:uFillTx/>
                  <a:latin typeface="Roboto Light"/>
                  <a:ea typeface="微软雅黑"/>
                  <a:cs typeface="+mn-cs"/>
                </a:endParaRPr>
              </a:p>
            </p:txBody>
          </p:sp>
          <p:sp>
            <p:nvSpPr>
              <p:cNvPr id="48" name="Freeform 58">
                <a:extLst>
                  <a:ext uri="{FF2B5EF4-FFF2-40B4-BE49-F238E27FC236}">
                    <a16:creationId xmlns:a16="http://schemas.microsoft.com/office/drawing/2014/main" id="{65603B08-DAED-43DA-A17B-CFF175CE870E}"/>
                  </a:ext>
                </a:extLst>
              </p:cNvPr>
              <p:cNvSpPr>
                <a:spLocks/>
              </p:cNvSpPr>
              <p:nvPr/>
            </p:nvSpPr>
            <p:spPr bwMode="auto">
              <a:xfrm>
                <a:off x="8743399" y="2092436"/>
                <a:ext cx="3223" cy="6446"/>
              </a:xfrm>
              <a:custGeom>
                <a:avLst/>
                <a:gdLst>
                  <a:gd name="T0" fmla="*/ 1 w 1"/>
                  <a:gd name="T1" fmla="*/ 1 h 2"/>
                  <a:gd name="T2" fmla="*/ 1 w 1"/>
                  <a:gd name="T3" fmla="*/ 2 h 2"/>
                  <a:gd name="T4" fmla="*/ 0 w 1"/>
                  <a:gd name="T5" fmla="*/ 1 h 2"/>
                  <a:gd name="T6" fmla="*/ 1 w 1"/>
                  <a:gd name="T7" fmla="*/ 0 h 2"/>
                  <a:gd name="T8" fmla="*/ 1 w 1"/>
                  <a:gd name="T9" fmla="*/ 1 h 2"/>
                </a:gdLst>
                <a:ahLst/>
                <a:cxnLst>
                  <a:cxn ang="0">
                    <a:pos x="T0" y="T1"/>
                  </a:cxn>
                  <a:cxn ang="0">
                    <a:pos x="T2" y="T3"/>
                  </a:cxn>
                  <a:cxn ang="0">
                    <a:pos x="T4" y="T5"/>
                  </a:cxn>
                  <a:cxn ang="0">
                    <a:pos x="T6" y="T7"/>
                  </a:cxn>
                  <a:cxn ang="0">
                    <a:pos x="T8" y="T9"/>
                  </a:cxn>
                </a:cxnLst>
                <a:rect l="0" t="0" r="r" b="b"/>
                <a:pathLst>
                  <a:path w="1" h="2">
                    <a:moveTo>
                      <a:pt x="1" y="1"/>
                    </a:moveTo>
                    <a:lnTo>
                      <a:pt x="1" y="2"/>
                    </a:lnTo>
                    <a:lnTo>
                      <a:pt x="0" y="1"/>
                    </a:lnTo>
                    <a:lnTo>
                      <a:pt x="1" y="0"/>
                    </a:lnTo>
                    <a:lnTo>
                      <a:pt x="1" y="1"/>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900" b="0" i="0" u="none" strike="noStrike" kern="1200" cap="none" spc="0" normalizeH="0" baseline="0" noProof="0">
                  <a:ln>
                    <a:noFill/>
                  </a:ln>
                  <a:solidFill>
                    <a:srgbClr val="7F7F7F"/>
                  </a:solidFill>
                  <a:effectLst/>
                  <a:uLnTx/>
                  <a:uFillTx/>
                  <a:latin typeface="Roboto Light"/>
                  <a:ea typeface="微软雅黑"/>
                  <a:cs typeface="+mn-cs"/>
                </a:endParaRPr>
              </a:p>
            </p:txBody>
          </p:sp>
        </p:grpSp>
        <p:pic>
          <p:nvPicPr>
            <p:cNvPr id="24" name="图片 23"/>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433418" y="2648028"/>
              <a:ext cx="3353490" cy="2146374"/>
            </a:xfrm>
            <a:prstGeom prst="rect">
              <a:avLst/>
            </a:prstGeom>
          </p:spPr>
        </p:pic>
        <p:sp>
          <p:nvSpPr>
            <p:cNvPr id="25" name="文本框 24"/>
            <p:cNvSpPr txBox="1"/>
            <p:nvPr/>
          </p:nvSpPr>
          <p:spPr>
            <a:xfrm>
              <a:off x="4996958" y="4428086"/>
              <a:ext cx="2184356" cy="330410"/>
            </a:xfrm>
            <a:prstGeom prst="rect">
              <a:avLst/>
            </a:prstGeom>
            <a:noFill/>
          </p:spPr>
          <p:txBody>
            <a:bodyPr wrap="square" rtlCol="0">
              <a:spAutoFit/>
            </a:bodyPr>
            <a:lstStyle/>
            <a:p>
              <a:r>
                <a:rPr lang="en-US" altLang="zh-CN" dirty="0">
                  <a:solidFill>
                    <a:schemeClr val="bg1"/>
                  </a:solidFill>
                  <a:latin typeface="+mn-ea"/>
                </a:rPr>
                <a:t>NLP</a:t>
              </a:r>
              <a:r>
                <a:rPr lang="zh-CN" altLang="en-US" dirty="0">
                  <a:solidFill>
                    <a:schemeClr val="bg1"/>
                  </a:solidFill>
                  <a:latin typeface="+mn-ea"/>
                </a:rPr>
                <a:t>芝麻街欢迎你</a:t>
              </a:r>
              <a:endParaRPr lang="zh-CN" altLang="en-US" sz="2800" dirty="0">
                <a:solidFill>
                  <a:schemeClr val="bg1"/>
                </a:solidFill>
                <a:latin typeface="+mn-ea"/>
              </a:endParaRPr>
            </a:p>
          </p:txBody>
        </p:sp>
      </p:grpSp>
    </p:spTree>
    <p:extLst>
      <p:ext uri="{BB962C8B-B14F-4D97-AF65-F5344CB8AC3E}">
        <p14:creationId xmlns:p14="http://schemas.microsoft.com/office/powerpoint/2010/main" val="334525009"/>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文本框 19"/>
          <p:cNvSpPr txBox="1"/>
          <p:nvPr/>
        </p:nvSpPr>
        <p:spPr>
          <a:xfrm>
            <a:off x="1071199" y="457068"/>
            <a:ext cx="2560316" cy="523220"/>
          </a:xfrm>
          <a:prstGeom prst="rect">
            <a:avLst/>
          </a:prstGeom>
          <a:noFill/>
        </p:spPr>
        <p:txBody>
          <a:bodyPr wrap="none" rtlCol="0">
            <a:spAutoFit/>
          </a:bodyPr>
          <a:lstStyle/>
          <a:p>
            <a:pPr lvl="0">
              <a:defRPr/>
            </a:pPr>
            <a:r>
              <a:rPr kumimoji="0" lang="zh-CN" altLang="en-US" sz="2800" b="1" i="0" u="none" strike="noStrike" kern="1200" cap="none" spc="0" normalizeH="0" baseline="0" noProof="0" dirty="0">
                <a:ln>
                  <a:noFill/>
                </a:ln>
                <a:solidFill>
                  <a:srgbClr val="4D3F82"/>
                </a:solidFill>
                <a:effectLst/>
                <a:uLnTx/>
                <a:uFillTx/>
                <a:latin typeface="Calibri"/>
                <a:ea typeface="微软雅黑"/>
                <a:cs typeface="+mn-ea"/>
                <a:sym typeface="+mn-lt"/>
              </a:rPr>
              <a:t>认识</a:t>
            </a:r>
            <a:r>
              <a:rPr kumimoji="0" lang="en-US" altLang="zh-CN" sz="2800" b="1" i="0" u="none" strike="noStrike" kern="1200" cap="none" spc="0" normalizeH="0" baseline="0" noProof="0" dirty="0">
                <a:ln>
                  <a:noFill/>
                </a:ln>
                <a:solidFill>
                  <a:srgbClr val="4D3F82"/>
                </a:solidFill>
                <a:effectLst/>
                <a:uLnTx/>
                <a:uFillTx/>
                <a:latin typeface="Calibri"/>
                <a:ea typeface="微软雅黑"/>
                <a:cs typeface="+mn-ea"/>
                <a:sym typeface="+mn-lt"/>
              </a:rPr>
              <a:t>NLP</a:t>
            </a:r>
            <a:r>
              <a:rPr kumimoji="0" lang="zh-CN" altLang="en-US" sz="2800" b="1" i="0" u="none" strike="noStrike" kern="1200" cap="none" spc="0" normalizeH="0" baseline="0" noProof="0" dirty="0">
                <a:ln>
                  <a:noFill/>
                </a:ln>
                <a:solidFill>
                  <a:srgbClr val="4D3F82"/>
                </a:solidFill>
                <a:effectLst/>
                <a:uLnTx/>
                <a:uFillTx/>
                <a:latin typeface="Calibri"/>
                <a:ea typeface="微软雅黑"/>
                <a:cs typeface="+mn-ea"/>
                <a:sym typeface="+mn-lt"/>
              </a:rPr>
              <a:t>芝麻街</a:t>
            </a:r>
          </a:p>
        </p:txBody>
      </p:sp>
      <p:sp>
        <p:nvSpPr>
          <p:cNvPr id="6" name="椭圆 5">
            <a:extLst>
              <a:ext uri="{FF2B5EF4-FFF2-40B4-BE49-F238E27FC236}">
                <a16:creationId xmlns:a16="http://schemas.microsoft.com/office/drawing/2014/main" id="{DF773A56-49AF-444E-AF6D-49DFDB041C2E}"/>
              </a:ext>
            </a:extLst>
          </p:cNvPr>
          <p:cNvSpPr/>
          <p:nvPr/>
        </p:nvSpPr>
        <p:spPr>
          <a:xfrm>
            <a:off x="11073997" y="5889631"/>
            <a:ext cx="872276" cy="872276"/>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9723BAD4-F047-4320-87A0-E95852694C3F}"/>
              </a:ext>
            </a:extLst>
          </p:cNvPr>
          <p:cNvSpPr/>
          <p:nvPr/>
        </p:nvSpPr>
        <p:spPr>
          <a:xfrm rot="9430845">
            <a:off x="11432508" y="5123846"/>
            <a:ext cx="344849" cy="344849"/>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D4E3EEDC-7C8A-43DB-BD42-E8947B413BB8}"/>
              </a:ext>
            </a:extLst>
          </p:cNvPr>
          <p:cNvSpPr/>
          <p:nvPr/>
        </p:nvSpPr>
        <p:spPr>
          <a:xfrm rot="9430845">
            <a:off x="10447956" y="6589483"/>
            <a:ext cx="344849" cy="344849"/>
          </a:xfrm>
          <a:prstGeom prst="ellipse">
            <a:avLst/>
          </a:prstGeom>
          <a:solidFill>
            <a:srgbClr val="4D3F82"/>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EF07DB3A-3E81-4DC1-8E47-D5A7AB5ABD16}"/>
              </a:ext>
            </a:extLst>
          </p:cNvPr>
          <p:cNvSpPr/>
          <p:nvPr/>
        </p:nvSpPr>
        <p:spPr>
          <a:xfrm rot="9430845">
            <a:off x="528920" y="441278"/>
            <a:ext cx="503796" cy="511184"/>
          </a:xfrm>
          <a:prstGeom prst="ellipse">
            <a:avLst/>
          </a:prstGeom>
          <a:solidFill>
            <a:srgbClr val="4D3F8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FB187FA8-C04C-4322-891C-A741CEA371EC}"/>
              </a:ext>
            </a:extLst>
          </p:cNvPr>
          <p:cNvSpPr txBox="1"/>
          <p:nvPr/>
        </p:nvSpPr>
        <p:spPr>
          <a:xfrm>
            <a:off x="538162" y="466029"/>
            <a:ext cx="561265" cy="461665"/>
          </a:xfrm>
          <a:prstGeom prst="rect">
            <a:avLst/>
          </a:prstGeom>
          <a:noFill/>
        </p:spPr>
        <p:txBody>
          <a:bodyPr wrap="square" rtlCol="0">
            <a:spAutoFit/>
          </a:bodyPr>
          <a:lstStyle/>
          <a:p>
            <a:r>
              <a:rPr lang="en-US" altLang="zh-CN" sz="2400" dirty="0">
                <a:solidFill>
                  <a:schemeClr val="bg1"/>
                </a:solidFill>
                <a:latin typeface="Bauhaus 93" panose="04030905020B02020C02" pitchFamily="82" charset="0"/>
              </a:rPr>
              <a:t>01</a:t>
            </a:r>
            <a:endParaRPr lang="zh-CN" altLang="en-US" sz="2400" dirty="0">
              <a:solidFill>
                <a:schemeClr val="bg1"/>
              </a:solidFill>
              <a:latin typeface="Bauhaus 93" panose="04030905020B02020C02" pitchFamily="82" charset="0"/>
            </a:endParaRPr>
          </a:p>
        </p:txBody>
      </p:sp>
      <p:sp>
        <p:nvSpPr>
          <p:cNvPr id="37" name="椭圆 36">
            <a:extLst>
              <a:ext uri="{FF2B5EF4-FFF2-40B4-BE49-F238E27FC236}">
                <a16:creationId xmlns:a16="http://schemas.microsoft.com/office/drawing/2014/main" id="{7A007603-F3D9-40C8-B984-92A6C591C1ED}"/>
              </a:ext>
            </a:extLst>
          </p:cNvPr>
          <p:cNvSpPr/>
          <p:nvPr/>
        </p:nvSpPr>
        <p:spPr>
          <a:xfrm rot="14219635">
            <a:off x="-422765" y="-198887"/>
            <a:ext cx="872276" cy="872276"/>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6E536261-448B-42D2-AA47-008BC8415B5E}"/>
              </a:ext>
            </a:extLst>
          </p:cNvPr>
          <p:cNvSpPr/>
          <p:nvPr/>
        </p:nvSpPr>
        <p:spPr>
          <a:xfrm rot="14219635">
            <a:off x="367756" y="1142977"/>
            <a:ext cx="163510" cy="163510"/>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0" name="图片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359445"/>
            <a:ext cx="3374582" cy="537824"/>
          </a:xfrm>
          <a:prstGeom prst="rect">
            <a:avLst/>
          </a:prstGeom>
        </p:spPr>
      </p:pic>
      <p:pic>
        <p:nvPicPr>
          <p:cNvPr id="66" name="图片 6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51686" y="1749182"/>
            <a:ext cx="1983633" cy="2803083"/>
          </a:xfrm>
          <a:prstGeom prst="rect">
            <a:avLst/>
          </a:prstGeom>
        </p:spPr>
      </p:pic>
      <p:pic>
        <p:nvPicPr>
          <p:cNvPr id="67" name="图片 6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83269" y="1749182"/>
            <a:ext cx="2119265" cy="2791780"/>
          </a:xfrm>
          <a:prstGeom prst="rect">
            <a:avLst/>
          </a:prstGeom>
        </p:spPr>
      </p:pic>
      <p:pic>
        <p:nvPicPr>
          <p:cNvPr id="68" name="图片 6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249472" y="1759817"/>
            <a:ext cx="1974028" cy="2780000"/>
          </a:xfrm>
          <a:prstGeom prst="rect">
            <a:avLst/>
          </a:prstGeom>
        </p:spPr>
      </p:pic>
      <p:pic>
        <p:nvPicPr>
          <p:cNvPr id="69" name="图片 6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97651" y="1759816"/>
            <a:ext cx="2119266" cy="2797431"/>
          </a:xfrm>
          <a:prstGeom prst="rect">
            <a:avLst/>
          </a:prstGeom>
        </p:spPr>
      </p:pic>
      <p:sp>
        <p:nvSpPr>
          <p:cNvPr id="74" name="文本框 73"/>
          <p:cNvSpPr txBox="1"/>
          <p:nvPr/>
        </p:nvSpPr>
        <p:spPr>
          <a:xfrm>
            <a:off x="780818" y="4562708"/>
            <a:ext cx="1993027" cy="553998"/>
          </a:xfrm>
          <a:prstGeom prst="rect">
            <a:avLst/>
          </a:prstGeom>
          <a:noFill/>
        </p:spPr>
        <p:txBody>
          <a:bodyPr wrap="square" rtlCol="0">
            <a:spAutoFit/>
          </a:bodyPr>
          <a:lstStyle/>
          <a:p>
            <a:pPr>
              <a:lnSpc>
                <a:spcPct val="150000"/>
              </a:lnSpc>
            </a:pPr>
            <a:r>
              <a:rPr lang="zh-CN" altLang="en-US" sz="2000" dirty="0">
                <a:solidFill>
                  <a:schemeClr val="tx1">
                    <a:lumMod val="50000"/>
                  </a:schemeClr>
                </a:solidFill>
                <a:latin typeface="+mn-ea"/>
              </a:rPr>
              <a:t>采用双向</a:t>
            </a:r>
            <a:r>
              <a:rPr lang="en-US" altLang="zh-CN" sz="2000" dirty="0">
                <a:solidFill>
                  <a:schemeClr val="tx1">
                    <a:lumMod val="50000"/>
                  </a:schemeClr>
                </a:solidFill>
                <a:latin typeface="+mn-ea"/>
              </a:rPr>
              <a:t>LSTM</a:t>
            </a:r>
            <a:endParaRPr lang="zh-CN" altLang="en-US" sz="2000" dirty="0">
              <a:solidFill>
                <a:schemeClr val="tx1">
                  <a:lumMod val="50000"/>
                </a:schemeClr>
              </a:solidFill>
              <a:latin typeface="+mn-ea"/>
            </a:endParaRPr>
          </a:p>
        </p:txBody>
      </p:sp>
      <p:sp>
        <p:nvSpPr>
          <p:cNvPr id="75" name="文本框 74"/>
          <p:cNvSpPr txBox="1"/>
          <p:nvPr/>
        </p:nvSpPr>
        <p:spPr>
          <a:xfrm>
            <a:off x="3084795" y="4562708"/>
            <a:ext cx="2324679" cy="961289"/>
          </a:xfrm>
          <a:prstGeom prst="rect">
            <a:avLst/>
          </a:prstGeom>
          <a:noFill/>
        </p:spPr>
        <p:txBody>
          <a:bodyPr wrap="square" rtlCol="0">
            <a:spAutoFit/>
          </a:bodyPr>
          <a:lstStyle/>
          <a:p>
            <a:pPr>
              <a:lnSpc>
                <a:spcPct val="150000"/>
              </a:lnSpc>
            </a:pPr>
            <a:r>
              <a:rPr lang="zh-CN" altLang="en-US" sz="2000" dirty="0">
                <a:solidFill>
                  <a:schemeClr val="tx1">
                    <a:lumMod val="50000"/>
                  </a:schemeClr>
                </a:solidFill>
                <a:latin typeface="+mn-ea"/>
              </a:rPr>
              <a:t>采用</a:t>
            </a:r>
            <a:r>
              <a:rPr lang="en-US" altLang="zh-CN" sz="2000" dirty="0">
                <a:solidFill>
                  <a:schemeClr val="tx1">
                    <a:lumMod val="50000"/>
                  </a:schemeClr>
                </a:solidFill>
                <a:latin typeface="+mn-ea"/>
              </a:rPr>
              <a:t>Transformers</a:t>
            </a:r>
          </a:p>
          <a:p>
            <a:pPr>
              <a:lnSpc>
                <a:spcPct val="150000"/>
              </a:lnSpc>
            </a:pPr>
            <a:r>
              <a:rPr lang="zh-CN" altLang="en-US" sz="2000" dirty="0">
                <a:solidFill>
                  <a:schemeClr val="tx1">
                    <a:lumMod val="50000"/>
                  </a:schemeClr>
                </a:solidFill>
                <a:latin typeface="+mn-ea"/>
              </a:rPr>
              <a:t>（全局</a:t>
            </a:r>
            <a:r>
              <a:rPr lang="en-US" altLang="zh-CN" sz="2000" dirty="0">
                <a:solidFill>
                  <a:schemeClr val="tx1">
                    <a:lumMod val="50000"/>
                  </a:schemeClr>
                </a:solidFill>
                <a:latin typeface="+mn-ea"/>
              </a:rPr>
              <a:t>attention</a:t>
            </a:r>
            <a:r>
              <a:rPr lang="zh-CN" altLang="en-US" sz="2000" dirty="0">
                <a:solidFill>
                  <a:schemeClr val="tx1">
                    <a:lumMod val="50000"/>
                  </a:schemeClr>
                </a:solidFill>
                <a:latin typeface="+mn-ea"/>
              </a:rPr>
              <a:t>）</a:t>
            </a:r>
          </a:p>
        </p:txBody>
      </p:sp>
      <p:sp>
        <p:nvSpPr>
          <p:cNvPr id="76" name="文本框 75"/>
          <p:cNvSpPr txBox="1"/>
          <p:nvPr/>
        </p:nvSpPr>
        <p:spPr>
          <a:xfrm>
            <a:off x="5549028" y="4562708"/>
            <a:ext cx="2671869" cy="1015663"/>
          </a:xfrm>
          <a:prstGeom prst="rect">
            <a:avLst/>
          </a:prstGeom>
          <a:noFill/>
        </p:spPr>
        <p:txBody>
          <a:bodyPr wrap="square" rtlCol="0">
            <a:spAutoFit/>
          </a:bodyPr>
          <a:lstStyle/>
          <a:p>
            <a:pPr>
              <a:lnSpc>
                <a:spcPct val="150000"/>
              </a:lnSpc>
            </a:pPr>
            <a:r>
              <a:rPr lang="zh-CN" altLang="en-US" sz="2000" dirty="0">
                <a:solidFill>
                  <a:schemeClr val="tx1">
                    <a:lumMod val="50000"/>
                  </a:schemeClr>
                </a:solidFill>
                <a:latin typeface="+mn-ea"/>
              </a:rPr>
              <a:t>在</a:t>
            </a:r>
            <a:r>
              <a:rPr lang="en-US" altLang="zh-CN" sz="2000" dirty="0">
                <a:solidFill>
                  <a:schemeClr val="tx1">
                    <a:lumMod val="50000"/>
                  </a:schemeClr>
                </a:solidFill>
                <a:latin typeface="+mn-ea"/>
              </a:rPr>
              <a:t>BERT</a:t>
            </a:r>
            <a:r>
              <a:rPr lang="zh-CN" altLang="en-US" sz="2000" dirty="0">
                <a:solidFill>
                  <a:schemeClr val="tx1">
                    <a:lumMod val="50000"/>
                  </a:schemeClr>
                </a:solidFill>
                <a:latin typeface="+mn-ea"/>
              </a:rPr>
              <a:t>基础上，采用遮蔽词组</a:t>
            </a:r>
            <a:r>
              <a:rPr lang="en-US" altLang="zh-CN" sz="2000" dirty="0">
                <a:solidFill>
                  <a:schemeClr val="tx1">
                    <a:lumMod val="50000"/>
                  </a:schemeClr>
                </a:solidFill>
                <a:latin typeface="+mn-ea"/>
              </a:rPr>
              <a:t>&amp;</a:t>
            </a:r>
            <a:r>
              <a:rPr lang="zh-CN" altLang="en-US" sz="2000" dirty="0">
                <a:solidFill>
                  <a:schemeClr val="tx1">
                    <a:lumMod val="50000"/>
                  </a:schemeClr>
                </a:solidFill>
                <a:latin typeface="+mn-ea"/>
              </a:rPr>
              <a:t>中文语料</a:t>
            </a:r>
          </a:p>
        </p:txBody>
      </p:sp>
      <p:sp>
        <p:nvSpPr>
          <p:cNvPr id="77" name="文本框 76"/>
          <p:cNvSpPr txBox="1"/>
          <p:nvPr/>
        </p:nvSpPr>
        <p:spPr>
          <a:xfrm>
            <a:off x="8069901" y="4562708"/>
            <a:ext cx="2546431" cy="1015663"/>
          </a:xfrm>
          <a:prstGeom prst="rect">
            <a:avLst/>
          </a:prstGeom>
          <a:noFill/>
        </p:spPr>
        <p:txBody>
          <a:bodyPr wrap="square" rtlCol="0">
            <a:spAutoFit/>
          </a:bodyPr>
          <a:lstStyle/>
          <a:p>
            <a:pPr>
              <a:lnSpc>
                <a:spcPct val="150000"/>
              </a:lnSpc>
            </a:pPr>
            <a:r>
              <a:rPr lang="zh-CN" altLang="en-US" sz="2000" dirty="0">
                <a:solidFill>
                  <a:schemeClr val="tx1">
                    <a:lumMod val="50000"/>
                  </a:schemeClr>
                </a:solidFill>
                <a:latin typeface="+mn-ea"/>
              </a:rPr>
              <a:t>长序列</a:t>
            </a:r>
            <a:r>
              <a:rPr lang="en-US" altLang="zh-CN" sz="2000" dirty="0">
                <a:solidFill>
                  <a:schemeClr val="tx1">
                    <a:lumMod val="50000"/>
                  </a:schemeClr>
                </a:solidFill>
                <a:latin typeface="+mn-ea"/>
              </a:rPr>
              <a:t>Transformers</a:t>
            </a:r>
          </a:p>
          <a:p>
            <a:pPr>
              <a:lnSpc>
                <a:spcPct val="150000"/>
              </a:lnSpc>
            </a:pPr>
            <a:r>
              <a:rPr lang="zh-CN" altLang="en-US" sz="2000" dirty="0">
                <a:solidFill>
                  <a:schemeClr val="tx1">
                    <a:lumMod val="50000"/>
                  </a:schemeClr>
                </a:solidFill>
                <a:latin typeface="+mn-ea"/>
              </a:rPr>
              <a:t>（稀疏</a:t>
            </a:r>
            <a:r>
              <a:rPr lang="en-US" altLang="zh-CN" sz="2000" dirty="0">
                <a:solidFill>
                  <a:schemeClr val="tx1">
                    <a:lumMod val="50000"/>
                  </a:schemeClr>
                </a:solidFill>
                <a:latin typeface="+mn-ea"/>
              </a:rPr>
              <a:t>attention</a:t>
            </a:r>
            <a:r>
              <a:rPr lang="zh-CN" altLang="en-US" sz="2000" dirty="0">
                <a:solidFill>
                  <a:schemeClr val="tx1">
                    <a:lumMod val="50000"/>
                  </a:schemeClr>
                </a:solidFill>
                <a:latin typeface="+mn-ea"/>
              </a:rPr>
              <a:t>）</a:t>
            </a:r>
          </a:p>
        </p:txBody>
      </p:sp>
    </p:spTree>
    <p:extLst>
      <p:ext uri="{BB962C8B-B14F-4D97-AF65-F5344CB8AC3E}">
        <p14:creationId xmlns:p14="http://schemas.microsoft.com/office/powerpoint/2010/main" val="3537426136"/>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a16="http://schemas.microsoft.com/office/drawing/2014/main" id="{55164F64-BEF1-41A1-A6DD-02DF11269F12}"/>
              </a:ext>
            </a:extLst>
          </p:cNvPr>
          <p:cNvSpPr/>
          <p:nvPr/>
        </p:nvSpPr>
        <p:spPr>
          <a:xfrm>
            <a:off x="0" y="-1"/>
            <a:ext cx="12192000" cy="6858000"/>
          </a:xfrm>
          <a:prstGeom prst="rect">
            <a:avLst/>
          </a:prstGeom>
          <a:solidFill>
            <a:srgbClr val="4D3F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a:extLst>
              <a:ext uri="{FF2B5EF4-FFF2-40B4-BE49-F238E27FC236}">
                <a16:creationId xmlns:a16="http://schemas.microsoft.com/office/drawing/2014/main" id="{E92A6508-C4C2-46DE-9B0C-E4518948436E}"/>
              </a:ext>
            </a:extLst>
          </p:cNvPr>
          <p:cNvGrpSpPr/>
          <p:nvPr/>
        </p:nvGrpSpPr>
        <p:grpSpPr>
          <a:xfrm>
            <a:off x="0" y="2097911"/>
            <a:ext cx="12192000" cy="2662177"/>
            <a:chOff x="0" y="0"/>
            <a:chExt cx="12192000" cy="2662177"/>
          </a:xfrm>
        </p:grpSpPr>
        <p:sp>
          <p:nvSpPr>
            <p:cNvPr id="3" name="矩形 2">
              <a:extLst>
                <a:ext uri="{FF2B5EF4-FFF2-40B4-BE49-F238E27FC236}">
                  <a16:creationId xmlns:a16="http://schemas.microsoft.com/office/drawing/2014/main" id="{8132A4A6-78E0-4DB7-BB5C-5BB9EA399CFB}"/>
                </a:ext>
              </a:extLst>
            </p:cNvPr>
            <p:cNvSpPr/>
            <p:nvPr/>
          </p:nvSpPr>
          <p:spPr>
            <a:xfrm>
              <a:off x="0" y="0"/>
              <a:ext cx="12192000" cy="2662177"/>
            </a:xfrm>
            <a:prstGeom prst="rect">
              <a:avLst/>
            </a:prstGeom>
            <a:solidFill>
              <a:srgbClr val="CE45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a:extLst>
                <a:ext uri="{FF2B5EF4-FFF2-40B4-BE49-F238E27FC236}">
                  <a16:creationId xmlns:a16="http://schemas.microsoft.com/office/drawing/2014/main" id="{7F2B08F7-2990-4E6D-8F1E-1B5943E1E76F}"/>
                </a:ext>
              </a:extLst>
            </p:cNvPr>
            <p:cNvCxnSpPr/>
            <p:nvPr/>
          </p:nvCxnSpPr>
          <p:spPr>
            <a:xfrm>
              <a:off x="0" y="428263"/>
              <a:ext cx="12192000" cy="0"/>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8E583180-A716-43A9-B855-9425078598B0}"/>
                </a:ext>
              </a:extLst>
            </p:cNvPr>
            <p:cNvCxnSpPr/>
            <p:nvPr/>
          </p:nvCxnSpPr>
          <p:spPr>
            <a:xfrm>
              <a:off x="0" y="939478"/>
              <a:ext cx="12192000" cy="0"/>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FDC324B6-918C-4E6F-8EFB-0278E6C3FA7C}"/>
                </a:ext>
              </a:extLst>
            </p:cNvPr>
            <p:cNvCxnSpPr/>
            <p:nvPr/>
          </p:nvCxnSpPr>
          <p:spPr>
            <a:xfrm>
              <a:off x="0" y="1450693"/>
              <a:ext cx="12192000" cy="0"/>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0EFF3A5C-D2DE-49B9-9027-C8C7C633A4DB}"/>
                </a:ext>
              </a:extLst>
            </p:cNvPr>
            <p:cNvCxnSpPr/>
            <p:nvPr/>
          </p:nvCxnSpPr>
          <p:spPr>
            <a:xfrm>
              <a:off x="0" y="1961908"/>
              <a:ext cx="12192000" cy="0"/>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61D76C6B-C0C1-41D0-881A-C1E9D8ED664C}"/>
                </a:ext>
              </a:extLst>
            </p:cNvPr>
            <p:cNvCxnSpPr/>
            <p:nvPr/>
          </p:nvCxnSpPr>
          <p:spPr>
            <a:xfrm>
              <a:off x="590309"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9A805BFF-524B-48F9-B47E-B94AB6AFB031}"/>
                </a:ext>
              </a:extLst>
            </p:cNvPr>
            <p:cNvCxnSpPr/>
            <p:nvPr/>
          </p:nvCxnSpPr>
          <p:spPr>
            <a:xfrm>
              <a:off x="1170972"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9BE2AA2F-8430-4DB9-AE3A-5FC1FC51807F}"/>
                </a:ext>
              </a:extLst>
            </p:cNvPr>
            <p:cNvCxnSpPr/>
            <p:nvPr/>
          </p:nvCxnSpPr>
          <p:spPr>
            <a:xfrm>
              <a:off x="1751635"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0ADC280E-A58D-4AB2-8545-ABD30653DE3A}"/>
                </a:ext>
              </a:extLst>
            </p:cNvPr>
            <p:cNvCxnSpPr/>
            <p:nvPr/>
          </p:nvCxnSpPr>
          <p:spPr>
            <a:xfrm>
              <a:off x="2332298"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43E2A3D7-72C6-43BE-AF7A-CD631D4FD3FF}"/>
                </a:ext>
              </a:extLst>
            </p:cNvPr>
            <p:cNvCxnSpPr/>
            <p:nvPr/>
          </p:nvCxnSpPr>
          <p:spPr>
            <a:xfrm>
              <a:off x="2912961"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416D857C-603E-46D4-9E3C-329BF93FA47F}"/>
                </a:ext>
              </a:extLst>
            </p:cNvPr>
            <p:cNvCxnSpPr/>
            <p:nvPr/>
          </p:nvCxnSpPr>
          <p:spPr>
            <a:xfrm>
              <a:off x="3493624"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448B7987-5E53-472E-B89C-7D3F40D34EAD}"/>
                </a:ext>
              </a:extLst>
            </p:cNvPr>
            <p:cNvCxnSpPr/>
            <p:nvPr/>
          </p:nvCxnSpPr>
          <p:spPr>
            <a:xfrm>
              <a:off x="4074287"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75407F92-E9FA-42C8-88B6-34D254B700E4}"/>
                </a:ext>
              </a:extLst>
            </p:cNvPr>
            <p:cNvCxnSpPr/>
            <p:nvPr/>
          </p:nvCxnSpPr>
          <p:spPr>
            <a:xfrm>
              <a:off x="4654950"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E2C2CB76-049F-4583-9F8C-3462CD54E821}"/>
                </a:ext>
              </a:extLst>
            </p:cNvPr>
            <p:cNvCxnSpPr/>
            <p:nvPr/>
          </p:nvCxnSpPr>
          <p:spPr>
            <a:xfrm>
              <a:off x="5235613"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054C728B-6510-4168-97C1-232AEC30CE3A}"/>
                </a:ext>
              </a:extLst>
            </p:cNvPr>
            <p:cNvCxnSpPr/>
            <p:nvPr/>
          </p:nvCxnSpPr>
          <p:spPr>
            <a:xfrm>
              <a:off x="5816276"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A0A3F8EB-EF69-4A3A-BF55-E98B8459CE09}"/>
                </a:ext>
              </a:extLst>
            </p:cNvPr>
            <p:cNvCxnSpPr/>
            <p:nvPr/>
          </p:nvCxnSpPr>
          <p:spPr>
            <a:xfrm>
              <a:off x="6396939"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5C88CF4F-98A9-4E94-A21A-787ECE2C3238}"/>
                </a:ext>
              </a:extLst>
            </p:cNvPr>
            <p:cNvCxnSpPr/>
            <p:nvPr/>
          </p:nvCxnSpPr>
          <p:spPr>
            <a:xfrm>
              <a:off x="6977602"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212753DC-2381-4531-A177-2293D0078626}"/>
                </a:ext>
              </a:extLst>
            </p:cNvPr>
            <p:cNvCxnSpPr/>
            <p:nvPr/>
          </p:nvCxnSpPr>
          <p:spPr>
            <a:xfrm>
              <a:off x="7558265"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1708E870-C5C3-434A-BFD1-D7A7793BDE48}"/>
                </a:ext>
              </a:extLst>
            </p:cNvPr>
            <p:cNvCxnSpPr/>
            <p:nvPr/>
          </p:nvCxnSpPr>
          <p:spPr>
            <a:xfrm>
              <a:off x="8138928"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CE3A6AF3-3FE4-4C58-82B0-3811BDEBBADF}"/>
                </a:ext>
              </a:extLst>
            </p:cNvPr>
            <p:cNvCxnSpPr/>
            <p:nvPr/>
          </p:nvCxnSpPr>
          <p:spPr>
            <a:xfrm>
              <a:off x="8719591"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77244BD5-43DD-4E23-BDDE-6DB84D67B88D}"/>
                </a:ext>
              </a:extLst>
            </p:cNvPr>
            <p:cNvCxnSpPr/>
            <p:nvPr/>
          </p:nvCxnSpPr>
          <p:spPr>
            <a:xfrm>
              <a:off x="9300254"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347F9664-D2F3-4775-989A-6E14ADD4356A}"/>
                </a:ext>
              </a:extLst>
            </p:cNvPr>
            <p:cNvCxnSpPr/>
            <p:nvPr/>
          </p:nvCxnSpPr>
          <p:spPr>
            <a:xfrm>
              <a:off x="9880917"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3120FA74-E9E3-4AE4-B8AF-6D8C29392C1E}"/>
                </a:ext>
              </a:extLst>
            </p:cNvPr>
            <p:cNvCxnSpPr/>
            <p:nvPr/>
          </p:nvCxnSpPr>
          <p:spPr>
            <a:xfrm>
              <a:off x="10461580"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AF693444-EB4D-42CF-AD2F-A47C04F4353C}"/>
                </a:ext>
              </a:extLst>
            </p:cNvPr>
            <p:cNvCxnSpPr/>
            <p:nvPr/>
          </p:nvCxnSpPr>
          <p:spPr>
            <a:xfrm>
              <a:off x="11042243"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2FDFE81F-E0DB-4238-A1CB-4EACD0EDD01B}"/>
                </a:ext>
              </a:extLst>
            </p:cNvPr>
            <p:cNvCxnSpPr/>
            <p:nvPr/>
          </p:nvCxnSpPr>
          <p:spPr>
            <a:xfrm>
              <a:off x="11622906"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grpSp>
      <p:sp>
        <p:nvSpPr>
          <p:cNvPr id="29" name="矩形 28">
            <a:extLst>
              <a:ext uri="{FF2B5EF4-FFF2-40B4-BE49-F238E27FC236}">
                <a16:creationId xmlns:a16="http://schemas.microsoft.com/office/drawing/2014/main" id="{6443A7B5-2534-4A93-8180-11DCF023065C}"/>
              </a:ext>
            </a:extLst>
          </p:cNvPr>
          <p:cNvSpPr/>
          <p:nvPr/>
        </p:nvSpPr>
        <p:spPr>
          <a:xfrm>
            <a:off x="2332301" y="1241385"/>
            <a:ext cx="7527399" cy="4375230"/>
          </a:xfrm>
          <a:prstGeom prst="rect">
            <a:avLst/>
          </a:prstGeom>
          <a:solidFill>
            <a:srgbClr val="4D3F82"/>
          </a:solidFill>
          <a:ln>
            <a:noFill/>
          </a:ln>
          <a:effectLst>
            <a:outerShdw blurRad="63500" sx="106000" sy="106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a:extLst>
              <a:ext uri="{FF2B5EF4-FFF2-40B4-BE49-F238E27FC236}">
                <a16:creationId xmlns:a16="http://schemas.microsoft.com/office/drawing/2014/main" id="{2C10FBED-D4ED-4A8F-9A64-839ABD83AE70}"/>
              </a:ext>
            </a:extLst>
          </p:cNvPr>
          <p:cNvSpPr txBox="1"/>
          <p:nvPr/>
        </p:nvSpPr>
        <p:spPr>
          <a:xfrm>
            <a:off x="4407055" y="2779163"/>
            <a:ext cx="2882097" cy="769441"/>
          </a:xfrm>
          <a:prstGeom prst="rect">
            <a:avLst/>
          </a:prstGeom>
          <a:noFill/>
        </p:spPr>
        <p:txBody>
          <a:bodyPr wrap="square" rtlCol="0">
            <a:spAutoFit/>
          </a:bodyPr>
          <a:lstStyle/>
          <a:p>
            <a:pPr algn="ctr"/>
            <a:r>
              <a:rPr lang="en-US" altLang="zh-CN" sz="4400" b="1">
                <a:solidFill>
                  <a:srgbClr val="4D3F82"/>
                </a:solidFill>
                <a:latin typeface="Century Gothic" panose="020B0502020202020204" pitchFamily="34" charset="0"/>
              </a:rPr>
              <a:t>PART  01</a:t>
            </a:r>
            <a:endParaRPr lang="zh-CN" altLang="en-US" sz="4400" b="1">
              <a:solidFill>
                <a:srgbClr val="4D3F82"/>
              </a:solidFill>
              <a:latin typeface="Century Gothic" panose="020B0502020202020204" pitchFamily="34" charset="0"/>
            </a:endParaRPr>
          </a:p>
        </p:txBody>
      </p:sp>
      <p:sp>
        <p:nvSpPr>
          <p:cNvPr id="32" name="文本框 31">
            <a:extLst>
              <a:ext uri="{FF2B5EF4-FFF2-40B4-BE49-F238E27FC236}">
                <a16:creationId xmlns:a16="http://schemas.microsoft.com/office/drawing/2014/main" id="{5104F2DC-C794-4550-9679-A4FDA2310F94}"/>
              </a:ext>
            </a:extLst>
          </p:cNvPr>
          <p:cNvSpPr txBox="1"/>
          <p:nvPr/>
        </p:nvSpPr>
        <p:spPr>
          <a:xfrm>
            <a:off x="4751612" y="892224"/>
            <a:ext cx="2688776" cy="2646878"/>
          </a:xfrm>
          <a:prstGeom prst="rect">
            <a:avLst/>
          </a:prstGeom>
          <a:noFill/>
        </p:spPr>
        <p:txBody>
          <a:bodyPr wrap="square" rtlCol="0">
            <a:spAutoFit/>
          </a:bodyPr>
          <a:lstStyle/>
          <a:p>
            <a:pPr algn="ctr"/>
            <a:r>
              <a:rPr lang="en-US" altLang="zh-CN" sz="16600" dirty="0">
                <a:solidFill>
                  <a:schemeClr val="bg1"/>
                </a:solidFill>
                <a:latin typeface="Bauhaus 93" panose="04030905020B02020C02" pitchFamily="82" charset="0"/>
              </a:rPr>
              <a:t>02</a:t>
            </a:r>
            <a:endParaRPr lang="zh-CN" altLang="en-US" sz="16600" dirty="0">
              <a:solidFill>
                <a:schemeClr val="bg1"/>
              </a:solidFill>
              <a:latin typeface="Bauhaus 93" panose="04030905020B02020C02" pitchFamily="82" charset="0"/>
            </a:endParaRPr>
          </a:p>
        </p:txBody>
      </p:sp>
      <p:sp>
        <p:nvSpPr>
          <p:cNvPr id="34" name="椭圆 33">
            <a:extLst>
              <a:ext uri="{FF2B5EF4-FFF2-40B4-BE49-F238E27FC236}">
                <a16:creationId xmlns:a16="http://schemas.microsoft.com/office/drawing/2014/main" id="{695E17C3-B4C6-4AB9-9EB5-BD6A63284E90}"/>
              </a:ext>
            </a:extLst>
          </p:cNvPr>
          <p:cNvSpPr/>
          <p:nvPr/>
        </p:nvSpPr>
        <p:spPr>
          <a:xfrm rot="2557811">
            <a:off x="9061044" y="5322088"/>
            <a:ext cx="478420" cy="478420"/>
          </a:xfrm>
          <a:prstGeom prst="ellipse">
            <a:avLst/>
          </a:prstGeom>
          <a:solidFill>
            <a:srgbClr val="CE4569"/>
          </a:solidFill>
          <a:ln>
            <a:noFill/>
          </a:ln>
          <a:effectLst>
            <a:outerShdw blurRad="50800" dist="1016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a:extLst>
              <a:ext uri="{FF2B5EF4-FFF2-40B4-BE49-F238E27FC236}">
                <a16:creationId xmlns:a16="http://schemas.microsoft.com/office/drawing/2014/main" id="{CC000E46-6AF4-4594-A9DF-80A429D9E045}"/>
              </a:ext>
            </a:extLst>
          </p:cNvPr>
          <p:cNvSpPr/>
          <p:nvPr/>
        </p:nvSpPr>
        <p:spPr>
          <a:xfrm rot="2557811">
            <a:off x="924600" y="231320"/>
            <a:ext cx="1073409" cy="1073409"/>
          </a:xfrm>
          <a:prstGeom prst="ellipse">
            <a:avLst/>
          </a:prstGeom>
          <a:solidFill>
            <a:srgbClr val="CE4569"/>
          </a:solidFill>
          <a:ln>
            <a:noFill/>
          </a:ln>
          <a:effectLst>
            <a:outerShdw blurRad="50800" dist="38100" sx="105000" sy="1050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 35">
            <a:extLst>
              <a:ext uri="{FF2B5EF4-FFF2-40B4-BE49-F238E27FC236}">
                <a16:creationId xmlns:a16="http://schemas.microsoft.com/office/drawing/2014/main" id="{23C69A77-F915-4361-82AE-DD0CD44CE947}"/>
              </a:ext>
            </a:extLst>
          </p:cNvPr>
          <p:cNvSpPr/>
          <p:nvPr/>
        </p:nvSpPr>
        <p:spPr>
          <a:xfrm rot="8799648">
            <a:off x="1840248" y="5850403"/>
            <a:ext cx="429104" cy="429104"/>
          </a:xfrm>
          <a:prstGeom prst="ellipse">
            <a:avLst/>
          </a:prstGeom>
          <a:solidFill>
            <a:srgbClr val="CE4569"/>
          </a:solidFill>
          <a:ln>
            <a:noFill/>
          </a:ln>
          <a:effectLst>
            <a:outerShdw blurRad="50800" dist="38100" sx="105000" sy="1050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a:extLst>
              <a:ext uri="{FF2B5EF4-FFF2-40B4-BE49-F238E27FC236}">
                <a16:creationId xmlns:a16="http://schemas.microsoft.com/office/drawing/2014/main" id="{D7EF4AA4-688F-47C9-9020-B357F4A30475}"/>
              </a:ext>
            </a:extLst>
          </p:cNvPr>
          <p:cNvSpPr/>
          <p:nvPr/>
        </p:nvSpPr>
        <p:spPr>
          <a:xfrm rot="2962617">
            <a:off x="8947701" y="1420155"/>
            <a:ext cx="429104" cy="429104"/>
          </a:xfrm>
          <a:prstGeom prst="ellipse">
            <a:avLst/>
          </a:prstGeom>
          <a:solidFill>
            <a:srgbClr val="CE4569"/>
          </a:solidFill>
          <a:ln>
            <a:noFill/>
          </a:ln>
          <a:effectLst>
            <a:outerShdw blurRad="38100" dist="63500" dir="10800000" sx="101000" sy="101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2CB25251-652D-46A8-B19B-6DE6EEDF3EB6}"/>
              </a:ext>
            </a:extLst>
          </p:cNvPr>
          <p:cNvSpPr/>
          <p:nvPr/>
        </p:nvSpPr>
        <p:spPr>
          <a:xfrm rot="2962617">
            <a:off x="10610130" y="3019329"/>
            <a:ext cx="351210" cy="351210"/>
          </a:xfrm>
          <a:prstGeom prst="ellipse">
            <a:avLst/>
          </a:prstGeom>
          <a:solidFill>
            <a:srgbClr val="4D3F82"/>
          </a:solidFill>
          <a:ln>
            <a:noFill/>
          </a:ln>
          <a:effectLst>
            <a:outerShdw blurRad="38100" dist="63500" dir="10800000" sx="101000" sy="101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a:extLst>
              <a:ext uri="{FF2B5EF4-FFF2-40B4-BE49-F238E27FC236}">
                <a16:creationId xmlns:a16="http://schemas.microsoft.com/office/drawing/2014/main" id="{4591EE37-3ADC-4ADC-A525-CC8E9AF29EAA}"/>
              </a:ext>
            </a:extLst>
          </p:cNvPr>
          <p:cNvSpPr/>
          <p:nvPr/>
        </p:nvSpPr>
        <p:spPr>
          <a:xfrm rot="2962617">
            <a:off x="1982806" y="3709369"/>
            <a:ext cx="351210" cy="351210"/>
          </a:xfrm>
          <a:prstGeom prst="ellipse">
            <a:avLst/>
          </a:prstGeom>
          <a:solidFill>
            <a:srgbClr val="4D3F82"/>
          </a:solidFill>
          <a:ln>
            <a:noFill/>
          </a:ln>
          <a:effectLst>
            <a:outerShdw blurRad="38100" dist="63500" dir="10800000" sx="101000" sy="101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a:extLst>
              <a:ext uri="{FF2B5EF4-FFF2-40B4-BE49-F238E27FC236}">
                <a16:creationId xmlns:a16="http://schemas.microsoft.com/office/drawing/2014/main" id="{6FE2F28D-601C-4A36-8EAC-F80E8828B650}"/>
              </a:ext>
            </a:extLst>
          </p:cNvPr>
          <p:cNvSpPr txBox="1"/>
          <p:nvPr/>
        </p:nvSpPr>
        <p:spPr>
          <a:xfrm>
            <a:off x="4182894" y="3558106"/>
            <a:ext cx="3956034" cy="707886"/>
          </a:xfrm>
          <a:prstGeom prst="rect">
            <a:avLst/>
          </a:prstGeom>
          <a:noFill/>
        </p:spPr>
        <p:txBody>
          <a:bodyPr wrap="square" rtlCol="0">
            <a:spAutoFit/>
          </a:bodyPr>
          <a:lstStyle/>
          <a:p>
            <a:pPr algn="ctr"/>
            <a:r>
              <a:rPr lang="en-US" altLang="zh-CN" sz="4000" b="1" dirty="0">
                <a:solidFill>
                  <a:schemeClr val="bg1"/>
                </a:solidFill>
                <a:cs typeface="+mn-ea"/>
                <a:sym typeface="+mn-lt"/>
              </a:rPr>
              <a:t>Big Bird </a:t>
            </a:r>
            <a:r>
              <a:rPr lang="zh-CN" altLang="en-US" sz="4000" b="1" dirty="0">
                <a:solidFill>
                  <a:schemeClr val="bg1"/>
                </a:solidFill>
                <a:cs typeface="+mn-ea"/>
                <a:sym typeface="+mn-lt"/>
              </a:rPr>
              <a:t>简介</a:t>
            </a:r>
            <a:endParaRPr lang="zh-CN" altLang="en-US" sz="4000" spc="600" dirty="0">
              <a:solidFill>
                <a:schemeClr val="bg1"/>
              </a:solidFill>
              <a:latin typeface="微软雅黑" panose="020B0503020204020204" pitchFamily="34" charset="-122"/>
              <a:ea typeface="微软雅黑" panose="020B0503020204020204" pitchFamily="34" charset="-122"/>
            </a:endParaRPr>
          </a:p>
        </p:txBody>
      </p:sp>
      <p:pic>
        <p:nvPicPr>
          <p:cNvPr id="41" name="图片 4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17418" y="6320176"/>
            <a:ext cx="3374582" cy="537824"/>
          </a:xfrm>
          <a:prstGeom prst="rect">
            <a:avLst/>
          </a:prstGeom>
        </p:spPr>
      </p:pic>
    </p:spTree>
    <p:extLst>
      <p:ext uri="{BB962C8B-B14F-4D97-AF65-F5344CB8AC3E}">
        <p14:creationId xmlns:p14="http://schemas.microsoft.com/office/powerpoint/2010/main" val="243132818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randombar(horizontal)">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1000"/>
                                        <p:tgtEl>
                                          <p:spTgt spid="40"/>
                                        </p:tgtEl>
                                      </p:cBhvr>
                                    </p:animEffect>
                                    <p:anim calcmode="lin" valueType="num">
                                      <p:cBhvr>
                                        <p:cTn id="13" dur="1000" fill="hold"/>
                                        <p:tgtEl>
                                          <p:spTgt spid="40"/>
                                        </p:tgtEl>
                                        <p:attrNameLst>
                                          <p:attrName>ppt_x</p:attrName>
                                        </p:attrNameLst>
                                      </p:cBhvr>
                                      <p:tavLst>
                                        <p:tav tm="0">
                                          <p:val>
                                            <p:strVal val="#ppt_x"/>
                                          </p:val>
                                        </p:tav>
                                        <p:tav tm="100000">
                                          <p:val>
                                            <p:strVal val="#ppt_x"/>
                                          </p:val>
                                        </p:tav>
                                      </p:tavLst>
                                    </p:anim>
                                    <p:anim calcmode="lin" valueType="num">
                                      <p:cBhvr>
                                        <p:cTn id="14"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4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文本框 19"/>
          <p:cNvSpPr txBox="1"/>
          <p:nvPr/>
        </p:nvSpPr>
        <p:spPr>
          <a:xfrm>
            <a:off x="1071199" y="457068"/>
            <a:ext cx="2132763" cy="523220"/>
          </a:xfrm>
          <a:prstGeom prst="rect">
            <a:avLst/>
          </a:prstGeom>
          <a:noFill/>
        </p:spPr>
        <p:txBody>
          <a:bodyPr wrap="none" rtlCol="0">
            <a:spAutoFit/>
          </a:bodyPr>
          <a:lstStyle/>
          <a:p>
            <a:pPr lvl="0">
              <a:defRPr/>
            </a:pPr>
            <a:r>
              <a:rPr lang="en-US" altLang="zh-CN" sz="2800" b="1" dirty="0">
                <a:solidFill>
                  <a:srgbClr val="4D3F82"/>
                </a:solidFill>
                <a:cs typeface="+mn-ea"/>
                <a:sym typeface="+mn-lt"/>
              </a:rPr>
              <a:t>Big Bird </a:t>
            </a:r>
            <a:r>
              <a:rPr lang="zh-CN" altLang="en-US" sz="2800" b="1" dirty="0">
                <a:solidFill>
                  <a:srgbClr val="4D3F82"/>
                </a:solidFill>
                <a:cs typeface="+mn-ea"/>
                <a:sym typeface="+mn-lt"/>
              </a:rPr>
              <a:t>简介</a:t>
            </a:r>
            <a:endParaRPr kumimoji="0" lang="zh-CN" altLang="en-US" sz="2800" b="1" i="0" u="none" strike="noStrike" kern="1200" cap="none" spc="0" normalizeH="0" baseline="0" noProof="0" dirty="0">
              <a:ln>
                <a:noFill/>
              </a:ln>
              <a:solidFill>
                <a:srgbClr val="4D3F82"/>
              </a:solidFill>
              <a:effectLst/>
              <a:uLnTx/>
              <a:uFillTx/>
              <a:latin typeface="Calibri"/>
              <a:ea typeface="微软雅黑"/>
              <a:cs typeface="+mn-ea"/>
              <a:sym typeface="+mn-lt"/>
            </a:endParaRPr>
          </a:p>
        </p:txBody>
      </p:sp>
      <p:sp>
        <p:nvSpPr>
          <p:cNvPr id="6" name="椭圆 5">
            <a:extLst>
              <a:ext uri="{FF2B5EF4-FFF2-40B4-BE49-F238E27FC236}">
                <a16:creationId xmlns:a16="http://schemas.microsoft.com/office/drawing/2014/main" id="{DF773A56-49AF-444E-AF6D-49DFDB041C2E}"/>
              </a:ext>
            </a:extLst>
          </p:cNvPr>
          <p:cNvSpPr/>
          <p:nvPr/>
        </p:nvSpPr>
        <p:spPr>
          <a:xfrm>
            <a:off x="11073997" y="5889631"/>
            <a:ext cx="872276" cy="872276"/>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9723BAD4-F047-4320-87A0-E95852694C3F}"/>
              </a:ext>
            </a:extLst>
          </p:cNvPr>
          <p:cNvSpPr/>
          <p:nvPr/>
        </p:nvSpPr>
        <p:spPr>
          <a:xfrm rot="9430845">
            <a:off x="11432508" y="5123846"/>
            <a:ext cx="344849" cy="344849"/>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D4E3EEDC-7C8A-43DB-BD42-E8947B413BB8}"/>
              </a:ext>
            </a:extLst>
          </p:cNvPr>
          <p:cNvSpPr/>
          <p:nvPr/>
        </p:nvSpPr>
        <p:spPr>
          <a:xfrm rot="9430845">
            <a:off x="10447956" y="6589483"/>
            <a:ext cx="344849" cy="344849"/>
          </a:xfrm>
          <a:prstGeom prst="ellipse">
            <a:avLst/>
          </a:prstGeom>
          <a:solidFill>
            <a:srgbClr val="4D3F82"/>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EF07DB3A-3E81-4DC1-8E47-D5A7AB5ABD16}"/>
              </a:ext>
            </a:extLst>
          </p:cNvPr>
          <p:cNvSpPr/>
          <p:nvPr/>
        </p:nvSpPr>
        <p:spPr>
          <a:xfrm rot="9430845">
            <a:off x="528920" y="441278"/>
            <a:ext cx="503796" cy="511184"/>
          </a:xfrm>
          <a:prstGeom prst="ellipse">
            <a:avLst/>
          </a:prstGeom>
          <a:solidFill>
            <a:srgbClr val="4D3F8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FB187FA8-C04C-4322-891C-A741CEA371EC}"/>
              </a:ext>
            </a:extLst>
          </p:cNvPr>
          <p:cNvSpPr txBox="1"/>
          <p:nvPr/>
        </p:nvSpPr>
        <p:spPr>
          <a:xfrm>
            <a:off x="524715" y="466029"/>
            <a:ext cx="561265" cy="461665"/>
          </a:xfrm>
          <a:prstGeom prst="rect">
            <a:avLst/>
          </a:prstGeom>
          <a:noFill/>
        </p:spPr>
        <p:txBody>
          <a:bodyPr wrap="square" rtlCol="0">
            <a:spAutoFit/>
          </a:bodyPr>
          <a:lstStyle/>
          <a:p>
            <a:r>
              <a:rPr lang="en-US" altLang="zh-CN" sz="2400" dirty="0">
                <a:solidFill>
                  <a:schemeClr val="bg1"/>
                </a:solidFill>
                <a:latin typeface="Bauhaus 93" panose="04030905020B02020C02" pitchFamily="82" charset="0"/>
              </a:rPr>
              <a:t>02</a:t>
            </a:r>
            <a:endParaRPr lang="zh-CN" altLang="en-US" sz="2400" dirty="0">
              <a:solidFill>
                <a:schemeClr val="bg1"/>
              </a:solidFill>
              <a:latin typeface="Bauhaus 93" panose="04030905020B02020C02" pitchFamily="82" charset="0"/>
            </a:endParaRPr>
          </a:p>
        </p:txBody>
      </p:sp>
      <p:sp>
        <p:nvSpPr>
          <p:cNvPr id="37" name="椭圆 36">
            <a:extLst>
              <a:ext uri="{FF2B5EF4-FFF2-40B4-BE49-F238E27FC236}">
                <a16:creationId xmlns:a16="http://schemas.microsoft.com/office/drawing/2014/main" id="{7A007603-F3D9-40C8-B984-92A6C591C1ED}"/>
              </a:ext>
            </a:extLst>
          </p:cNvPr>
          <p:cNvSpPr/>
          <p:nvPr/>
        </p:nvSpPr>
        <p:spPr>
          <a:xfrm rot="14219635">
            <a:off x="-422765" y="-198887"/>
            <a:ext cx="872276" cy="872276"/>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6E536261-448B-42D2-AA47-008BC8415B5E}"/>
              </a:ext>
            </a:extLst>
          </p:cNvPr>
          <p:cNvSpPr/>
          <p:nvPr/>
        </p:nvSpPr>
        <p:spPr>
          <a:xfrm rot="14219635">
            <a:off x="367756" y="1142977"/>
            <a:ext cx="163510" cy="163510"/>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文本框 38"/>
          <p:cNvSpPr txBox="1"/>
          <p:nvPr/>
        </p:nvSpPr>
        <p:spPr>
          <a:xfrm>
            <a:off x="1071199" y="1440268"/>
            <a:ext cx="9961871" cy="1884618"/>
          </a:xfrm>
          <a:prstGeom prst="rect">
            <a:avLst/>
          </a:prstGeom>
          <a:noFill/>
        </p:spPr>
        <p:txBody>
          <a:bodyPr wrap="square" rtlCol="0">
            <a:spAutoFit/>
          </a:bodyPr>
          <a:lstStyle/>
          <a:p>
            <a:pPr>
              <a:lnSpc>
                <a:spcPct val="150000"/>
              </a:lnSpc>
            </a:pPr>
            <a:r>
              <a:rPr lang="en-US" altLang="zh-CN" sz="2000" dirty="0">
                <a:solidFill>
                  <a:schemeClr val="tx1">
                    <a:lumMod val="50000"/>
                  </a:schemeClr>
                </a:solidFill>
                <a:latin typeface="+mn-ea"/>
              </a:rPr>
              <a:t>BERT </a:t>
            </a:r>
            <a:r>
              <a:rPr lang="zh-CN" altLang="en-US" sz="2000" dirty="0">
                <a:solidFill>
                  <a:schemeClr val="tx1">
                    <a:lumMod val="50000"/>
                  </a:schemeClr>
                </a:solidFill>
                <a:latin typeface="+mn-ea"/>
              </a:rPr>
              <a:t>及其衍生模型被广泛应用于各类</a:t>
            </a:r>
            <a:r>
              <a:rPr lang="en-US" altLang="zh-CN" sz="2000" dirty="0">
                <a:solidFill>
                  <a:schemeClr val="tx1">
                    <a:lumMod val="50000"/>
                  </a:schemeClr>
                </a:solidFill>
                <a:latin typeface="+mn-ea"/>
              </a:rPr>
              <a:t>NLP</a:t>
            </a:r>
            <a:r>
              <a:rPr lang="zh-CN" altLang="en-US" sz="2000" dirty="0">
                <a:solidFill>
                  <a:schemeClr val="tx1">
                    <a:lumMod val="50000"/>
                  </a:schemeClr>
                </a:solidFill>
                <a:latin typeface="+mn-ea"/>
              </a:rPr>
              <a:t>任务中，并取得</a:t>
            </a:r>
            <a:r>
              <a:rPr lang="en-US" altLang="zh-CN" sz="2000" dirty="0">
                <a:solidFill>
                  <a:schemeClr val="tx1">
                    <a:lumMod val="50000"/>
                  </a:schemeClr>
                </a:solidFill>
                <a:latin typeface="+mn-ea"/>
              </a:rPr>
              <a:t>SOTA</a:t>
            </a:r>
            <a:r>
              <a:rPr lang="zh-CN" altLang="en-US" sz="2000" dirty="0">
                <a:solidFill>
                  <a:schemeClr val="tx1">
                    <a:lumMod val="50000"/>
                  </a:schemeClr>
                </a:solidFill>
                <a:latin typeface="+mn-ea"/>
              </a:rPr>
              <a:t>结果。</a:t>
            </a:r>
            <a:endParaRPr lang="en-US" altLang="zh-CN" sz="2000" dirty="0">
              <a:solidFill>
                <a:schemeClr val="tx1">
                  <a:lumMod val="50000"/>
                </a:schemeClr>
              </a:solidFill>
              <a:latin typeface="+mn-ea"/>
            </a:endParaRPr>
          </a:p>
          <a:p>
            <a:pPr>
              <a:lnSpc>
                <a:spcPct val="150000"/>
              </a:lnSpc>
            </a:pPr>
            <a:endParaRPr lang="en-US" altLang="zh-CN" sz="2000" dirty="0">
              <a:solidFill>
                <a:schemeClr val="tx1">
                  <a:lumMod val="50000"/>
                </a:schemeClr>
              </a:solidFill>
              <a:latin typeface="+mn-ea"/>
            </a:endParaRPr>
          </a:p>
          <a:p>
            <a:pPr>
              <a:lnSpc>
                <a:spcPct val="150000"/>
              </a:lnSpc>
            </a:pPr>
            <a:r>
              <a:rPr lang="zh-CN" altLang="en-US" sz="2000" dirty="0">
                <a:solidFill>
                  <a:schemeClr val="tx1">
                    <a:lumMod val="50000"/>
                  </a:schemeClr>
                </a:solidFill>
                <a:latin typeface="+mn-ea"/>
              </a:rPr>
              <a:t>全局</a:t>
            </a:r>
            <a:r>
              <a:rPr lang="en-US" altLang="zh-CN" sz="2000" dirty="0">
                <a:solidFill>
                  <a:schemeClr val="tx1">
                    <a:lumMod val="50000"/>
                  </a:schemeClr>
                </a:solidFill>
                <a:latin typeface="+mn-ea"/>
              </a:rPr>
              <a:t>attention</a:t>
            </a:r>
            <a:r>
              <a:rPr lang="zh-CN" altLang="en-US" sz="2000" dirty="0">
                <a:solidFill>
                  <a:schemeClr val="tx1">
                    <a:lumMod val="50000"/>
                  </a:schemeClr>
                </a:solidFill>
                <a:latin typeface="+mn-ea"/>
              </a:rPr>
              <a:t>的局限性：复杂度是序列长度的平方。文本过长（大于</a:t>
            </a:r>
            <a:r>
              <a:rPr lang="en-US" altLang="zh-CN" sz="2000" dirty="0">
                <a:solidFill>
                  <a:schemeClr val="tx1">
                    <a:lumMod val="50000"/>
                  </a:schemeClr>
                </a:solidFill>
                <a:latin typeface="+mn-ea"/>
              </a:rPr>
              <a:t>512</a:t>
            </a:r>
            <a:r>
              <a:rPr lang="zh-CN" altLang="en-US" sz="2000" dirty="0">
                <a:solidFill>
                  <a:schemeClr val="tx1">
                    <a:lumMod val="50000"/>
                  </a:schemeClr>
                </a:solidFill>
                <a:latin typeface="+mn-ea"/>
              </a:rPr>
              <a:t>），内存会爆，不适用于长文本应用场景。</a:t>
            </a:r>
          </a:p>
        </p:txBody>
      </p:sp>
      <p:pic>
        <p:nvPicPr>
          <p:cNvPr id="40" name="图片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359445"/>
            <a:ext cx="3374582" cy="537824"/>
          </a:xfrm>
          <a:prstGeom prst="rect">
            <a:avLst/>
          </a:prstGeom>
        </p:spPr>
      </p:pic>
      <p:sp>
        <p:nvSpPr>
          <p:cNvPr id="5" name="下箭头 4"/>
          <p:cNvSpPr/>
          <p:nvPr/>
        </p:nvSpPr>
        <p:spPr>
          <a:xfrm>
            <a:off x="5979023" y="4216974"/>
            <a:ext cx="497130" cy="906909"/>
          </a:xfrm>
          <a:prstGeom prst="downArrow">
            <a:avLst/>
          </a:prstGeom>
          <a:solidFill>
            <a:srgbClr val="4D3F8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3790969" y="5205743"/>
            <a:ext cx="4873238" cy="1015663"/>
          </a:xfrm>
          <a:prstGeom prst="rect">
            <a:avLst/>
          </a:prstGeom>
        </p:spPr>
        <p:txBody>
          <a:bodyPr wrap="square">
            <a:spAutoFit/>
          </a:bodyPr>
          <a:lstStyle/>
          <a:p>
            <a:pPr algn="ctr">
              <a:lnSpc>
                <a:spcPct val="150000"/>
              </a:lnSpc>
            </a:pPr>
            <a:r>
              <a:rPr lang="zh-CN" altLang="en-US" sz="2000" dirty="0">
                <a:solidFill>
                  <a:schemeClr val="tx1">
                    <a:lumMod val="50000"/>
                  </a:schemeClr>
                </a:solidFill>
                <a:latin typeface="+mn-ea"/>
              </a:rPr>
              <a:t>提出</a:t>
            </a:r>
            <a:r>
              <a:rPr lang="en-US" altLang="zh-CN" sz="2000" dirty="0">
                <a:solidFill>
                  <a:srgbClr val="4D3F82"/>
                </a:solidFill>
                <a:latin typeface="+mn-ea"/>
              </a:rPr>
              <a:t>BIG BIRD</a:t>
            </a:r>
            <a:r>
              <a:rPr lang="zh-CN" altLang="en-US" sz="2000" dirty="0">
                <a:solidFill>
                  <a:schemeClr val="tx1">
                    <a:lumMod val="50000"/>
                  </a:schemeClr>
                </a:solidFill>
                <a:latin typeface="+mn-ea"/>
              </a:rPr>
              <a:t>，采用 </a:t>
            </a:r>
            <a:r>
              <a:rPr lang="zh-CN" altLang="en-US" sz="2000" b="1" dirty="0">
                <a:solidFill>
                  <a:srgbClr val="4D3F82"/>
                </a:solidFill>
                <a:latin typeface="+mn-ea"/>
              </a:rPr>
              <a:t>稀疏注意力 </a:t>
            </a:r>
            <a:r>
              <a:rPr lang="zh-CN" altLang="en-US" sz="2000" dirty="0">
                <a:solidFill>
                  <a:schemeClr val="tx1">
                    <a:lumMod val="50000"/>
                  </a:schemeClr>
                </a:solidFill>
                <a:latin typeface="+mn-ea"/>
              </a:rPr>
              <a:t>机制，将二次依赖降为线性依赖</a:t>
            </a:r>
          </a:p>
        </p:txBody>
      </p:sp>
      <p:grpSp>
        <p:nvGrpSpPr>
          <p:cNvPr id="11" name="组合 10"/>
          <p:cNvGrpSpPr/>
          <p:nvPr/>
        </p:nvGrpSpPr>
        <p:grpSpPr>
          <a:xfrm>
            <a:off x="3866474" y="3735004"/>
            <a:ext cx="4631822" cy="400110"/>
            <a:chOff x="3723885" y="2433615"/>
            <a:chExt cx="4631822" cy="400110"/>
          </a:xfrm>
        </p:grpSpPr>
        <p:sp>
          <p:nvSpPr>
            <p:cNvPr id="14" name="文本框 13"/>
            <p:cNvSpPr txBox="1"/>
            <p:nvPr/>
          </p:nvSpPr>
          <p:spPr>
            <a:xfrm>
              <a:off x="4053532" y="2433615"/>
              <a:ext cx="4062935" cy="400110"/>
            </a:xfrm>
            <a:prstGeom prst="rect">
              <a:avLst/>
            </a:prstGeom>
            <a:noFill/>
          </p:spPr>
          <p:txBody>
            <a:bodyPr wrap="square" rtlCol="0">
              <a:spAutoFit/>
            </a:bodyPr>
            <a:lstStyle/>
            <a:p>
              <a:r>
                <a:rPr lang="zh-CN" altLang="en-US" sz="2000" dirty="0">
                  <a:solidFill>
                    <a:srgbClr val="4D3F82"/>
                  </a:solidFill>
                  <a:latin typeface="+mn-ea"/>
                </a:rPr>
                <a:t>实现长文本注意力的同时降低内存</a:t>
              </a:r>
              <a:endParaRPr lang="en-US" altLang="zh-CN" sz="2000" dirty="0">
                <a:solidFill>
                  <a:srgbClr val="4D3F82"/>
                </a:solidFill>
                <a:latin typeface="+mn-ea"/>
              </a:endParaRPr>
            </a:p>
          </p:txBody>
        </p:sp>
        <p:grpSp>
          <p:nvGrpSpPr>
            <p:cNvPr id="10" name="组合 9"/>
            <p:cNvGrpSpPr/>
            <p:nvPr/>
          </p:nvGrpSpPr>
          <p:grpSpPr>
            <a:xfrm>
              <a:off x="8227305" y="2498336"/>
              <a:ext cx="128402" cy="270667"/>
              <a:chOff x="7883354" y="2475332"/>
              <a:chExt cx="181645" cy="391950"/>
            </a:xfrm>
          </p:grpSpPr>
          <p:sp>
            <p:nvSpPr>
              <p:cNvPr id="24" name="Freeform 549"/>
              <p:cNvSpPr>
                <a:spLocks noChangeArrowheads="1"/>
              </p:cNvSpPr>
              <p:nvPr/>
            </p:nvSpPr>
            <p:spPr bwMode="auto">
              <a:xfrm>
                <a:off x="7883354" y="2475332"/>
                <a:ext cx="181645" cy="301429"/>
              </a:xfrm>
              <a:custGeom>
                <a:avLst/>
                <a:gdLst>
                  <a:gd name="T0" fmla="*/ 0 w 240"/>
                  <a:gd name="T1" fmla="*/ 75 h 345"/>
                  <a:gd name="T2" fmla="*/ 0 w 240"/>
                  <a:gd name="T3" fmla="*/ 75 h 345"/>
                  <a:gd name="T4" fmla="*/ 120 w 240"/>
                  <a:gd name="T5" fmla="*/ 0 h 345"/>
                  <a:gd name="T6" fmla="*/ 239 w 240"/>
                  <a:gd name="T7" fmla="*/ 105 h 345"/>
                  <a:gd name="T8" fmla="*/ 150 w 240"/>
                  <a:gd name="T9" fmla="*/ 209 h 345"/>
                  <a:gd name="T10" fmla="*/ 90 w 240"/>
                  <a:gd name="T11" fmla="*/ 329 h 345"/>
                  <a:gd name="T12" fmla="*/ 90 w 240"/>
                  <a:gd name="T13" fmla="*/ 344 h 345"/>
                </a:gdLst>
                <a:ahLst/>
                <a:cxnLst>
                  <a:cxn ang="0">
                    <a:pos x="T0" y="T1"/>
                  </a:cxn>
                  <a:cxn ang="0">
                    <a:pos x="T2" y="T3"/>
                  </a:cxn>
                  <a:cxn ang="0">
                    <a:pos x="T4" y="T5"/>
                  </a:cxn>
                  <a:cxn ang="0">
                    <a:pos x="T6" y="T7"/>
                  </a:cxn>
                  <a:cxn ang="0">
                    <a:pos x="T8" y="T9"/>
                  </a:cxn>
                  <a:cxn ang="0">
                    <a:pos x="T10" y="T11"/>
                  </a:cxn>
                  <a:cxn ang="0">
                    <a:pos x="T12" y="T13"/>
                  </a:cxn>
                </a:cxnLst>
                <a:rect l="0" t="0" r="r" b="b"/>
                <a:pathLst>
                  <a:path w="240" h="345">
                    <a:moveTo>
                      <a:pt x="0" y="75"/>
                    </a:moveTo>
                    <a:lnTo>
                      <a:pt x="0" y="75"/>
                    </a:lnTo>
                    <a:cubicBezTo>
                      <a:pt x="0" y="30"/>
                      <a:pt x="30" y="0"/>
                      <a:pt x="120" y="0"/>
                    </a:cubicBezTo>
                    <a:cubicBezTo>
                      <a:pt x="194" y="0"/>
                      <a:pt x="239" y="45"/>
                      <a:pt x="239" y="105"/>
                    </a:cubicBezTo>
                    <a:cubicBezTo>
                      <a:pt x="239" y="164"/>
                      <a:pt x="150" y="209"/>
                      <a:pt x="150" y="209"/>
                    </a:cubicBezTo>
                    <a:cubicBezTo>
                      <a:pt x="150" y="209"/>
                      <a:pt x="90" y="239"/>
                      <a:pt x="90" y="329"/>
                    </a:cubicBezTo>
                    <a:cubicBezTo>
                      <a:pt x="90" y="344"/>
                      <a:pt x="90" y="344"/>
                      <a:pt x="90" y="344"/>
                    </a:cubicBezTo>
                  </a:path>
                </a:pathLst>
              </a:custGeom>
              <a:noFill/>
              <a:ln w="34290" cap="flat">
                <a:solidFill>
                  <a:srgbClr val="4D3F8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latin typeface="Montserrat Light" charset="0"/>
                </a:endParaRPr>
              </a:p>
            </p:txBody>
          </p:sp>
          <p:sp>
            <p:nvSpPr>
              <p:cNvPr id="9" name="椭圆 8"/>
              <p:cNvSpPr/>
              <p:nvPr/>
            </p:nvSpPr>
            <p:spPr>
              <a:xfrm flipH="1" flipV="1">
                <a:off x="7931632" y="2821563"/>
                <a:ext cx="45719" cy="45719"/>
              </a:xfrm>
              <a:prstGeom prst="ellipse">
                <a:avLst/>
              </a:prstGeom>
              <a:solidFill>
                <a:srgbClr val="4D3F82"/>
              </a:solidFill>
              <a:ln>
                <a:solidFill>
                  <a:srgbClr val="4D3F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28"/>
            <p:cNvGrpSpPr/>
            <p:nvPr/>
          </p:nvGrpSpPr>
          <p:grpSpPr>
            <a:xfrm>
              <a:off x="3723885" y="2496329"/>
              <a:ext cx="128402" cy="270667"/>
              <a:chOff x="7883354" y="2475332"/>
              <a:chExt cx="181645" cy="391950"/>
            </a:xfrm>
          </p:grpSpPr>
          <p:sp>
            <p:nvSpPr>
              <p:cNvPr id="30" name="Freeform 549"/>
              <p:cNvSpPr>
                <a:spLocks noChangeArrowheads="1"/>
              </p:cNvSpPr>
              <p:nvPr/>
            </p:nvSpPr>
            <p:spPr bwMode="auto">
              <a:xfrm>
                <a:off x="7883354" y="2475332"/>
                <a:ext cx="181645" cy="301429"/>
              </a:xfrm>
              <a:custGeom>
                <a:avLst/>
                <a:gdLst>
                  <a:gd name="T0" fmla="*/ 0 w 240"/>
                  <a:gd name="T1" fmla="*/ 75 h 345"/>
                  <a:gd name="T2" fmla="*/ 0 w 240"/>
                  <a:gd name="T3" fmla="*/ 75 h 345"/>
                  <a:gd name="T4" fmla="*/ 120 w 240"/>
                  <a:gd name="T5" fmla="*/ 0 h 345"/>
                  <a:gd name="T6" fmla="*/ 239 w 240"/>
                  <a:gd name="T7" fmla="*/ 105 h 345"/>
                  <a:gd name="T8" fmla="*/ 150 w 240"/>
                  <a:gd name="T9" fmla="*/ 209 h 345"/>
                  <a:gd name="T10" fmla="*/ 90 w 240"/>
                  <a:gd name="T11" fmla="*/ 329 h 345"/>
                  <a:gd name="T12" fmla="*/ 90 w 240"/>
                  <a:gd name="T13" fmla="*/ 344 h 345"/>
                </a:gdLst>
                <a:ahLst/>
                <a:cxnLst>
                  <a:cxn ang="0">
                    <a:pos x="T0" y="T1"/>
                  </a:cxn>
                  <a:cxn ang="0">
                    <a:pos x="T2" y="T3"/>
                  </a:cxn>
                  <a:cxn ang="0">
                    <a:pos x="T4" y="T5"/>
                  </a:cxn>
                  <a:cxn ang="0">
                    <a:pos x="T6" y="T7"/>
                  </a:cxn>
                  <a:cxn ang="0">
                    <a:pos x="T8" y="T9"/>
                  </a:cxn>
                  <a:cxn ang="0">
                    <a:pos x="T10" y="T11"/>
                  </a:cxn>
                  <a:cxn ang="0">
                    <a:pos x="T12" y="T13"/>
                  </a:cxn>
                </a:cxnLst>
                <a:rect l="0" t="0" r="r" b="b"/>
                <a:pathLst>
                  <a:path w="240" h="345">
                    <a:moveTo>
                      <a:pt x="0" y="75"/>
                    </a:moveTo>
                    <a:lnTo>
                      <a:pt x="0" y="75"/>
                    </a:lnTo>
                    <a:cubicBezTo>
                      <a:pt x="0" y="30"/>
                      <a:pt x="30" y="0"/>
                      <a:pt x="120" y="0"/>
                    </a:cubicBezTo>
                    <a:cubicBezTo>
                      <a:pt x="194" y="0"/>
                      <a:pt x="239" y="45"/>
                      <a:pt x="239" y="105"/>
                    </a:cubicBezTo>
                    <a:cubicBezTo>
                      <a:pt x="239" y="164"/>
                      <a:pt x="150" y="209"/>
                      <a:pt x="150" y="209"/>
                    </a:cubicBezTo>
                    <a:cubicBezTo>
                      <a:pt x="150" y="209"/>
                      <a:pt x="90" y="239"/>
                      <a:pt x="90" y="329"/>
                    </a:cubicBezTo>
                    <a:cubicBezTo>
                      <a:pt x="90" y="344"/>
                      <a:pt x="90" y="344"/>
                      <a:pt x="90" y="344"/>
                    </a:cubicBezTo>
                  </a:path>
                </a:pathLst>
              </a:custGeom>
              <a:noFill/>
              <a:ln w="34290" cap="flat">
                <a:solidFill>
                  <a:srgbClr val="4D3F8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latin typeface="Montserrat Light" charset="0"/>
                </a:endParaRPr>
              </a:p>
            </p:txBody>
          </p:sp>
          <p:sp>
            <p:nvSpPr>
              <p:cNvPr id="31" name="椭圆 30"/>
              <p:cNvSpPr/>
              <p:nvPr/>
            </p:nvSpPr>
            <p:spPr>
              <a:xfrm flipH="1" flipV="1">
                <a:off x="7931632" y="2821563"/>
                <a:ext cx="45719" cy="45719"/>
              </a:xfrm>
              <a:prstGeom prst="ellipse">
                <a:avLst/>
              </a:prstGeom>
              <a:solidFill>
                <a:srgbClr val="4D3F82"/>
              </a:solidFill>
              <a:ln>
                <a:solidFill>
                  <a:srgbClr val="4D3F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43" name="Shape 3643"/>
          <p:cNvSpPr/>
          <p:nvPr/>
        </p:nvSpPr>
        <p:spPr>
          <a:xfrm>
            <a:off x="722173" y="1490130"/>
            <a:ext cx="349026" cy="418700"/>
          </a:xfrm>
          <a:custGeom>
            <a:avLst/>
            <a:gdLst/>
            <a:ahLst/>
            <a:cxnLst/>
            <a:rect l="0" t="0" r="0" b="0"/>
            <a:pathLst>
              <a:path w="120000" h="120000" extrusionOk="0">
                <a:moveTo>
                  <a:pt x="105628" y="25589"/>
                </a:moveTo>
                <a:lnTo>
                  <a:pt x="105628" y="25589"/>
                </a:lnTo>
                <a:cubicBezTo>
                  <a:pt x="84550" y="31405"/>
                  <a:pt x="81197" y="42649"/>
                  <a:pt x="84550" y="51179"/>
                </a:cubicBezTo>
                <a:cubicBezTo>
                  <a:pt x="67065" y="37027"/>
                  <a:pt x="70419" y="22681"/>
                  <a:pt x="70419" y="0"/>
                </a:cubicBezTo>
                <a:cubicBezTo>
                  <a:pt x="21077" y="14151"/>
                  <a:pt x="31616" y="54087"/>
                  <a:pt x="31616" y="68432"/>
                </a:cubicBezTo>
                <a:cubicBezTo>
                  <a:pt x="21077" y="59903"/>
                  <a:pt x="17485" y="39741"/>
                  <a:pt x="17485" y="39741"/>
                </a:cubicBezTo>
                <a:cubicBezTo>
                  <a:pt x="3353" y="45557"/>
                  <a:pt x="0" y="59903"/>
                  <a:pt x="0" y="71147"/>
                </a:cubicBezTo>
                <a:cubicBezTo>
                  <a:pt x="0" y="99838"/>
                  <a:pt x="24670" y="119806"/>
                  <a:pt x="59880" y="119806"/>
                </a:cubicBezTo>
                <a:cubicBezTo>
                  <a:pt x="95089" y="119806"/>
                  <a:pt x="119760" y="99838"/>
                  <a:pt x="119760" y="71147"/>
                </a:cubicBezTo>
                <a:cubicBezTo>
                  <a:pt x="119760" y="54087"/>
                  <a:pt x="105628" y="48465"/>
                  <a:pt x="105628" y="25589"/>
                </a:cubicBezTo>
                <a:close/>
                <a:moveTo>
                  <a:pt x="63473" y="113990"/>
                </a:moveTo>
                <a:lnTo>
                  <a:pt x="63473" y="113990"/>
                </a:lnTo>
                <a:cubicBezTo>
                  <a:pt x="31616" y="113990"/>
                  <a:pt x="6946" y="94022"/>
                  <a:pt x="6946" y="68432"/>
                </a:cubicBezTo>
                <a:cubicBezTo>
                  <a:pt x="6946" y="65525"/>
                  <a:pt x="6946" y="59903"/>
                  <a:pt x="14131" y="56995"/>
                </a:cubicBezTo>
                <a:cubicBezTo>
                  <a:pt x="14131" y="59903"/>
                  <a:pt x="21077" y="79870"/>
                  <a:pt x="42395" y="76962"/>
                </a:cubicBezTo>
                <a:cubicBezTo>
                  <a:pt x="42395" y="62617"/>
                  <a:pt x="35209" y="22681"/>
                  <a:pt x="59880" y="11243"/>
                </a:cubicBezTo>
                <a:cubicBezTo>
                  <a:pt x="59880" y="31405"/>
                  <a:pt x="63473" y="59903"/>
                  <a:pt x="91497" y="62617"/>
                </a:cubicBezTo>
                <a:cubicBezTo>
                  <a:pt x="91497" y="54087"/>
                  <a:pt x="91497" y="42649"/>
                  <a:pt x="98682" y="39741"/>
                </a:cubicBezTo>
                <a:cubicBezTo>
                  <a:pt x="98682" y="51179"/>
                  <a:pt x="112814" y="59903"/>
                  <a:pt x="112814" y="71147"/>
                </a:cubicBezTo>
                <a:cubicBezTo>
                  <a:pt x="112814" y="94022"/>
                  <a:pt x="84550" y="113990"/>
                  <a:pt x="63473" y="113990"/>
                </a:cubicBezTo>
                <a:close/>
              </a:path>
            </a:pathLst>
          </a:custGeom>
          <a:solidFill>
            <a:srgbClr val="4D3F82"/>
          </a:solidFill>
          <a:ln>
            <a:noFill/>
          </a:ln>
        </p:spPr>
        <p:txBody>
          <a:bodyPr lIns="45713" tIns="22850" rIns="45713" bIns="22850"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Lato"/>
              <a:ea typeface="Lato"/>
              <a:cs typeface="Lato"/>
              <a:sym typeface="Lato"/>
            </a:endParaRPr>
          </a:p>
        </p:txBody>
      </p:sp>
      <p:sp>
        <p:nvSpPr>
          <p:cNvPr id="44" name="Shape 3522"/>
          <p:cNvSpPr/>
          <p:nvPr/>
        </p:nvSpPr>
        <p:spPr>
          <a:xfrm>
            <a:off x="724124" y="2457710"/>
            <a:ext cx="362601" cy="411429"/>
          </a:xfrm>
          <a:custGeom>
            <a:avLst/>
            <a:gdLst/>
            <a:ahLst/>
            <a:cxnLst/>
            <a:rect l="0" t="0" r="0" b="0"/>
            <a:pathLst>
              <a:path w="120000" h="120000" extrusionOk="0">
                <a:moveTo>
                  <a:pt x="85581" y="61627"/>
                </a:moveTo>
                <a:lnTo>
                  <a:pt x="85581" y="61627"/>
                </a:lnTo>
                <a:cubicBezTo>
                  <a:pt x="113023" y="34186"/>
                  <a:pt x="113023" y="34186"/>
                  <a:pt x="113023" y="34186"/>
                </a:cubicBezTo>
                <a:cubicBezTo>
                  <a:pt x="119767" y="27441"/>
                  <a:pt x="119767" y="16976"/>
                  <a:pt x="113023" y="10232"/>
                </a:cubicBezTo>
                <a:cubicBezTo>
                  <a:pt x="106046" y="0"/>
                  <a:pt x="92558" y="0"/>
                  <a:pt x="85581" y="10232"/>
                </a:cubicBezTo>
                <a:cubicBezTo>
                  <a:pt x="61627" y="34186"/>
                  <a:pt x="61627" y="34186"/>
                  <a:pt x="61627" y="34186"/>
                </a:cubicBezTo>
                <a:cubicBezTo>
                  <a:pt x="34186" y="10232"/>
                  <a:pt x="34186" y="10232"/>
                  <a:pt x="34186" y="10232"/>
                </a:cubicBezTo>
                <a:cubicBezTo>
                  <a:pt x="27441" y="0"/>
                  <a:pt x="16976" y="0"/>
                  <a:pt x="10232" y="10232"/>
                </a:cubicBezTo>
                <a:cubicBezTo>
                  <a:pt x="0" y="16976"/>
                  <a:pt x="0" y="27441"/>
                  <a:pt x="10232" y="34186"/>
                </a:cubicBezTo>
                <a:cubicBezTo>
                  <a:pt x="34186" y="61627"/>
                  <a:pt x="34186" y="61627"/>
                  <a:pt x="34186" y="61627"/>
                </a:cubicBezTo>
                <a:cubicBezTo>
                  <a:pt x="10232" y="85581"/>
                  <a:pt x="10232" y="85581"/>
                  <a:pt x="10232" y="85581"/>
                </a:cubicBezTo>
                <a:cubicBezTo>
                  <a:pt x="0" y="92558"/>
                  <a:pt x="0" y="106046"/>
                  <a:pt x="10232" y="113023"/>
                </a:cubicBezTo>
                <a:cubicBezTo>
                  <a:pt x="16976" y="119767"/>
                  <a:pt x="27441" y="119767"/>
                  <a:pt x="34186" y="113023"/>
                </a:cubicBezTo>
                <a:cubicBezTo>
                  <a:pt x="61627" y="85581"/>
                  <a:pt x="61627" y="85581"/>
                  <a:pt x="61627" y="85581"/>
                </a:cubicBezTo>
                <a:cubicBezTo>
                  <a:pt x="85581" y="113023"/>
                  <a:pt x="85581" y="113023"/>
                  <a:pt x="85581" y="113023"/>
                </a:cubicBezTo>
                <a:cubicBezTo>
                  <a:pt x="92558" y="119767"/>
                  <a:pt x="106046" y="119767"/>
                  <a:pt x="113023" y="113023"/>
                </a:cubicBezTo>
                <a:cubicBezTo>
                  <a:pt x="119767" y="106046"/>
                  <a:pt x="119767" y="92558"/>
                  <a:pt x="113023" y="85581"/>
                </a:cubicBezTo>
                <a:lnTo>
                  <a:pt x="85581" y="61627"/>
                </a:lnTo>
                <a:close/>
                <a:moveTo>
                  <a:pt x="106046" y="106046"/>
                </a:moveTo>
                <a:lnTo>
                  <a:pt x="106046" y="106046"/>
                </a:lnTo>
                <a:cubicBezTo>
                  <a:pt x="102558" y="109534"/>
                  <a:pt x="95813" y="109534"/>
                  <a:pt x="92558" y="106046"/>
                </a:cubicBezTo>
                <a:cubicBezTo>
                  <a:pt x="61627" y="71860"/>
                  <a:pt x="61627" y="71860"/>
                  <a:pt x="61627" y="71860"/>
                </a:cubicBezTo>
                <a:cubicBezTo>
                  <a:pt x="27441" y="106046"/>
                  <a:pt x="27441" y="106046"/>
                  <a:pt x="27441" y="106046"/>
                </a:cubicBezTo>
                <a:cubicBezTo>
                  <a:pt x="23953" y="109534"/>
                  <a:pt x="16976" y="109534"/>
                  <a:pt x="13720" y="106046"/>
                </a:cubicBezTo>
                <a:cubicBezTo>
                  <a:pt x="10232" y="102558"/>
                  <a:pt x="10232" y="95813"/>
                  <a:pt x="13720" y="92558"/>
                </a:cubicBezTo>
                <a:cubicBezTo>
                  <a:pt x="47906" y="61627"/>
                  <a:pt x="47906" y="61627"/>
                  <a:pt x="47906" y="61627"/>
                </a:cubicBezTo>
                <a:cubicBezTo>
                  <a:pt x="13720" y="27441"/>
                  <a:pt x="13720" y="27441"/>
                  <a:pt x="13720" y="27441"/>
                </a:cubicBezTo>
                <a:cubicBezTo>
                  <a:pt x="10232" y="23953"/>
                  <a:pt x="10232" y="16976"/>
                  <a:pt x="13720" y="13720"/>
                </a:cubicBezTo>
                <a:cubicBezTo>
                  <a:pt x="16976" y="10232"/>
                  <a:pt x="23953" y="10232"/>
                  <a:pt x="27441" y="13720"/>
                </a:cubicBezTo>
                <a:cubicBezTo>
                  <a:pt x="61627" y="47906"/>
                  <a:pt x="61627" y="47906"/>
                  <a:pt x="61627" y="47906"/>
                </a:cubicBezTo>
                <a:cubicBezTo>
                  <a:pt x="92558" y="13720"/>
                  <a:pt x="92558" y="13720"/>
                  <a:pt x="92558" y="13720"/>
                </a:cubicBezTo>
                <a:cubicBezTo>
                  <a:pt x="95813" y="10232"/>
                  <a:pt x="102558" y="10232"/>
                  <a:pt x="106046" y="13720"/>
                </a:cubicBezTo>
                <a:cubicBezTo>
                  <a:pt x="109534" y="16976"/>
                  <a:pt x="109534" y="23953"/>
                  <a:pt x="106046" y="27441"/>
                </a:cubicBezTo>
                <a:cubicBezTo>
                  <a:pt x="71860" y="61627"/>
                  <a:pt x="71860" y="61627"/>
                  <a:pt x="71860" y="61627"/>
                </a:cubicBezTo>
                <a:cubicBezTo>
                  <a:pt x="106046" y="92558"/>
                  <a:pt x="106046" y="92558"/>
                  <a:pt x="106046" y="92558"/>
                </a:cubicBezTo>
                <a:cubicBezTo>
                  <a:pt x="109534" y="95813"/>
                  <a:pt x="109534" y="102558"/>
                  <a:pt x="106046" y="106046"/>
                </a:cubicBezTo>
                <a:close/>
              </a:path>
            </a:pathLst>
          </a:custGeom>
          <a:solidFill>
            <a:srgbClr val="4D3F82"/>
          </a:solidFill>
          <a:ln>
            <a:noFill/>
          </a:ln>
        </p:spPr>
        <p:txBody>
          <a:bodyPr lIns="45713" tIns="22850" rIns="45713" bIns="22850"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Lato"/>
              <a:ea typeface="Lato"/>
              <a:cs typeface="Lato"/>
              <a:sym typeface="Lato"/>
            </a:endParaRPr>
          </a:p>
        </p:txBody>
      </p:sp>
    </p:spTree>
    <p:extLst>
      <p:ext uri="{BB962C8B-B14F-4D97-AF65-F5344CB8AC3E}">
        <p14:creationId xmlns:p14="http://schemas.microsoft.com/office/powerpoint/2010/main" val="42796102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文本框 19"/>
          <p:cNvSpPr txBox="1"/>
          <p:nvPr/>
        </p:nvSpPr>
        <p:spPr>
          <a:xfrm>
            <a:off x="1071199" y="457068"/>
            <a:ext cx="2132763" cy="523220"/>
          </a:xfrm>
          <a:prstGeom prst="rect">
            <a:avLst/>
          </a:prstGeom>
          <a:noFill/>
        </p:spPr>
        <p:txBody>
          <a:bodyPr wrap="none" rtlCol="0">
            <a:spAutoFit/>
          </a:bodyPr>
          <a:lstStyle/>
          <a:p>
            <a:pPr lvl="0">
              <a:defRPr/>
            </a:pPr>
            <a:r>
              <a:rPr lang="en-US" altLang="zh-CN" sz="2800" b="1" dirty="0">
                <a:solidFill>
                  <a:srgbClr val="4D3F82"/>
                </a:solidFill>
                <a:cs typeface="+mn-ea"/>
                <a:sym typeface="+mn-lt"/>
              </a:rPr>
              <a:t>Big Bird </a:t>
            </a:r>
            <a:r>
              <a:rPr lang="zh-CN" altLang="en-US" sz="2800" b="1" dirty="0">
                <a:solidFill>
                  <a:srgbClr val="4D3F82"/>
                </a:solidFill>
                <a:cs typeface="+mn-ea"/>
                <a:sym typeface="+mn-lt"/>
              </a:rPr>
              <a:t>简介</a:t>
            </a:r>
            <a:endParaRPr kumimoji="0" lang="zh-CN" altLang="en-US" sz="2800" b="1" i="0" u="none" strike="noStrike" kern="1200" cap="none" spc="0" normalizeH="0" baseline="0" noProof="0" dirty="0">
              <a:ln>
                <a:noFill/>
              </a:ln>
              <a:solidFill>
                <a:srgbClr val="4D3F82"/>
              </a:solidFill>
              <a:effectLst/>
              <a:uLnTx/>
              <a:uFillTx/>
              <a:latin typeface="Calibri"/>
              <a:ea typeface="微软雅黑"/>
              <a:cs typeface="+mn-ea"/>
              <a:sym typeface="+mn-lt"/>
            </a:endParaRPr>
          </a:p>
        </p:txBody>
      </p:sp>
      <p:sp>
        <p:nvSpPr>
          <p:cNvPr id="6" name="椭圆 5">
            <a:extLst>
              <a:ext uri="{FF2B5EF4-FFF2-40B4-BE49-F238E27FC236}">
                <a16:creationId xmlns:a16="http://schemas.microsoft.com/office/drawing/2014/main" id="{DF773A56-49AF-444E-AF6D-49DFDB041C2E}"/>
              </a:ext>
            </a:extLst>
          </p:cNvPr>
          <p:cNvSpPr/>
          <p:nvPr/>
        </p:nvSpPr>
        <p:spPr>
          <a:xfrm>
            <a:off x="11073997" y="5889631"/>
            <a:ext cx="872276" cy="872276"/>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9723BAD4-F047-4320-87A0-E95852694C3F}"/>
              </a:ext>
            </a:extLst>
          </p:cNvPr>
          <p:cNvSpPr/>
          <p:nvPr/>
        </p:nvSpPr>
        <p:spPr>
          <a:xfrm rot="9430845">
            <a:off x="11432508" y="5123846"/>
            <a:ext cx="344849" cy="344849"/>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D4E3EEDC-7C8A-43DB-BD42-E8947B413BB8}"/>
              </a:ext>
            </a:extLst>
          </p:cNvPr>
          <p:cNvSpPr/>
          <p:nvPr/>
        </p:nvSpPr>
        <p:spPr>
          <a:xfrm rot="9430845">
            <a:off x="10447956" y="6589483"/>
            <a:ext cx="344849" cy="344849"/>
          </a:xfrm>
          <a:prstGeom prst="ellipse">
            <a:avLst/>
          </a:prstGeom>
          <a:solidFill>
            <a:srgbClr val="4D3F82"/>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EF07DB3A-3E81-4DC1-8E47-D5A7AB5ABD16}"/>
              </a:ext>
            </a:extLst>
          </p:cNvPr>
          <p:cNvSpPr/>
          <p:nvPr/>
        </p:nvSpPr>
        <p:spPr>
          <a:xfrm rot="9430845">
            <a:off x="528920" y="441278"/>
            <a:ext cx="503796" cy="511184"/>
          </a:xfrm>
          <a:prstGeom prst="ellipse">
            <a:avLst/>
          </a:prstGeom>
          <a:solidFill>
            <a:srgbClr val="4D3F8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FB187FA8-C04C-4322-891C-A741CEA371EC}"/>
              </a:ext>
            </a:extLst>
          </p:cNvPr>
          <p:cNvSpPr txBox="1"/>
          <p:nvPr/>
        </p:nvSpPr>
        <p:spPr>
          <a:xfrm>
            <a:off x="524715" y="466029"/>
            <a:ext cx="561265" cy="461665"/>
          </a:xfrm>
          <a:prstGeom prst="rect">
            <a:avLst/>
          </a:prstGeom>
          <a:noFill/>
        </p:spPr>
        <p:txBody>
          <a:bodyPr wrap="square" rtlCol="0">
            <a:spAutoFit/>
          </a:bodyPr>
          <a:lstStyle/>
          <a:p>
            <a:r>
              <a:rPr lang="en-US" altLang="zh-CN" sz="2400" dirty="0">
                <a:solidFill>
                  <a:schemeClr val="bg1"/>
                </a:solidFill>
                <a:latin typeface="Bauhaus 93" panose="04030905020B02020C02" pitchFamily="82" charset="0"/>
              </a:rPr>
              <a:t>02</a:t>
            </a:r>
            <a:endParaRPr lang="zh-CN" altLang="en-US" sz="2400" dirty="0">
              <a:solidFill>
                <a:schemeClr val="bg1"/>
              </a:solidFill>
              <a:latin typeface="Bauhaus 93" panose="04030905020B02020C02" pitchFamily="82" charset="0"/>
            </a:endParaRPr>
          </a:p>
        </p:txBody>
      </p:sp>
      <p:sp>
        <p:nvSpPr>
          <p:cNvPr id="37" name="椭圆 36">
            <a:extLst>
              <a:ext uri="{FF2B5EF4-FFF2-40B4-BE49-F238E27FC236}">
                <a16:creationId xmlns:a16="http://schemas.microsoft.com/office/drawing/2014/main" id="{7A007603-F3D9-40C8-B984-92A6C591C1ED}"/>
              </a:ext>
            </a:extLst>
          </p:cNvPr>
          <p:cNvSpPr/>
          <p:nvPr/>
        </p:nvSpPr>
        <p:spPr>
          <a:xfrm rot="14219635">
            <a:off x="-422765" y="-198887"/>
            <a:ext cx="872276" cy="872276"/>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6E536261-448B-42D2-AA47-008BC8415B5E}"/>
              </a:ext>
            </a:extLst>
          </p:cNvPr>
          <p:cNvSpPr/>
          <p:nvPr/>
        </p:nvSpPr>
        <p:spPr>
          <a:xfrm rot="14219635">
            <a:off x="367756" y="1142977"/>
            <a:ext cx="163510" cy="163510"/>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0" name="图片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359445"/>
            <a:ext cx="3374582" cy="537824"/>
          </a:xfrm>
          <a:prstGeom prst="rect">
            <a:avLst/>
          </a:prstGeom>
        </p:spPr>
      </p:pic>
      <p:grpSp>
        <p:nvGrpSpPr>
          <p:cNvPr id="35" name="组合 34"/>
          <p:cNvGrpSpPr/>
          <p:nvPr/>
        </p:nvGrpSpPr>
        <p:grpSpPr>
          <a:xfrm>
            <a:off x="449510" y="1154621"/>
            <a:ext cx="10625040" cy="4448404"/>
            <a:chOff x="616701" y="1709955"/>
            <a:chExt cx="10625040" cy="4448404"/>
          </a:xfrm>
        </p:grpSpPr>
        <p:sp>
          <p:nvSpPr>
            <p:cNvPr id="36" name="文本框 35"/>
            <p:cNvSpPr txBox="1"/>
            <p:nvPr/>
          </p:nvSpPr>
          <p:spPr>
            <a:xfrm>
              <a:off x="1227370" y="1709955"/>
              <a:ext cx="1879206" cy="553998"/>
            </a:xfrm>
            <a:prstGeom prst="rect">
              <a:avLst/>
            </a:prstGeom>
            <a:noFill/>
          </p:spPr>
          <p:txBody>
            <a:bodyPr wrap="square" rtlCol="0">
              <a:spAutoFit/>
            </a:bodyPr>
            <a:lstStyle/>
            <a:p>
              <a:pPr>
                <a:lnSpc>
                  <a:spcPct val="150000"/>
                </a:lnSpc>
              </a:pPr>
              <a:r>
                <a:rPr lang="en-US" altLang="zh-CN" sz="2000" b="1" dirty="0">
                  <a:solidFill>
                    <a:srgbClr val="4D3F82"/>
                  </a:solidFill>
                  <a:latin typeface="+mn-ea"/>
                </a:rPr>
                <a:t>Big Bird </a:t>
              </a:r>
              <a:r>
                <a:rPr lang="zh-CN" altLang="en-US" sz="2000" b="1" dirty="0">
                  <a:solidFill>
                    <a:srgbClr val="4D3F82"/>
                  </a:solidFill>
                  <a:latin typeface="+mn-ea"/>
                </a:rPr>
                <a:t>优点：</a:t>
              </a:r>
              <a:endParaRPr lang="en-US" altLang="zh-CN" sz="2000" b="1" dirty="0">
                <a:solidFill>
                  <a:srgbClr val="4D3F82"/>
                </a:solidFill>
                <a:latin typeface="+mn-ea"/>
              </a:endParaRPr>
            </a:p>
          </p:txBody>
        </p:sp>
        <p:sp>
          <p:nvSpPr>
            <p:cNvPr id="41" name="Shape 3645"/>
            <p:cNvSpPr/>
            <p:nvPr/>
          </p:nvSpPr>
          <p:spPr>
            <a:xfrm>
              <a:off x="616701" y="1759817"/>
              <a:ext cx="610669" cy="585277"/>
            </a:xfrm>
            <a:custGeom>
              <a:avLst/>
              <a:gdLst/>
              <a:ahLst/>
              <a:cxnLst/>
              <a:rect l="0" t="0" r="0" b="0"/>
              <a:pathLst>
                <a:path w="120000" h="120000" extrusionOk="0">
                  <a:moveTo>
                    <a:pt x="58485" y="17059"/>
                  </a:moveTo>
                  <a:lnTo>
                    <a:pt x="58485" y="17059"/>
                  </a:lnTo>
                  <a:cubicBezTo>
                    <a:pt x="44479" y="17059"/>
                    <a:pt x="33312" y="31405"/>
                    <a:pt x="33312" y="45557"/>
                  </a:cubicBezTo>
                  <a:cubicBezTo>
                    <a:pt x="33312" y="59903"/>
                    <a:pt x="44479" y="71147"/>
                    <a:pt x="58485" y="71147"/>
                  </a:cubicBezTo>
                  <a:cubicBezTo>
                    <a:pt x="72492" y="71147"/>
                    <a:pt x="86309" y="59903"/>
                    <a:pt x="86309" y="45557"/>
                  </a:cubicBezTo>
                  <a:cubicBezTo>
                    <a:pt x="86309" y="31405"/>
                    <a:pt x="72492" y="17059"/>
                    <a:pt x="58485" y="17059"/>
                  </a:cubicBezTo>
                  <a:close/>
                  <a:moveTo>
                    <a:pt x="58485" y="62617"/>
                  </a:moveTo>
                  <a:lnTo>
                    <a:pt x="58485" y="62617"/>
                  </a:lnTo>
                  <a:cubicBezTo>
                    <a:pt x="50157" y="62617"/>
                    <a:pt x="41829" y="54087"/>
                    <a:pt x="41829" y="45557"/>
                  </a:cubicBezTo>
                  <a:cubicBezTo>
                    <a:pt x="41829" y="34119"/>
                    <a:pt x="50157" y="25589"/>
                    <a:pt x="58485" y="25589"/>
                  </a:cubicBezTo>
                  <a:cubicBezTo>
                    <a:pt x="69652" y="25589"/>
                    <a:pt x="77981" y="34119"/>
                    <a:pt x="77981" y="45557"/>
                  </a:cubicBezTo>
                  <a:cubicBezTo>
                    <a:pt x="77981" y="54087"/>
                    <a:pt x="69652" y="62617"/>
                    <a:pt x="58485" y="62617"/>
                  </a:cubicBezTo>
                  <a:close/>
                  <a:moveTo>
                    <a:pt x="100315" y="65525"/>
                  </a:moveTo>
                  <a:lnTo>
                    <a:pt x="100315" y="65525"/>
                  </a:lnTo>
                  <a:cubicBezTo>
                    <a:pt x="102965" y="59903"/>
                    <a:pt x="105804" y="51179"/>
                    <a:pt x="105804" y="45557"/>
                  </a:cubicBezTo>
                  <a:cubicBezTo>
                    <a:pt x="105804" y="19967"/>
                    <a:pt x="83470" y="0"/>
                    <a:pt x="58485" y="0"/>
                  </a:cubicBezTo>
                  <a:cubicBezTo>
                    <a:pt x="33312" y="0"/>
                    <a:pt x="13817" y="19967"/>
                    <a:pt x="13817" y="45557"/>
                  </a:cubicBezTo>
                  <a:cubicBezTo>
                    <a:pt x="13817" y="51179"/>
                    <a:pt x="16656" y="59903"/>
                    <a:pt x="19495" y="65525"/>
                  </a:cubicBezTo>
                  <a:cubicBezTo>
                    <a:pt x="0" y="96930"/>
                    <a:pt x="0" y="96930"/>
                    <a:pt x="0" y="96930"/>
                  </a:cubicBezTo>
                  <a:cubicBezTo>
                    <a:pt x="0" y="96930"/>
                    <a:pt x="10977" y="99838"/>
                    <a:pt x="22145" y="102746"/>
                  </a:cubicBezTo>
                  <a:cubicBezTo>
                    <a:pt x="30662" y="111276"/>
                    <a:pt x="38990" y="119806"/>
                    <a:pt x="38990" y="119806"/>
                  </a:cubicBezTo>
                  <a:cubicBezTo>
                    <a:pt x="55646" y="91308"/>
                    <a:pt x="55646" y="91308"/>
                    <a:pt x="55646" y="91308"/>
                  </a:cubicBezTo>
                  <a:cubicBezTo>
                    <a:pt x="58485" y="91308"/>
                    <a:pt x="58485" y="91308"/>
                    <a:pt x="58485" y="91308"/>
                  </a:cubicBezTo>
                  <a:cubicBezTo>
                    <a:pt x="61324" y="91308"/>
                    <a:pt x="61324" y="91308"/>
                    <a:pt x="61324" y="91308"/>
                  </a:cubicBezTo>
                  <a:cubicBezTo>
                    <a:pt x="77981" y="119806"/>
                    <a:pt x="77981" y="119806"/>
                    <a:pt x="77981" y="119806"/>
                  </a:cubicBezTo>
                  <a:cubicBezTo>
                    <a:pt x="77981" y="119806"/>
                    <a:pt x="86309" y="111276"/>
                    <a:pt x="94637" y="102746"/>
                  </a:cubicBezTo>
                  <a:cubicBezTo>
                    <a:pt x="105804" y="99838"/>
                    <a:pt x="119810" y="96930"/>
                    <a:pt x="119810" y="96930"/>
                  </a:cubicBezTo>
                  <a:lnTo>
                    <a:pt x="100315" y="65525"/>
                  </a:lnTo>
                  <a:close/>
                  <a:moveTo>
                    <a:pt x="38990" y="105460"/>
                  </a:moveTo>
                  <a:lnTo>
                    <a:pt x="38990" y="105460"/>
                  </a:lnTo>
                  <a:cubicBezTo>
                    <a:pt x="38990" y="105460"/>
                    <a:pt x="33312" y="102746"/>
                    <a:pt x="27823" y="96930"/>
                  </a:cubicBezTo>
                  <a:cubicBezTo>
                    <a:pt x="19495" y="94022"/>
                    <a:pt x="10977" y="91308"/>
                    <a:pt x="10977" y="91308"/>
                  </a:cubicBezTo>
                  <a:cubicBezTo>
                    <a:pt x="22145" y="74054"/>
                    <a:pt x="22145" y="74054"/>
                    <a:pt x="22145" y="74054"/>
                  </a:cubicBezTo>
                  <a:cubicBezTo>
                    <a:pt x="27823" y="79870"/>
                    <a:pt x="38990" y="88400"/>
                    <a:pt x="47318" y="88400"/>
                  </a:cubicBezTo>
                  <a:lnTo>
                    <a:pt x="38990" y="105460"/>
                  </a:lnTo>
                  <a:close/>
                  <a:moveTo>
                    <a:pt x="58485" y="82584"/>
                  </a:moveTo>
                  <a:lnTo>
                    <a:pt x="58485" y="82584"/>
                  </a:lnTo>
                  <a:cubicBezTo>
                    <a:pt x="38990" y="82584"/>
                    <a:pt x="22145" y="65525"/>
                    <a:pt x="22145" y="45557"/>
                  </a:cubicBezTo>
                  <a:cubicBezTo>
                    <a:pt x="22145" y="22681"/>
                    <a:pt x="38990" y="5621"/>
                    <a:pt x="58485" y="5621"/>
                  </a:cubicBezTo>
                  <a:cubicBezTo>
                    <a:pt x="80630" y="5621"/>
                    <a:pt x="97476" y="22681"/>
                    <a:pt x="97476" y="45557"/>
                  </a:cubicBezTo>
                  <a:cubicBezTo>
                    <a:pt x="97476" y="65525"/>
                    <a:pt x="80630" y="82584"/>
                    <a:pt x="58485" y="82584"/>
                  </a:cubicBezTo>
                  <a:close/>
                  <a:moveTo>
                    <a:pt x="91798" y="96930"/>
                  </a:moveTo>
                  <a:lnTo>
                    <a:pt x="91798" y="96930"/>
                  </a:lnTo>
                  <a:cubicBezTo>
                    <a:pt x="86309" y="102746"/>
                    <a:pt x="80630" y="105460"/>
                    <a:pt x="80630" y="105460"/>
                  </a:cubicBezTo>
                  <a:cubicBezTo>
                    <a:pt x="69652" y="88400"/>
                    <a:pt x="69652" y="88400"/>
                    <a:pt x="69652" y="88400"/>
                  </a:cubicBezTo>
                  <a:cubicBezTo>
                    <a:pt x="80630" y="88400"/>
                    <a:pt x="89148" y="79870"/>
                    <a:pt x="94637" y="74054"/>
                  </a:cubicBezTo>
                  <a:cubicBezTo>
                    <a:pt x="105804" y="91308"/>
                    <a:pt x="105804" y="91308"/>
                    <a:pt x="105804" y="91308"/>
                  </a:cubicBezTo>
                  <a:cubicBezTo>
                    <a:pt x="105804" y="91308"/>
                    <a:pt x="100315" y="94022"/>
                    <a:pt x="91798" y="96930"/>
                  </a:cubicBezTo>
                  <a:close/>
                </a:path>
              </a:pathLst>
            </a:custGeom>
            <a:solidFill>
              <a:srgbClr val="4D3F82"/>
            </a:solidFill>
            <a:ln>
              <a:noFill/>
            </a:ln>
          </p:spPr>
          <p:txBody>
            <a:bodyPr lIns="45713" tIns="22850" rIns="45713" bIns="22850"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Lato"/>
                <a:ea typeface="Lato"/>
                <a:cs typeface="Lato"/>
                <a:sym typeface="Lato"/>
              </a:endParaRPr>
            </a:p>
          </p:txBody>
        </p:sp>
        <p:sp>
          <p:nvSpPr>
            <p:cNvPr id="42" name="矩形 41"/>
            <p:cNvSpPr/>
            <p:nvPr/>
          </p:nvSpPr>
          <p:spPr>
            <a:xfrm>
              <a:off x="1227370" y="2372707"/>
              <a:ext cx="10014371" cy="3785652"/>
            </a:xfrm>
            <a:prstGeom prst="rect">
              <a:avLst/>
            </a:prstGeom>
          </p:spPr>
          <p:txBody>
            <a:bodyPr wrap="square">
              <a:spAutoFit/>
            </a:bodyPr>
            <a:lstStyle/>
            <a:p>
              <a:pPr>
                <a:lnSpc>
                  <a:spcPct val="300000"/>
                </a:lnSpc>
              </a:pPr>
              <a:r>
                <a:rPr lang="zh-CN" altLang="en-US" sz="2000" dirty="0">
                  <a:solidFill>
                    <a:schemeClr val="tx1">
                      <a:lumMod val="50000"/>
                    </a:schemeClr>
                  </a:solidFill>
                  <a:latin typeface="+mn-ea"/>
                </a:rPr>
                <a:t>在通用硬件条件下（</a:t>
              </a:r>
              <a:r>
                <a:rPr lang="en-US" altLang="zh-CN" sz="2000" dirty="0">
                  <a:solidFill>
                    <a:schemeClr val="tx1">
                      <a:lumMod val="50000"/>
                    </a:schemeClr>
                  </a:solidFill>
                  <a:latin typeface="+mn-ea"/>
                </a:rPr>
                <a:t>16G</a:t>
              </a:r>
              <a:r>
                <a:rPr lang="zh-CN" altLang="en-US" sz="2000" dirty="0">
                  <a:solidFill>
                    <a:schemeClr val="tx1">
                      <a:lumMod val="50000"/>
                    </a:schemeClr>
                  </a:solidFill>
                  <a:latin typeface="+mn-ea"/>
                </a:rPr>
                <a:t>内存），</a:t>
              </a:r>
              <a:r>
                <a:rPr lang="en-US" altLang="zh-CN" sz="2000" dirty="0">
                  <a:solidFill>
                    <a:schemeClr val="tx1">
                      <a:lumMod val="50000"/>
                    </a:schemeClr>
                  </a:solidFill>
                  <a:latin typeface="+mn-ea"/>
                </a:rPr>
                <a:t>BIG BIRD</a:t>
              </a:r>
              <a:r>
                <a:rPr lang="zh-CN" altLang="en-US" sz="2000" dirty="0">
                  <a:solidFill>
                    <a:schemeClr val="tx1">
                      <a:lumMod val="50000"/>
                    </a:schemeClr>
                  </a:solidFill>
                  <a:latin typeface="+mn-ea"/>
                </a:rPr>
                <a:t>可处理的文本长度是全局</a:t>
              </a:r>
              <a:r>
                <a:rPr lang="en-US" altLang="zh-CN" sz="2000" dirty="0">
                  <a:solidFill>
                    <a:schemeClr val="tx1">
                      <a:lumMod val="50000"/>
                    </a:schemeClr>
                  </a:solidFill>
                  <a:latin typeface="+mn-ea"/>
                </a:rPr>
                <a:t>attention</a:t>
              </a:r>
              <a:r>
                <a:rPr lang="zh-CN" altLang="en-US" sz="2000" dirty="0">
                  <a:solidFill>
                    <a:schemeClr val="tx1">
                      <a:lumMod val="50000"/>
                    </a:schemeClr>
                  </a:solidFill>
                  <a:latin typeface="+mn-ea"/>
                </a:rPr>
                <a:t>的 </a:t>
              </a:r>
              <a:r>
                <a:rPr lang="en-US" altLang="zh-CN" sz="2000" b="1" dirty="0">
                  <a:solidFill>
                    <a:srgbClr val="4D3F82"/>
                  </a:solidFill>
                  <a:latin typeface="+mn-ea"/>
                </a:rPr>
                <a:t>8</a:t>
              </a:r>
              <a:r>
                <a:rPr lang="zh-CN" altLang="en-US" sz="2000" b="1" dirty="0">
                  <a:solidFill>
                    <a:srgbClr val="4D3F82"/>
                  </a:solidFill>
                  <a:latin typeface="+mn-ea"/>
                </a:rPr>
                <a:t>倍</a:t>
              </a:r>
              <a:endParaRPr lang="en-US" altLang="zh-CN" sz="2000" b="1" dirty="0">
                <a:solidFill>
                  <a:srgbClr val="4D3F82"/>
                </a:solidFill>
                <a:latin typeface="+mn-ea"/>
              </a:endParaRPr>
            </a:p>
            <a:p>
              <a:pPr>
                <a:lnSpc>
                  <a:spcPct val="300000"/>
                </a:lnSpc>
              </a:pPr>
              <a:r>
                <a:rPr lang="zh-CN" altLang="en-US" sz="2000" dirty="0">
                  <a:solidFill>
                    <a:schemeClr val="tx1">
                      <a:lumMod val="50000"/>
                    </a:schemeClr>
                  </a:solidFill>
                  <a:latin typeface="+mn-ea"/>
                </a:rPr>
                <a:t>满足全局</a:t>
              </a:r>
              <a:r>
                <a:rPr lang="en-US" altLang="zh-CN" sz="2000" dirty="0">
                  <a:solidFill>
                    <a:schemeClr val="tx1">
                      <a:lumMod val="50000"/>
                    </a:schemeClr>
                  </a:solidFill>
                  <a:latin typeface="+mn-ea"/>
                </a:rPr>
                <a:t>attention</a:t>
              </a:r>
              <a:r>
                <a:rPr lang="zh-CN" altLang="en-US" sz="2000" dirty="0">
                  <a:solidFill>
                    <a:schemeClr val="tx1">
                      <a:lumMod val="50000"/>
                    </a:schemeClr>
                  </a:solidFill>
                  <a:latin typeface="+mn-ea"/>
                </a:rPr>
                <a:t>的特性，</a:t>
              </a:r>
              <a:r>
                <a:rPr lang="zh-CN" altLang="en-US" sz="2000" b="1" dirty="0">
                  <a:solidFill>
                    <a:srgbClr val="4D3F82"/>
                  </a:solidFill>
                  <a:latin typeface="+mn-ea"/>
                </a:rPr>
                <a:t>序列函数的通用近似器</a:t>
              </a:r>
              <a:r>
                <a:rPr lang="zh-CN" altLang="en-US" sz="2000" dirty="0">
                  <a:solidFill>
                    <a:schemeClr val="tx1">
                      <a:lumMod val="50000"/>
                    </a:schemeClr>
                  </a:solidFill>
                  <a:latin typeface="+mn-ea"/>
                </a:rPr>
                <a:t>，并且是</a:t>
              </a:r>
              <a:r>
                <a:rPr lang="zh-CN" altLang="en-US" sz="2000" b="1" dirty="0">
                  <a:solidFill>
                    <a:srgbClr val="4D3F82"/>
                  </a:solidFill>
                  <a:latin typeface="+mn-ea"/>
                </a:rPr>
                <a:t>图灵完备</a:t>
              </a:r>
              <a:r>
                <a:rPr lang="zh-CN" altLang="en-US" sz="2000" dirty="0">
                  <a:solidFill>
                    <a:schemeClr val="tx1">
                      <a:lumMod val="50000"/>
                    </a:schemeClr>
                  </a:solidFill>
                  <a:latin typeface="+mn-ea"/>
                </a:rPr>
                <a:t>的</a:t>
              </a:r>
              <a:endParaRPr lang="en-US" altLang="zh-CN" sz="2000" dirty="0">
                <a:solidFill>
                  <a:schemeClr val="tx1">
                    <a:lumMod val="50000"/>
                  </a:schemeClr>
                </a:solidFill>
                <a:latin typeface="+mn-ea"/>
              </a:endParaRPr>
            </a:p>
            <a:p>
              <a:pPr>
                <a:lnSpc>
                  <a:spcPct val="300000"/>
                </a:lnSpc>
              </a:pPr>
              <a:r>
                <a:rPr lang="zh-CN" altLang="en-US" sz="2000" dirty="0">
                  <a:solidFill>
                    <a:schemeClr val="tx1">
                      <a:lumMod val="50000"/>
                    </a:schemeClr>
                  </a:solidFill>
                  <a:latin typeface="+mn-ea"/>
                </a:rPr>
                <a:t>提升多种</a:t>
              </a:r>
              <a:r>
                <a:rPr lang="zh-CN" altLang="en-US" sz="2000" b="1" dirty="0">
                  <a:solidFill>
                    <a:srgbClr val="4D3F82"/>
                  </a:solidFill>
                  <a:latin typeface="+mn-ea"/>
                </a:rPr>
                <a:t>长文本</a:t>
              </a:r>
              <a:r>
                <a:rPr lang="zh-CN" altLang="en-US" sz="2000" dirty="0">
                  <a:solidFill>
                    <a:schemeClr val="tx1">
                      <a:lumMod val="50000"/>
                    </a:schemeClr>
                  </a:solidFill>
                  <a:latin typeface="+mn-ea"/>
                </a:rPr>
                <a:t>场景下</a:t>
              </a:r>
              <a:r>
                <a:rPr lang="en-US" altLang="zh-CN" sz="2000" dirty="0">
                  <a:solidFill>
                    <a:schemeClr val="tx1">
                      <a:lumMod val="50000"/>
                    </a:schemeClr>
                  </a:solidFill>
                  <a:latin typeface="+mn-ea"/>
                </a:rPr>
                <a:t>NLP</a:t>
              </a:r>
              <a:r>
                <a:rPr lang="zh-CN" altLang="en-US" sz="2000" dirty="0">
                  <a:solidFill>
                    <a:schemeClr val="tx1">
                      <a:lumMod val="50000"/>
                    </a:schemeClr>
                  </a:solidFill>
                  <a:latin typeface="+mn-ea"/>
                </a:rPr>
                <a:t>任务性能，在问答和文本摘要任务上达到最优结果</a:t>
              </a:r>
              <a:endParaRPr lang="en-US" altLang="zh-CN" sz="2000" dirty="0">
                <a:solidFill>
                  <a:schemeClr val="tx1">
                    <a:lumMod val="50000"/>
                  </a:schemeClr>
                </a:solidFill>
                <a:latin typeface="+mn-ea"/>
              </a:endParaRPr>
            </a:p>
            <a:p>
              <a:pPr>
                <a:lnSpc>
                  <a:spcPct val="300000"/>
                </a:lnSpc>
              </a:pPr>
              <a:r>
                <a:rPr lang="zh-CN" altLang="en-US" sz="2000" dirty="0">
                  <a:solidFill>
                    <a:schemeClr val="tx1">
                      <a:lumMod val="50000"/>
                    </a:schemeClr>
                  </a:solidFill>
                  <a:latin typeface="+mn-ea"/>
                </a:rPr>
                <a:t>长文本注意力模型的</a:t>
              </a:r>
              <a:r>
                <a:rPr lang="zh-CN" altLang="en-US" sz="2000" b="1" dirty="0">
                  <a:solidFill>
                    <a:srgbClr val="4D3F82"/>
                  </a:solidFill>
                  <a:latin typeface="+mn-ea"/>
                </a:rPr>
                <a:t>新应用</a:t>
              </a:r>
              <a:r>
                <a:rPr lang="zh-CN" altLang="en-US" sz="2000" dirty="0">
                  <a:solidFill>
                    <a:schemeClr val="tx1">
                      <a:lumMod val="50000"/>
                    </a:schemeClr>
                  </a:solidFill>
                  <a:latin typeface="+mn-ea"/>
                </a:rPr>
                <a:t>方向：基因组序列</a:t>
              </a:r>
            </a:p>
          </p:txBody>
        </p:sp>
      </p:grpSp>
      <p:sp>
        <p:nvSpPr>
          <p:cNvPr id="15" name="Oval 20">
            <a:extLst>
              <a:ext uri="{FF2B5EF4-FFF2-40B4-BE49-F238E27FC236}">
                <a16:creationId xmlns:a16="http://schemas.microsoft.com/office/drawing/2014/main" id="{2638ECA5-2382-456A-BF1C-AFC7A7F8E9EF}"/>
              </a:ext>
            </a:extLst>
          </p:cNvPr>
          <p:cNvSpPr/>
          <p:nvPr/>
        </p:nvSpPr>
        <p:spPr>
          <a:xfrm>
            <a:off x="921578" y="2398387"/>
            <a:ext cx="138601" cy="133304"/>
          </a:xfrm>
          <a:prstGeom prst="ellipse">
            <a:avLst/>
          </a:prstGeom>
          <a:solidFill>
            <a:srgbClr val="4D3F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4D3F82"/>
              </a:solidFill>
              <a:effectLst/>
              <a:uLnTx/>
              <a:uFillTx/>
              <a:latin typeface="Century Gothic" panose="020B0502020202020204" pitchFamily="34" charset="0"/>
              <a:ea typeface="微软雅黑"/>
            </a:endParaRPr>
          </a:p>
        </p:txBody>
      </p:sp>
      <p:sp>
        <p:nvSpPr>
          <p:cNvPr id="16" name="Oval 20">
            <a:extLst>
              <a:ext uri="{FF2B5EF4-FFF2-40B4-BE49-F238E27FC236}">
                <a16:creationId xmlns:a16="http://schemas.microsoft.com/office/drawing/2014/main" id="{2638ECA5-2382-456A-BF1C-AFC7A7F8E9EF}"/>
              </a:ext>
            </a:extLst>
          </p:cNvPr>
          <p:cNvSpPr/>
          <p:nvPr/>
        </p:nvSpPr>
        <p:spPr>
          <a:xfrm>
            <a:off x="921577" y="3302124"/>
            <a:ext cx="138601" cy="133304"/>
          </a:xfrm>
          <a:prstGeom prst="ellipse">
            <a:avLst/>
          </a:prstGeom>
          <a:solidFill>
            <a:srgbClr val="4D3F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4D3F82"/>
              </a:solidFill>
              <a:effectLst/>
              <a:uLnTx/>
              <a:uFillTx/>
              <a:latin typeface="Century Gothic" panose="020B0502020202020204" pitchFamily="34" charset="0"/>
              <a:ea typeface="微软雅黑"/>
            </a:endParaRPr>
          </a:p>
        </p:txBody>
      </p:sp>
      <p:sp>
        <p:nvSpPr>
          <p:cNvPr id="17" name="Oval 20">
            <a:extLst>
              <a:ext uri="{FF2B5EF4-FFF2-40B4-BE49-F238E27FC236}">
                <a16:creationId xmlns:a16="http://schemas.microsoft.com/office/drawing/2014/main" id="{2638ECA5-2382-456A-BF1C-AFC7A7F8E9EF}"/>
              </a:ext>
            </a:extLst>
          </p:cNvPr>
          <p:cNvSpPr/>
          <p:nvPr/>
        </p:nvSpPr>
        <p:spPr>
          <a:xfrm>
            <a:off x="921576" y="4213416"/>
            <a:ext cx="138601" cy="133304"/>
          </a:xfrm>
          <a:prstGeom prst="ellipse">
            <a:avLst/>
          </a:prstGeom>
          <a:solidFill>
            <a:srgbClr val="4D3F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4D3F82"/>
              </a:solidFill>
              <a:effectLst/>
              <a:uLnTx/>
              <a:uFillTx/>
              <a:latin typeface="Century Gothic" panose="020B0502020202020204" pitchFamily="34" charset="0"/>
              <a:ea typeface="微软雅黑"/>
            </a:endParaRPr>
          </a:p>
        </p:txBody>
      </p:sp>
      <p:sp>
        <p:nvSpPr>
          <p:cNvPr id="18" name="Oval 20">
            <a:extLst>
              <a:ext uri="{FF2B5EF4-FFF2-40B4-BE49-F238E27FC236}">
                <a16:creationId xmlns:a16="http://schemas.microsoft.com/office/drawing/2014/main" id="{2638ECA5-2382-456A-BF1C-AFC7A7F8E9EF}"/>
              </a:ext>
            </a:extLst>
          </p:cNvPr>
          <p:cNvSpPr/>
          <p:nvPr/>
        </p:nvSpPr>
        <p:spPr>
          <a:xfrm>
            <a:off x="921576" y="5153126"/>
            <a:ext cx="138601" cy="133304"/>
          </a:xfrm>
          <a:prstGeom prst="ellipse">
            <a:avLst/>
          </a:prstGeom>
          <a:solidFill>
            <a:srgbClr val="4D3F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4D3F82"/>
              </a:solidFill>
              <a:effectLst/>
              <a:uLnTx/>
              <a:uFillTx/>
              <a:latin typeface="Century Gothic" panose="020B0502020202020204" pitchFamily="34" charset="0"/>
              <a:ea typeface="微软雅黑"/>
            </a:endParaRPr>
          </a:p>
        </p:txBody>
      </p:sp>
    </p:spTree>
    <p:extLst>
      <p:ext uri="{BB962C8B-B14F-4D97-AF65-F5344CB8AC3E}">
        <p14:creationId xmlns:p14="http://schemas.microsoft.com/office/powerpoint/2010/main" val="1692511173"/>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1071199" y="936655"/>
            <a:ext cx="9701576" cy="1938992"/>
          </a:xfrm>
          <a:prstGeom prst="rect">
            <a:avLst/>
          </a:prstGeom>
        </p:spPr>
        <p:txBody>
          <a:bodyPr wrap="square">
            <a:spAutoFit/>
          </a:bodyPr>
          <a:lstStyle/>
          <a:p>
            <a:pPr>
              <a:lnSpc>
                <a:spcPct val="200000"/>
              </a:lnSpc>
            </a:pPr>
            <a:r>
              <a:rPr lang="zh-CN" altLang="en-US" sz="2000" dirty="0">
                <a:solidFill>
                  <a:schemeClr val="tx1">
                    <a:lumMod val="50000"/>
                  </a:schemeClr>
                </a:solidFill>
                <a:latin typeface="+mn-ea"/>
              </a:rPr>
              <a:t>输入序列                                    ，通过一个有向图      来描述注意力机制，图的节点集合为                              ，图的有向边权重为两节点间的自注意力分数，节点 </a:t>
            </a:r>
            <a:r>
              <a:rPr lang="en-US" altLang="zh-CN" sz="2000" dirty="0" err="1">
                <a:solidFill>
                  <a:schemeClr val="tx1">
                    <a:lumMod val="50000"/>
                  </a:schemeClr>
                </a:solidFill>
                <a:latin typeface="+mn-ea"/>
              </a:rPr>
              <a:t>i</a:t>
            </a:r>
            <a:r>
              <a:rPr lang="en-US" altLang="zh-CN" sz="2000" dirty="0">
                <a:solidFill>
                  <a:schemeClr val="tx1">
                    <a:lumMod val="50000"/>
                  </a:schemeClr>
                </a:solidFill>
                <a:latin typeface="+mn-ea"/>
              </a:rPr>
              <a:t> </a:t>
            </a:r>
            <a:r>
              <a:rPr lang="zh-CN" altLang="en-US" sz="2000" dirty="0">
                <a:solidFill>
                  <a:schemeClr val="tx1">
                    <a:lumMod val="50000"/>
                  </a:schemeClr>
                </a:solidFill>
                <a:latin typeface="+mn-ea"/>
              </a:rPr>
              <a:t>的邻居节点集合为</a:t>
            </a:r>
            <a:r>
              <a:rPr lang="en-US" altLang="zh-CN" sz="2000" dirty="0">
                <a:solidFill>
                  <a:schemeClr val="tx1">
                    <a:lumMod val="50000"/>
                  </a:schemeClr>
                </a:solidFill>
                <a:latin typeface="+mn-ea"/>
              </a:rPr>
              <a:t>         </a:t>
            </a:r>
            <a:r>
              <a:rPr lang="zh-CN" altLang="en-US" sz="2000" dirty="0">
                <a:solidFill>
                  <a:schemeClr val="tx1">
                    <a:lumMod val="50000"/>
                  </a:schemeClr>
                </a:solidFill>
                <a:latin typeface="+mn-ea"/>
              </a:rPr>
              <a:t>。注意力机制的第 </a:t>
            </a:r>
            <a:r>
              <a:rPr lang="en-US" altLang="zh-CN" sz="2000" dirty="0" err="1">
                <a:solidFill>
                  <a:schemeClr val="tx1">
                    <a:lumMod val="50000"/>
                  </a:schemeClr>
                </a:solidFill>
                <a:latin typeface="+mn-ea"/>
              </a:rPr>
              <a:t>i</a:t>
            </a:r>
            <a:r>
              <a:rPr lang="en-US" altLang="zh-CN" sz="2000" dirty="0">
                <a:solidFill>
                  <a:schemeClr val="tx1">
                    <a:lumMod val="50000"/>
                  </a:schemeClr>
                </a:solidFill>
                <a:latin typeface="+mn-ea"/>
              </a:rPr>
              <a:t> </a:t>
            </a:r>
            <a:r>
              <a:rPr lang="zh-CN" altLang="en-US" sz="2000" dirty="0">
                <a:solidFill>
                  <a:schemeClr val="tx1">
                    <a:lumMod val="50000"/>
                  </a:schemeClr>
                </a:solidFill>
                <a:latin typeface="+mn-ea"/>
              </a:rPr>
              <a:t>个输出向量为</a:t>
            </a:r>
          </a:p>
        </p:txBody>
      </p:sp>
      <p:sp>
        <p:nvSpPr>
          <p:cNvPr id="20" name="文本框 19"/>
          <p:cNvSpPr txBox="1"/>
          <p:nvPr/>
        </p:nvSpPr>
        <p:spPr>
          <a:xfrm>
            <a:off x="1071199" y="457068"/>
            <a:ext cx="2132763" cy="523220"/>
          </a:xfrm>
          <a:prstGeom prst="rect">
            <a:avLst/>
          </a:prstGeom>
          <a:noFill/>
        </p:spPr>
        <p:txBody>
          <a:bodyPr wrap="none" rtlCol="0">
            <a:spAutoFit/>
          </a:bodyPr>
          <a:lstStyle/>
          <a:p>
            <a:pPr lvl="0">
              <a:defRPr/>
            </a:pPr>
            <a:r>
              <a:rPr lang="en-US" altLang="zh-CN" sz="2800" b="1" dirty="0">
                <a:solidFill>
                  <a:srgbClr val="4D3F82"/>
                </a:solidFill>
                <a:cs typeface="+mn-ea"/>
                <a:sym typeface="+mn-lt"/>
              </a:rPr>
              <a:t>Big Bird </a:t>
            </a:r>
            <a:r>
              <a:rPr lang="zh-CN" altLang="en-US" sz="2800" b="1" dirty="0">
                <a:solidFill>
                  <a:srgbClr val="4D3F82"/>
                </a:solidFill>
                <a:cs typeface="+mn-ea"/>
                <a:sym typeface="+mn-lt"/>
              </a:rPr>
              <a:t>简介</a:t>
            </a:r>
            <a:endParaRPr kumimoji="0" lang="zh-CN" altLang="en-US" sz="2800" b="1" i="0" u="none" strike="noStrike" kern="1200" cap="none" spc="0" normalizeH="0" baseline="0" noProof="0" dirty="0">
              <a:ln>
                <a:noFill/>
              </a:ln>
              <a:solidFill>
                <a:srgbClr val="4D3F82"/>
              </a:solidFill>
              <a:effectLst/>
              <a:uLnTx/>
              <a:uFillTx/>
              <a:latin typeface="Calibri"/>
              <a:ea typeface="微软雅黑"/>
              <a:cs typeface="+mn-ea"/>
              <a:sym typeface="+mn-lt"/>
            </a:endParaRPr>
          </a:p>
        </p:txBody>
      </p:sp>
      <p:sp>
        <p:nvSpPr>
          <p:cNvPr id="6" name="椭圆 5">
            <a:extLst>
              <a:ext uri="{FF2B5EF4-FFF2-40B4-BE49-F238E27FC236}">
                <a16:creationId xmlns:a16="http://schemas.microsoft.com/office/drawing/2014/main" id="{DF773A56-49AF-444E-AF6D-49DFDB041C2E}"/>
              </a:ext>
            </a:extLst>
          </p:cNvPr>
          <p:cNvSpPr/>
          <p:nvPr/>
        </p:nvSpPr>
        <p:spPr>
          <a:xfrm>
            <a:off x="11073997" y="5889631"/>
            <a:ext cx="872276" cy="872276"/>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9723BAD4-F047-4320-87A0-E95852694C3F}"/>
              </a:ext>
            </a:extLst>
          </p:cNvPr>
          <p:cNvSpPr/>
          <p:nvPr/>
        </p:nvSpPr>
        <p:spPr>
          <a:xfrm rot="9430845">
            <a:off x="11432508" y="5123846"/>
            <a:ext cx="344849" cy="344849"/>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D4E3EEDC-7C8A-43DB-BD42-E8947B413BB8}"/>
              </a:ext>
            </a:extLst>
          </p:cNvPr>
          <p:cNvSpPr/>
          <p:nvPr/>
        </p:nvSpPr>
        <p:spPr>
          <a:xfrm rot="9430845">
            <a:off x="10447956" y="6589483"/>
            <a:ext cx="344849" cy="344849"/>
          </a:xfrm>
          <a:prstGeom prst="ellipse">
            <a:avLst/>
          </a:prstGeom>
          <a:solidFill>
            <a:srgbClr val="4D3F82"/>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EF07DB3A-3E81-4DC1-8E47-D5A7AB5ABD16}"/>
              </a:ext>
            </a:extLst>
          </p:cNvPr>
          <p:cNvSpPr/>
          <p:nvPr/>
        </p:nvSpPr>
        <p:spPr>
          <a:xfrm rot="9430845">
            <a:off x="528920" y="441278"/>
            <a:ext cx="503796" cy="511184"/>
          </a:xfrm>
          <a:prstGeom prst="ellipse">
            <a:avLst/>
          </a:prstGeom>
          <a:solidFill>
            <a:srgbClr val="4D3F8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FB187FA8-C04C-4322-891C-A741CEA371EC}"/>
              </a:ext>
            </a:extLst>
          </p:cNvPr>
          <p:cNvSpPr txBox="1"/>
          <p:nvPr/>
        </p:nvSpPr>
        <p:spPr>
          <a:xfrm>
            <a:off x="524715" y="466029"/>
            <a:ext cx="561265" cy="461665"/>
          </a:xfrm>
          <a:prstGeom prst="rect">
            <a:avLst/>
          </a:prstGeom>
          <a:noFill/>
        </p:spPr>
        <p:txBody>
          <a:bodyPr wrap="square" rtlCol="0">
            <a:spAutoFit/>
          </a:bodyPr>
          <a:lstStyle/>
          <a:p>
            <a:r>
              <a:rPr lang="en-US" altLang="zh-CN" sz="2400" dirty="0">
                <a:solidFill>
                  <a:schemeClr val="bg1"/>
                </a:solidFill>
                <a:latin typeface="Bauhaus 93" panose="04030905020B02020C02" pitchFamily="82" charset="0"/>
              </a:rPr>
              <a:t>02</a:t>
            </a:r>
            <a:endParaRPr lang="zh-CN" altLang="en-US" sz="2400" dirty="0">
              <a:solidFill>
                <a:schemeClr val="bg1"/>
              </a:solidFill>
              <a:latin typeface="Bauhaus 93" panose="04030905020B02020C02" pitchFamily="82" charset="0"/>
            </a:endParaRPr>
          </a:p>
        </p:txBody>
      </p:sp>
      <p:sp>
        <p:nvSpPr>
          <p:cNvPr id="37" name="椭圆 36">
            <a:extLst>
              <a:ext uri="{FF2B5EF4-FFF2-40B4-BE49-F238E27FC236}">
                <a16:creationId xmlns:a16="http://schemas.microsoft.com/office/drawing/2014/main" id="{7A007603-F3D9-40C8-B984-92A6C591C1ED}"/>
              </a:ext>
            </a:extLst>
          </p:cNvPr>
          <p:cNvSpPr/>
          <p:nvPr/>
        </p:nvSpPr>
        <p:spPr>
          <a:xfrm rot="14219635">
            <a:off x="-422765" y="-198887"/>
            <a:ext cx="872276" cy="872276"/>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6E536261-448B-42D2-AA47-008BC8415B5E}"/>
              </a:ext>
            </a:extLst>
          </p:cNvPr>
          <p:cNvSpPr/>
          <p:nvPr/>
        </p:nvSpPr>
        <p:spPr>
          <a:xfrm rot="14219635">
            <a:off x="367756" y="1142977"/>
            <a:ext cx="163510" cy="163510"/>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0" name="图片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359445"/>
            <a:ext cx="3374582" cy="537824"/>
          </a:xfrm>
          <a:prstGeom prst="rect">
            <a:avLst/>
          </a:prstGeom>
        </p:spPr>
      </p:pic>
      <p:pic>
        <p:nvPicPr>
          <p:cNvPr id="4" name="图片 3"/>
          <p:cNvPicPr>
            <a:picLocks noChangeAspect="1"/>
          </p:cNvPicPr>
          <p:nvPr/>
        </p:nvPicPr>
        <p:blipFill>
          <a:blip r:embed="rId4"/>
          <a:stretch>
            <a:fillRect/>
          </a:stretch>
        </p:blipFill>
        <p:spPr>
          <a:xfrm>
            <a:off x="2210163" y="1094102"/>
            <a:ext cx="2743200" cy="390525"/>
          </a:xfrm>
          <a:prstGeom prst="rect">
            <a:avLst/>
          </a:prstGeom>
        </p:spPr>
      </p:pic>
      <p:pic>
        <p:nvPicPr>
          <p:cNvPr id="5" name="图片 4"/>
          <p:cNvPicPr>
            <a:picLocks noChangeAspect="1"/>
          </p:cNvPicPr>
          <p:nvPr/>
        </p:nvPicPr>
        <p:blipFill>
          <a:blip r:embed="rId5"/>
          <a:stretch>
            <a:fillRect/>
          </a:stretch>
        </p:blipFill>
        <p:spPr>
          <a:xfrm>
            <a:off x="6897573" y="1167582"/>
            <a:ext cx="396264" cy="355271"/>
          </a:xfrm>
          <a:prstGeom prst="rect">
            <a:avLst/>
          </a:prstGeom>
        </p:spPr>
      </p:pic>
      <p:pic>
        <p:nvPicPr>
          <p:cNvPr id="7" name="图片 6"/>
          <p:cNvPicPr>
            <a:picLocks noChangeAspect="1"/>
          </p:cNvPicPr>
          <p:nvPr/>
        </p:nvPicPr>
        <p:blipFill>
          <a:blip r:embed="rId6"/>
          <a:stretch>
            <a:fillRect/>
          </a:stretch>
        </p:blipFill>
        <p:spPr>
          <a:xfrm>
            <a:off x="1977112" y="1754899"/>
            <a:ext cx="2189864" cy="381953"/>
          </a:xfrm>
          <a:prstGeom prst="rect">
            <a:avLst/>
          </a:prstGeom>
        </p:spPr>
      </p:pic>
      <p:pic>
        <p:nvPicPr>
          <p:cNvPr id="9" name="图片 8"/>
          <p:cNvPicPr>
            <a:picLocks noChangeAspect="1"/>
          </p:cNvPicPr>
          <p:nvPr/>
        </p:nvPicPr>
        <p:blipFill>
          <a:blip r:embed="rId7"/>
          <a:stretch>
            <a:fillRect/>
          </a:stretch>
        </p:blipFill>
        <p:spPr>
          <a:xfrm>
            <a:off x="2953293" y="2360152"/>
            <a:ext cx="535601" cy="353879"/>
          </a:xfrm>
          <a:prstGeom prst="rect">
            <a:avLst/>
          </a:prstGeom>
        </p:spPr>
      </p:pic>
      <p:pic>
        <p:nvPicPr>
          <p:cNvPr id="10" name="图片 9"/>
          <p:cNvPicPr>
            <a:picLocks noChangeAspect="1"/>
          </p:cNvPicPr>
          <p:nvPr/>
        </p:nvPicPr>
        <p:blipFill>
          <a:blip r:embed="rId8"/>
          <a:stretch>
            <a:fillRect/>
          </a:stretch>
        </p:blipFill>
        <p:spPr>
          <a:xfrm>
            <a:off x="2321253" y="3145919"/>
            <a:ext cx="7962900" cy="838200"/>
          </a:xfrm>
          <a:prstGeom prst="rect">
            <a:avLst/>
          </a:prstGeom>
        </p:spPr>
      </p:pic>
      <p:pic>
        <p:nvPicPr>
          <p:cNvPr id="11" name="图片 10"/>
          <p:cNvPicPr>
            <a:picLocks noChangeAspect="1"/>
          </p:cNvPicPr>
          <p:nvPr/>
        </p:nvPicPr>
        <p:blipFill>
          <a:blip r:embed="rId9"/>
          <a:stretch>
            <a:fillRect/>
          </a:stretch>
        </p:blipFill>
        <p:spPr>
          <a:xfrm>
            <a:off x="1798821" y="4498678"/>
            <a:ext cx="1952625" cy="304800"/>
          </a:xfrm>
          <a:prstGeom prst="rect">
            <a:avLst/>
          </a:prstGeom>
        </p:spPr>
      </p:pic>
      <p:sp>
        <p:nvSpPr>
          <p:cNvPr id="12" name="矩形 11"/>
          <p:cNvSpPr/>
          <p:nvPr/>
        </p:nvSpPr>
        <p:spPr>
          <a:xfrm>
            <a:off x="1206645" y="4241328"/>
            <a:ext cx="9299435" cy="1938992"/>
          </a:xfrm>
          <a:prstGeom prst="rect">
            <a:avLst/>
          </a:prstGeom>
        </p:spPr>
        <p:txBody>
          <a:bodyPr wrap="square">
            <a:spAutoFit/>
          </a:bodyPr>
          <a:lstStyle/>
          <a:p>
            <a:pPr>
              <a:lnSpc>
                <a:spcPct val="200000"/>
              </a:lnSpc>
            </a:pPr>
            <a:r>
              <a:rPr lang="zh-CN" altLang="en-US" sz="2000" dirty="0">
                <a:solidFill>
                  <a:schemeClr val="tx1">
                    <a:lumMod val="50000"/>
                  </a:schemeClr>
                </a:solidFill>
                <a:latin typeface="+mn-ea"/>
              </a:rPr>
              <a:t>其中                           代表</a:t>
            </a:r>
            <a:r>
              <a:rPr lang="en-US" altLang="zh-CN" sz="2000" dirty="0">
                <a:solidFill>
                  <a:schemeClr val="tx1">
                    <a:lumMod val="50000"/>
                  </a:schemeClr>
                </a:solidFill>
                <a:latin typeface="+mn-ea"/>
              </a:rPr>
              <a:t>query</a:t>
            </a:r>
            <a:r>
              <a:rPr lang="zh-CN" altLang="en-US" sz="2000" dirty="0">
                <a:solidFill>
                  <a:schemeClr val="tx1">
                    <a:lumMod val="50000"/>
                  </a:schemeClr>
                </a:solidFill>
                <a:latin typeface="+mn-ea"/>
              </a:rPr>
              <a:t>函数和</a:t>
            </a:r>
            <a:r>
              <a:rPr lang="en-US" altLang="zh-CN" sz="2000" dirty="0">
                <a:solidFill>
                  <a:schemeClr val="tx1">
                    <a:lumMod val="50000"/>
                  </a:schemeClr>
                </a:solidFill>
                <a:latin typeface="+mn-ea"/>
              </a:rPr>
              <a:t>key</a:t>
            </a:r>
            <a:r>
              <a:rPr lang="zh-CN" altLang="en-US" sz="2000" dirty="0">
                <a:solidFill>
                  <a:schemeClr val="tx1">
                    <a:lumMod val="50000"/>
                  </a:schemeClr>
                </a:solidFill>
                <a:latin typeface="+mn-ea"/>
              </a:rPr>
              <a:t>函数，                      代表</a:t>
            </a:r>
            <a:r>
              <a:rPr lang="en-US" altLang="zh-CN" sz="2000" dirty="0">
                <a:solidFill>
                  <a:schemeClr val="tx1">
                    <a:lumMod val="50000"/>
                  </a:schemeClr>
                </a:solidFill>
                <a:latin typeface="+mn-ea"/>
              </a:rPr>
              <a:t>value</a:t>
            </a:r>
            <a:r>
              <a:rPr lang="zh-CN" altLang="en-US" sz="2000" dirty="0">
                <a:solidFill>
                  <a:schemeClr val="tx1">
                    <a:lumMod val="50000"/>
                  </a:schemeClr>
                </a:solidFill>
                <a:latin typeface="+mn-ea"/>
              </a:rPr>
              <a:t>函数，</a:t>
            </a:r>
            <a:endParaRPr lang="en-US" altLang="zh-CN" sz="2000" dirty="0">
              <a:solidFill>
                <a:schemeClr val="tx1">
                  <a:lumMod val="50000"/>
                </a:schemeClr>
              </a:solidFill>
              <a:latin typeface="+mn-ea"/>
            </a:endParaRPr>
          </a:p>
          <a:p>
            <a:pPr>
              <a:lnSpc>
                <a:spcPct val="200000"/>
              </a:lnSpc>
            </a:pPr>
            <a:r>
              <a:rPr lang="en-US" altLang="zh-CN" sz="2000" dirty="0"/>
              <a:t>    </a:t>
            </a:r>
            <a:r>
              <a:rPr lang="zh-CN" altLang="en-US" sz="2000" dirty="0">
                <a:solidFill>
                  <a:schemeClr val="tx1">
                    <a:lumMod val="50000"/>
                  </a:schemeClr>
                </a:solidFill>
              </a:rPr>
              <a:t>是</a:t>
            </a:r>
            <a:r>
              <a:rPr lang="en-US" altLang="zh-CN" sz="2000" dirty="0" err="1">
                <a:solidFill>
                  <a:schemeClr val="tx1">
                    <a:lumMod val="50000"/>
                  </a:schemeClr>
                </a:solidFill>
              </a:rPr>
              <a:t>softmax</a:t>
            </a:r>
            <a:r>
              <a:rPr lang="zh-CN" altLang="en-US" sz="2000" dirty="0">
                <a:solidFill>
                  <a:schemeClr val="tx1">
                    <a:lumMod val="50000"/>
                  </a:schemeClr>
                </a:solidFill>
              </a:rPr>
              <a:t>或是</a:t>
            </a:r>
            <a:r>
              <a:rPr lang="en-US" altLang="zh-CN" sz="2000" dirty="0" err="1">
                <a:solidFill>
                  <a:schemeClr val="tx1">
                    <a:lumMod val="50000"/>
                  </a:schemeClr>
                </a:solidFill>
              </a:rPr>
              <a:t>hardmax</a:t>
            </a:r>
            <a:r>
              <a:rPr lang="zh-CN" altLang="en-US" sz="2000" dirty="0">
                <a:solidFill>
                  <a:schemeClr val="tx1">
                    <a:lumMod val="50000"/>
                  </a:schemeClr>
                </a:solidFill>
              </a:rPr>
              <a:t>函数，     代表头的个数。           是由邻居节点组成的矩阵</a:t>
            </a:r>
            <a:endParaRPr lang="en-US" altLang="zh-CN" sz="2000" dirty="0">
              <a:solidFill>
                <a:schemeClr val="tx1">
                  <a:lumMod val="50000"/>
                </a:schemeClr>
              </a:solidFill>
            </a:endParaRPr>
          </a:p>
          <a:p>
            <a:pPr>
              <a:lnSpc>
                <a:spcPct val="200000"/>
              </a:lnSpc>
            </a:pPr>
            <a:r>
              <a:rPr lang="zh-CN" altLang="en-US" sz="2000" dirty="0">
                <a:solidFill>
                  <a:schemeClr val="tx1">
                    <a:lumMod val="50000"/>
                  </a:schemeClr>
                </a:solidFill>
              </a:rPr>
              <a:t>                            而非全部输入。</a:t>
            </a:r>
          </a:p>
        </p:txBody>
      </p:sp>
      <p:pic>
        <p:nvPicPr>
          <p:cNvPr id="14" name="图片 13"/>
          <p:cNvPicPr>
            <a:picLocks noChangeAspect="1"/>
          </p:cNvPicPr>
          <p:nvPr/>
        </p:nvPicPr>
        <p:blipFill>
          <a:blip r:embed="rId10"/>
          <a:stretch>
            <a:fillRect/>
          </a:stretch>
        </p:blipFill>
        <p:spPr>
          <a:xfrm>
            <a:off x="6952433" y="4498679"/>
            <a:ext cx="1576552" cy="304800"/>
          </a:xfrm>
          <a:prstGeom prst="rect">
            <a:avLst/>
          </a:prstGeom>
        </p:spPr>
      </p:pic>
      <p:pic>
        <p:nvPicPr>
          <p:cNvPr id="15" name="图片 14"/>
          <p:cNvPicPr>
            <a:picLocks noChangeAspect="1"/>
          </p:cNvPicPr>
          <p:nvPr/>
        </p:nvPicPr>
        <p:blipFill>
          <a:blip r:embed="rId11"/>
          <a:stretch>
            <a:fillRect/>
          </a:stretch>
        </p:blipFill>
        <p:spPr>
          <a:xfrm>
            <a:off x="1245834" y="5167256"/>
            <a:ext cx="257175" cy="200025"/>
          </a:xfrm>
          <a:prstGeom prst="rect">
            <a:avLst/>
          </a:prstGeom>
        </p:spPr>
      </p:pic>
      <p:pic>
        <p:nvPicPr>
          <p:cNvPr id="16" name="图片 15"/>
          <p:cNvPicPr>
            <a:picLocks noChangeAspect="1"/>
          </p:cNvPicPr>
          <p:nvPr/>
        </p:nvPicPr>
        <p:blipFill>
          <a:blip r:embed="rId12"/>
          <a:stretch>
            <a:fillRect/>
          </a:stretch>
        </p:blipFill>
        <p:spPr>
          <a:xfrm>
            <a:off x="4696187" y="5057758"/>
            <a:ext cx="375663" cy="338097"/>
          </a:xfrm>
          <a:prstGeom prst="rect">
            <a:avLst/>
          </a:prstGeom>
        </p:spPr>
      </p:pic>
      <p:pic>
        <p:nvPicPr>
          <p:cNvPr id="17" name="图片 16"/>
          <p:cNvPicPr>
            <a:picLocks noChangeAspect="1"/>
          </p:cNvPicPr>
          <p:nvPr/>
        </p:nvPicPr>
        <p:blipFill>
          <a:blip r:embed="rId13"/>
          <a:stretch>
            <a:fillRect/>
          </a:stretch>
        </p:blipFill>
        <p:spPr>
          <a:xfrm>
            <a:off x="6794962" y="5090960"/>
            <a:ext cx="696737" cy="343009"/>
          </a:xfrm>
          <a:prstGeom prst="rect">
            <a:avLst/>
          </a:prstGeom>
        </p:spPr>
      </p:pic>
      <p:pic>
        <p:nvPicPr>
          <p:cNvPr id="19" name="图片 18"/>
          <p:cNvPicPr>
            <a:picLocks noChangeAspect="1"/>
          </p:cNvPicPr>
          <p:nvPr/>
        </p:nvPicPr>
        <p:blipFill>
          <a:blip r:embed="rId14"/>
          <a:stretch>
            <a:fillRect/>
          </a:stretch>
        </p:blipFill>
        <p:spPr>
          <a:xfrm>
            <a:off x="1245834" y="5677426"/>
            <a:ext cx="1628775" cy="361950"/>
          </a:xfrm>
          <a:prstGeom prst="rect">
            <a:avLst/>
          </a:prstGeom>
        </p:spPr>
      </p:pic>
      <p:sp>
        <p:nvSpPr>
          <p:cNvPr id="24" name="矩形 23">
            <a:extLst>
              <a:ext uri="{FF2B5EF4-FFF2-40B4-BE49-F238E27FC236}">
                <a16:creationId xmlns:a16="http://schemas.microsoft.com/office/drawing/2014/main" id="{3306D8F6-0289-4835-A3E0-A24D538E4454}"/>
              </a:ext>
            </a:extLst>
          </p:cNvPr>
          <p:cNvSpPr/>
          <p:nvPr/>
        </p:nvSpPr>
        <p:spPr>
          <a:xfrm>
            <a:off x="2316570" y="3169220"/>
            <a:ext cx="6455955" cy="892484"/>
          </a:xfrm>
          <a:prstGeom prst="rect">
            <a:avLst/>
          </a:prstGeom>
          <a:solidFill>
            <a:srgbClr val="4D3F82">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95867436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矩形 38">
            <a:extLst>
              <a:ext uri="{FF2B5EF4-FFF2-40B4-BE49-F238E27FC236}">
                <a16:creationId xmlns:a16="http://schemas.microsoft.com/office/drawing/2014/main" id="{3306D8F6-0289-4835-A3E0-A24D538E4454}"/>
              </a:ext>
            </a:extLst>
          </p:cNvPr>
          <p:cNvSpPr/>
          <p:nvPr/>
        </p:nvSpPr>
        <p:spPr>
          <a:xfrm>
            <a:off x="2525759" y="3178150"/>
            <a:ext cx="6245135" cy="892484"/>
          </a:xfrm>
          <a:prstGeom prst="rect">
            <a:avLst/>
          </a:prstGeom>
          <a:solidFill>
            <a:srgbClr val="9999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3306D8F6-0289-4835-A3E0-A24D538E4454}"/>
              </a:ext>
            </a:extLst>
          </p:cNvPr>
          <p:cNvSpPr/>
          <p:nvPr/>
        </p:nvSpPr>
        <p:spPr>
          <a:xfrm>
            <a:off x="2603141" y="3236851"/>
            <a:ext cx="6245135" cy="892484"/>
          </a:xfrm>
          <a:prstGeom prst="rect">
            <a:avLst/>
          </a:prstGeom>
          <a:solidFill>
            <a:srgbClr val="4D3F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1071199" y="457068"/>
            <a:ext cx="2132763" cy="523220"/>
          </a:xfrm>
          <a:prstGeom prst="rect">
            <a:avLst/>
          </a:prstGeom>
          <a:noFill/>
        </p:spPr>
        <p:txBody>
          <a:bodyPr wrap="none" rtlCol="0">
            <a:spAutoFit/>
          </a:bodyPr>
          <a:lstStyle/>
          <a:p>
            <a:pPr lvl="0">
              <a:defRPr/>
            </a:pPr>
            <a:r>
              <a:rPr lang="en-US" altLang="zh-CN" sz="2800" b="1" dirty="0">
                <a:solidFill>
                  <a:srgbClr val="4D3F82"/>
                </a:solidFill>
                <a:cs typeface="+mn-ea"/>
                <a:sym typeface="+mn-lt"/>
              </a:rPr>
              <a:t>Big Bird </a:t>
            </a:r>
            <a:r>
              <a:rPr lang="zh-CN" altLang="en-US" sz="2800" b="1" dirty="0">
                <a:solidFill>
                  <a:srgbClr val="4D3F82"/>
                </a:solidFill>
                <a:cs typeface="+mn-ea"/>
                <a:sym typeface="+mn-lt"/>
              </a:rPr>
              <a:t>简介</a:t>
            </a:r>
            <a:endParaRPr kumimoji="0" lang="zh-CN" altLang="en-US" sz="2800" b="1" i="0" u="none" strike="noStrike" kern="1200" cap="none" spc="0" normalizeH="0" baseline="0" noProof="0" dirty="0">
              <a:ln>
                <a:noFill/>
              </a:ln>
              <a:solidFill>
                <a:srgbClr val="4D3F82"/>
              </a:solidFill>
              <a:effectLst/>
              <a:uLnTx/>
              <a:uFillTx/>
              <a:latin typeface="Calibri"/>
              <a:ea typeface="微软雅黑"/>
              <a:cs typeface="+mn-ea"/>
              <a:sym typeface="+mn-lt"/>
            </a:endParaRPr>
          </a:p>
        </p:txBody>
      </p:sp>
      <p:sp>
        <p:nvSpPr>
          <p:cNvPr id="6" name="椭圆 5">
            <a:extLst>
              <a:ext uri="{FF2B5EF4-FFF2-40B4-BE49-F238E27FC236}">
                <a16:creationId xmlns:a16="http://schemas.microsoft.com/office/drawing/2014/main" id="{DF773A56-49AF-444E-AF6D-49DFDB041C2E}"/>
              </a:ext>
            </a:extLst>
          </p:cNvPr>
          <p:cNvSpPr/>
          <p:nvPr/>
        </p:nvSpPr>
        <p:spPr>
          <a:xfrm>
            <a:off x="11073997" y="5889631"/>
            <a:ext cx="872276" cy="872276"/>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9723BAD4-F047-4320-87A0-E95852694C3F}"/>
              </a:ext>
            </a:extLst>
          </p:cNvPr>
          <p:cNvSpPr/>
          <p:nvPr/>
        </p:nvSpPr>
        <p:spPr>
          <a:xfrm rot="9430845">
            <a:off x="11432508" y="5123846"/>
            <a:ext cx="344849" cy="344849"/>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D4E3EEDC-7C8A-43DB-BD42-E8947B413BB8}"/>
              </a:ext>
            </a:extLst>
          </p:cNvPr>
          <p:cNvSpPr/>
          <p:nvPr/>
        </p:nvSpPr>
        <p:spPr>
          <a:xfrm rot="9430845">
            <a:off x="10447956" y="6589483"/>
            <a:ext cx="344849" cy="344849"/>
          </a:xfrm>
          <a:prstGeom prst="ellipse">
            <a:avLst/>
          </a:prstGeom>
          <a:solidFill>
            <a:srgbClr val="4D3F82"/>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EF07DB3A-3E81-4DC1-8E47-D5A7AB5ABD16}"/>
              </a:ext>
            </a:extLst>
          </p:cNvPr>
          <p:cNvSpPr/>
          <p:nvPr/>
        </p:nvSpPr>
        <p:spPr>
          <a:xfrm rot="9430845">
            <a:off x="528920" y="441278"/>
            <a:ext cx="503796" cy="511184"/>
          </a:xfrm>
          <a:prstGeom prst="ellipse">
            <a:avLst/>
          </a:prstGeom>
          <a:solidFill>
            <a:srgbClr val="4D3F8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FB187FA8-C04C-4322-891C-A741CEA371EC}"/>
              </a:ext>
            </a:extLst>
          </p:cNvPr>
          <p:cNvSpPr txBox="1"/>
          <p:nvPr/>
        </p:nvSpPr>
        <p:spPr>
          <a:xfrm>
            <a:off x="524715" y="466029"/>
            <a:ext cx="561265" cy="461665"/>
          </a:xfrm>
          <a:prstGeom prst="rect">
            <a:avLst/>
          </a:prstGeom>
          <a:noFill/>
        </p:spPr>
        <p:txBody>
          <a:bodyPr wrap="square" rtlCol="0">
            <a:spAutoFit/>
          </a:bodyPr>
          <a:lstStyle/>
          <a:p>
            <a:r>
              <a:rPr lang="en-US" altLang="zh-CN" sz="2400" dirty="0">
                <a:solidFill>
                  <a:schemeClr val="bg1"/>
                </a:solidFill>
                <a:latin typeface="Bauhaus 93" panose="04030905020B02020C02" pitchFamily="82" charset="0"/>
              </a:rPr>
              <a:t>02</a:t>
            </a:r>
            <a:endParaRPr lang="zh-CN" altLang="en-US" sz="2400" dirty="0">
              <a:solidFill>
                <a:schemeClr val="bg1"/>
              </a:solidFill>
              <a:latin typeface="Bauhaus 93" panose="04030905020B02020C02" pitchFamily="82" charset="0"/>
            </a:endParaRPr>
          </a:p>
        </p:txBody>
      </p:sp>
      <p:sp>
        <p:nvSpPr>
          <p:cNvPr id="37" name="椭圆 36">
            <a:extLst>
              <a:ext uri="{FF2B5EF4-FFF2-40B4-BE49-F238E27FC236}">
                <a16:creationId xmlns:a16="http://schemas.microsoft.com/office/drawing/2014/main" id="{7A007603-F3D9-40C8-B984-92A6C591C1ED}"/>
              </a:ext>
            </a:extLst>
          </p:cNvPr>
          <p:cNvSpPr/>
          <p:nvPr/>
        </p:nvSpPr>
        <p:spPr>
          <a:xfrm rot="14219635">
            <a:off x="-422765" y="-198887"/>
            <a:ext cx="872276" cy="872276"/>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6E536261-448B-42D2-AA47-008BC8415B5E}"/>
              </a:ext>
            </a:extLst>
          </p:cNvPr>
          <p:cNvSpPr/>
          <p:nvPr/>
        </p:nvSpPr>
        <p:spPr>
          <a:xfrm rot="14219635">
            <a:off x="367756" y="1142977"/>
            <a:ext cx="163510" cy="163510"/>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0" name="图片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359445"/>
            <a:ext cx="3374582" cy="537824"/>
          </a:xfrm>
          <a:prstGeom prst="rect">
            <a:avLst/>
          </a:prstGeom>
        </p:spPr>
      </p:pic>
      <p:sp>
        <p:nvSpPr>
          <p:cNvPr id="3" name="矩形 2"/>
          <p:cNvSpPr/>
          <p:nvPr/>
        </p:nvSpPr>
        <p:spPr>
          <a:xfrm>
            <a:off x="1085980" y="1111636"/>
            <a:ext cx="9760201" cy="1938992"/>
          </a:xfrm>
          <a:prstGeom prst="rect">
            <a:avLst/>
          </a:prstGeom>
        </p:spPr>
        <p:txBody>
          <a:bodyPr wrap="square">
            <a:spAutoFit/>
          </a:bodyPr>
          <a:lstStyle/>
          <a:p>
            <a:pPr>
              <a:lnSpc>
                <a:spcPct val="200000"/>
              </a:lnSpc>
            </a:pPr>
            <a:r>
              <a:rPr lang="zh-CN" altLang="en-US" sz="2000" dirty="0">
                <a:solidFill>
                  <a:schemeClr val="tx1">
                    <a:lumMod val="50000"/>
                  </a:schemeClr>
                </a:solidFill>
                <a:latin typeface="+mn-ea"/>
              </a:rPr>
              <a:t>为了便于描述，定义图</a:t>
            </a:r>
            <a:r>
              <a:rPr lang="en-US" altLang="zh-CN" sz="2000" dirty="0">
                <a:solidFill>
                  <a:schemeClr val="tx1">
                    <a:lumMod val="50000"/>
                  </a:schemeClr>
                </a:solidFill>
                <a:latin typeface="+mn-ea"/>
              </a:rPr>
              <a:t>D</a:t>
            </a:r>
            <a:r>
              <a:rPr lang="zh-CN" altLang="en-US" sz="2000" dirty="0">
                <a:solidFill>
                  <a:schemeClr val="tx1">
                    <a:lumMod val="50000"/>
                  </a:schemeClr>
                </a:solidFill>
                <a:latin typeface="+mn-ea"/>
              </a:rPr>
              <a:t>的邻接矩阵                    ，若     和    参与</a:t>
            </a:r>
            <a:r>
              <a:rPr lang="en-US" altLang="zh-CN" sz="2000" dirty="0">
                <a:solidFill>
                  <a:schemeClr val="tx1">
                    <a:lumMod val="50000"/>
                  </a:schemeClr>
                </a:solidFill>
                <a:latin typeface="+mn-ea"/>
              </a:rPr>
              <a:t>attention</a:t>
            </a:r>
            <a:r>
              <a:rPr lang="zh-CN" altLang="en-US" sz="2000" dirty="0">
                <a:solidFill>
                  <a:schemeClr val="tx1">
                    <a:lumMod val="50000"/>
                  </a:schemeClr>
                </a:solidFill>
                <a:latin typeface="+mn-ea"/>
              </a:rPr>
              <a:t>运算，则            ，否则为</a:t>
            </a:r>
            <a:r>
              <a:rPr lang="en-US" altLang="zh-CN" sz="2000" dirty="0">
                <a:solidFill>
                  <a:schemeClr val="tx1">
                    <a:lumMod val="50000"/>
                  </a:schemeClr>
                </a:solidFill>
                <a:latin typeface="+mn-ea"/>
              </a:rPr>
              <a:t>0</a:t>
            </a:r>
            <a:r>
              <a:rPr lang="zh-CN" altLang="en-US" sz="2000" dirty="0">
                <a:solidFill>
                  <a:schemeClr val="tx1">
                    <a:lumMod val="50000"/>
                  </a:schemeClr>
                </a:solidFill>
                <a:latin typeface="+mn-ea"/>
              </a:rPr>
              <a:t>。</a:t>
            </a:r>
            <a:endParaRPr lang="en-US" altLang="zh-CN" sz="2000" dirty="0">
              <a:solidFill>
                <a:schemeClr val="tx1">
                  <a:lumMod val="50000"/>
                </a:schemeClr>
              </a:solidFill>
              <a:latin typeface="+mn-ea"/>
            </a:endParaRPr>
          </a:p>
          <a:p>
            <a:pPr>
              <a:lnSpc>
                <a:spcPct val="200000"/>
              </a:lnSpc>
            </a:pPr>
            <a:r>
              <a:rPr lang="zh-CN" altLang="en-US" sz="2000" dirty="0">
                <a:solidFill>
                  <a:schemeClr val="tx1">
                    <a:lumMod val="50000"/>
                  </a:schemeClr>
                </a:solidFill>
                <a:latin typeface="+mn-ea"/>
              </a:rPr>
              <a:t>对于全局</a:t>
            </a:r>
            <a:r>
              <a:rPr lang="en-US" altLang="zh-CN" sz="2000" dirty="0">
                <a:solidFill>
                  <a:schemeClr val="tx1">
                    <a:lumMod val="50000"/>
                  </a:schemeClr>
                </a:solidFill>
                <a:latin typeface="+mn-ea"/>
              </a:rPr>
              <a:t>attention</a:t>
            </a:r>
            <a:r>
              <a:rPr lang="zh-CN" altLang="en-US" sz="2000" dirty="0">
                <a:solidFill>
                  <a:schemeClr val="tx1">
                    <a:lumMod val="50000"/>
                  </a:schemeClr>
                </a:solidFill>
                <a:latin typeface="+mn-ea"/>
              </a:rPr>
              <a:t>（如</a:t>
            </a:r>
            <a:r>
              <a:rPr lang="en-US" altLang="zh-CN" sz="2000" dirty="0">
                <a:solidFill>
                  <a:schemeClr val="tx1">
                    <a:lumMod val="50000"/>
                  </a:schemeClr>
                </a:solidFill>
                <a:latin typeface="+mn-ea"/>
              </a:rPr>
              <a:t>BERT</a:t>
            </a:r>
            <a:r>
              <a:rPr lang="zh-CN" altLang="en-US" sz="2000" dirty="0">
                <a:solidFill>
                  <a:schemeClr val="tx1">
                    <a:lumMod val="50000"/>
                  </a:schemeClr>
                </a:solidFill>
                <a:latin typeface="+mn-ea"/>
              </a:rPr>
              <a:t>），其邻接矩阵为全</a:t>
            </a:r>
            <a:r>
              <a:rPr lang="en-US" altLang="zh-CN" sz="2000" dirty="0">
                <a:solidFill>
                  <a:schemeClr val="tx1">
                    <a:lumMod val="50000"/>
                  </a:schemeClr>
                </a:solidFill>
                <a:latin typeface="+mn-ea"/>
              </a:rPr>
              <a:t>1</a:t>
            </a:r>
            <a:r>
              <a:rPr lang="zh-CN" altLang="en-US" sz="2000" dirty="0">
                <a:solidFill>
                  <a:schemeClr val="tx1">
                    <a:lumMod val="50000"/>
                  </a:schemeClr>
                </a:solidFill>
                <a:latin typeface="+mn-ea"/>
              </a:rPr>
              <a:t>矩阵，相当于是一个全连接图。</a:t>
            </a:r>
            <a:endParaRPr lang="zh-CN" altLang="en-US" sz="2000" dirty="0"/>
          </a:p>
        </p:txBody>
      </p:sp>
      <p:pic>
        <p:nvPicPr>
          <p:cNvPr id="4" name="图片 3"/>
          <p:cNvPicPr>
            <a:picLocks noChangeAspect="1"/>
          </p:cNvPicPr>
          <p:nvPr/>
        </p:nvPicPr>
        <p:blipFill>
          <a:blip r:embed="rId4"/>
          <a:stretch>
            <a:fillRect/>
          </a:stretch>
        </p:blipFill>
        <p:spPr>
          <a:xfrm>
            <a:off x="5180305" y="1362022"/>
            <a:ext cx="1534003" cy="323497"/>
          </a:xfrm>
          <a:prstGeom prst="rect">
            <a:avLst/>
          </a:prstGeom>
        </p:spPr>
      </p:pic>
      <p:pic>
        <p:nvPicPr>
          <p:cNvPr id="5" name="图片 4"/>
          <p:cNvPicPr>
            <a:picLocks noChangeAspect="1"/>
          </p:cNvPicPr>
          <p:nvPr/>
        </p:nvPicPr>
        <p:blipFill>
          <a:blip r:embed="rId5"/>
          <a:stretch>
            <a:fillRect/>
          </a:stretch>
        </p:blipFill>
        <p:spPr>
          <a:xfrm>
            <a:off x="1452834" y="1987827"/>
            <a:ext cx="950731" cy="320471"/>
          </a:xfrm>
          <a:prstGeom prst="rect">
            <a:avLst/>
          </a:prstGeom>
        </p:spPr>
      </p:pic>
      <p:pic>
        <p:nvPicPr>
          <p:cNvPr id="7" name="图片 6"/>
          <p:cNvPicPr>
            <a:picLocks noChangeAspect="1"/>
          </p:cNvPicPr>
          <p:nvPr/>
        </p:nvPicPr>
        <p:blipFill>
          <a:blip r:embed="rId6"/>
          <a:stretch>
            <a:fillRect/>
          </a:stretch>
        </p:blipFill>
        <p:spPr>
          <a:xfrm>
            <a:off x="7159302" y="1362022"/>
            <a:ext cx="359441" cy="323497"/>
          </a:xfrm>
          <a:prstGeom prst="rect">
            <a:avLst/>
          </a:prstGeom>
        </p:spPr>
      </p:pic>
      <p:pic>
        <p:nvPicPr>
          <p:cNvPr id="9" name="图片 8"/>
          <p:cNvPicPr>
            <a:picLocks noChangeAspect="1"/>
          </p:cNvPicPr>
          <p:nvPr/>
        </p:nvPicPr>
        <p:blipFill>
          <a:blip r:embed="rId7"/>
          <a:stretch>
            <a:fillRect/>
          </a:stretch>
        </p:blipFill>
        <p:spPr>
          <a:xfrm>
            <a:off x="7805214" y="1368473"/>
            <a:ext cx="317046" cy="317046"/>
          </a:xfrm>
          <a:prstGeom prst="rect">
            <a:avLst/>
          </a:prstGeom>
        </p:spPr>
      </p:pic>
      <p:grpSp>
        <p:nvGrpSpPr>
          <p:cNvPr id="16" name="组合 15"/>
          <p:cNvGrpSpPr/>
          <p:nvPr/>
        </p:nvGrpSpPr>
        <p:grpSpPr>
          <a:xfrm>
            <a:off x="2603141" y="3505673"/>
            <a:ext cx="5847907" cy="616719"/>
            <a:chOff x="2479316" y="3505673"/>
            <a:chExt cx="5847907" cy="616719"/>
          </a:xfrm>
        </p:grpSpPr>
        <p:cxnSp>
          <p:nvCxnSpPr>
            <p:cNvPr id="11" name="直接连接符 10"/>
            <p:cNvCxnSpPr/>
            <p:nvPr/>
          </p:nvCxnSpPr>
          <p:spPr>
            <a:xfrm flipV="1">
              <a:off x="5014761" y="3705728"/>
              <a:ext cx="1546459" cy="1604"/>
            </a:xfrm>
            <a:prstGeom prst="line">
              <a:avLst/>
            </a:prstGeom>
            <a:ln w="25400">
              <a:solidFill>
                <a:schemeClr val="bg1"/>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2479316" y="3505673"/>
              <a:ext cx="2236510" cy="400110"/>
            </a:xfrm>
            <a:prstGeom prst="rect">
              <a:avLst/>
            </a:prstGeom>
          </p:spPr>
          <p:txBody>
            <a:bodyPr wrap="none">
              <a:spAutoFit/>
            </a:bodyPr>
            <a:lstStyle/>
            <a:p>
              <a:r>
                <a:rPr lang="zh-CN" altLang="en-US" sz="2000" dirty="0">
                  <a:solidFill>
                    <a:schemeClr val="bg1"/>
                  </a:solidFill>
                  <a:latin typeface="+mn-ea"/>
                </a:rPr>
                <a:t>降低二次方复杂度</a:t>
              </a:r>
              <a:endParaRPr lang="zh-CN" altLang="en-US" sz="2000" dirty="0">
                <a:solidFill>
                  <a:schemeClr val="bg1"/>
                </a:solidFill>
              </a:endParaRPr>
            </a:p>
          </p:txBody>
        </p:sp>
        <p:sp>
          <p:nvSpPr>
            <p:cNvPr id="24" name="矩形 23"/>
            <p:cNvSpPr/>
            <p:nvPr/>
          </p:nvSpPr>
          <p:spPr>
            <a:xfrm>
              <a:off x="6860155" y="3505673"/>
              <a:ext cx="1467068" cy="400110"/>
            </a:xfrm>
            <a:prstGeom prst="rect">
              <a:avLst/>
            </a:prstGeom>
          </p:spPr>
          <p:txBody>
            <a:bodyPr wrap="none">
              <a:spAutoFit/>
            </a:bodyPr>
            <a:lstStyle/>
            <a:p>
              <a:r>
                <a:rPr lang="zh-CN" altLang="en-US" sz="2000" dirty="0">
                  <a:solidFill>
                    <a:schemeClr val="bg1"/>
                  </a:solidFill>
                </a:rPr>
                <a:t>图稀疏问题</a:t>
              </a:r>
            </a:p>
          </p:txBody>
        </p:sp>
        <p:sp>
          <p:nvSpPr>
            <p:cNvPr id="25" name="矩形 24"/>
            <p:cNvSpPr/>
            <p:nvPr/>
          </p:nvSpPr>
          <p:spPr>
            <a:xfrm>
              <a:off x="5274476" y="3722282"/>
              <a:ext cx="954107" cy="400110"/>
            </a:xfrm>
            <a:prstGeom prst="rect">
              <a:avLst/>
            </a:prstGeom>
          </p:spPr>
          <p:txBody>
            <a:bodyPr wrap="none">
              <a:spAutoFit/>
            </a:bodyPr>
            <a:lstStyle/>
            <a:p>
              <a:r>
                <a:rPr lang="zh-CN" altLang="en-US" sz="2000" dirty="0">
                  <a:solidFill>
                    <a:schemeClr val="bg1"/>
                  </a:solidFill>
                  <a:latin typeface="+mn-ea"/>
                </a:rPr>
                <a:t>转换为</a:t>
              </a:r>
              <a:endParaRPr lang="zh-CN" altLang="en-US" sz="2000" dirty="0">
                <a:solidFill>
                  <a:schemeClr val="bg1"/>
                </a:solidFill>
              </a:endParaRPr>
            </a:p>
          </p:txBody>
        </p:sp>
      </p:grpSp>
      <p:sp>
        <p:nvSpPr>
          <p:cNvPr id="18" name="矩形 17"/>
          <p:cNvSpPr/>
          <p:nvPr/>
        </p:nvSpPr>
        <p:spPr>
          <a:xfrm>
            <a:off x="1151391" y="4796385"/>
            <a:ext cx="2858475" cy="646331"/>
          </a:xfrm>
          <a:prstGeom prst="rect">
            <a:avLst/>
          </a:prstGeom>
        </p:spPr>
        <p:txBody>
          <a:bodyPr wrap="none">
            <a:spAutoFit/>
          </a:bodyPr>
          <a:lstStyle/>
          <a:p>
            <a:pPr>
              <a:lnSpc>
                <a:spcPct val="200000"/>
              </a:lnSpc>
            </a:pPr>
            <a:r>
              <a:rPr lang="zh-CN" altLang="en-US" dirty="0">
                <a:solidFill>
                  <a:schemeClr val="tx1">
                    <a:lumMod val="50000"/>
                  </a:schemeClr>
                </a:solidFill>
                <a:latin typeface="+mn-ea"/>
              </a:rPr>
              <a:t>文中采用了</a:t>
            </a:r>
            <a:r>
              <a:rPr lang="en-US" altLang="zh-CN" dirty="0">
                <a:solidFill>
                  <a:schemeClr val="tx1">
                    <a:lumMod val="50000"/>
                  </a:schemeClr>
                </a:solidFill>
                <a:latin typeface="+mn-ea"/>
              </a:rPr>
              <a:t>3</a:t>
            </a:r>
            <a:r>
              <a:rPr lang="zh-CN" altLang="en-US" dirty="0">
                <a:solidFill>
                  <a:schemeClr val="tx1">
                    <a:lumMod val="50000"/>
                  </a:schemeClr>
                </a:solidFill>
                <a:latin typeface="+mn-ea"/>
              </a:rPr>
              <a:t>种图稀疏方法</a:t>
            </a:r>
            <a:endParaRPr lang="zh-CN" altLang="en-US" dirty="0"/>
          </a:p>
        </p:txBody>
      </p:sp>
      <p:sp>
        <p:nvSpPr>
          <p:cNvPr id="29" name="矩形 28"/>
          <p:cNvSpPr/>
          <p:nvPr/>
        </p:nvSpPr>
        <p:spPr>
          <a:xfrm>
            <a:off x="4361021" y="4242030"/>
            <a:ext cx="1511568" cy="567463"/>
          </a:xfrm>
          <a:prstGeom prst="rect">
            <a:avLst/>
          </a:prstGeom>
        </p:spPr>
        <p:txBody>
          <a:bodyPr wrap="none">
            <a:spAutoFit/>
          </a:bodyPr>
          <a:lstStyle/>
          <a:p>
            <a:pPr>
              <a:lnSpc>
                <a:spcPct val="200000"/>
              </a:lnSpc>
            </a:pPr>
            <a:r>
              <a:rPr lang="zh-CN" altLang="en-US" dirty="0">
                <a:solidFill>
                  <a:srgbClr val="4D3F82"/>
                </a:solidFill>
              </a:rPr>
              <a:t>随机</a:t>
            </a:r>
            <a:r>
              <a:rPr lang="en-US" altLang="zh-CN" dirty="0">
                <a:solidFill>
                  <a:srgbClr val="4D3F82"/>
                </a:solidFill>
              </a:rPr>
              <a:t>attention</a:t>
            </a:r>
            <a:endParaRPr lang="zh-CN" altLang="en-US" dirty="0">
              <a:solidFill>
                <a:srgbClr val="4D3F82"/>
              </a:solidFill>
            </a:endParaRPr>
          </a:p>
        </p:txBody>
      </p:sp>
      <p:sp>
        <p:nvSpPr>
          <p:cNvPr id="30" name="矩形 29"/>
          <p:cNvSpPr/>
          <p:nvPr/>
        </p:nvSpPr>
        <p:spPr>
          <a:xfrm>
            <a:off x="4361021" y="4800968"/>
            <a:ext cx="1742400" cy="567463"/>
          </a:xfrm>
          <a:prstGeom prst="rect">
            <a:avLst/>
          </a:prstGeom>
        </p:spPr>
        <p:txBody>
          <a:bodyPr wrap="none">
            <a:spAutoFit/>
          </a:bodyPr>
          <a:lstStyle/>
          <a:p>
            <a:pPr>
              <a:lnSpc>
                <a:spcPct val="200000"/>
              </a:lnSpc>
            </a:pPr>
            <a:r>
              <a:rPr lang="zh-CN" altLang="en-US" dirty="0">
                <a:solidFill>
                  <a:srgbClr val="4D3F82"/>
                </a:solidFill>
              </a:rPr>
              <a:t>滑动窗</a:t>
            </a:r>
            <a:r>
              <a:rPr lang="en-US" altLang="zh-CN" dirty="0">
                <a:solidFill>
                  <a:srgbClr val="4D3F82"/>
                </a:solidFill>
              </a:rPr>
              <a:t>attention</a:t>
            </a:r>
            <a:endParaRPr lang="zh-CN" altLang="en-US" dirty="0">
              <a:solidFill>
                <a:srgbClr val="4D3F82"/>
              </a:solidFill>
            </a:endParaRPr>
          </a:p>
        </p:txBody>
      </p:sp>
      <p:sp>
        <p:nvSpPr>
          <p:cNvPr id="31" name="矩形 30"/>
          <p:cNvSpPr/>
          <p:nvPr/>
        </p:nvSpPr>
        <p:spPr>
          <a:xfrm>
            <a:off x="4361021" y="5359905"/>
            <a:ext cx="1511568" cy="567463"/>
          </a:xfrm>
          <a:prstGeom prst="rect">
            <a:avLst/>
          </a:prstGeom>
        </p:spPr>
        <p:txBody>
          <a:bodyPr wrap="none">
            <a:spAutoFit/>
          </a:bodyPr>
          <a:lstStyle/>
          <a:p>
            <a:pPr>
              <a:lnSpc>
                <a:spcPct val="200000"/>
              </a:lnSpc>
            </a:pPr>
            <a:r>
              <a:rPr lang="zh-CN" altLang="en-US" dirty="0">
                <a:solidFill>
                  <a:srgbClr val="4D3F82"/>
                </a:solidFill>
              </a:rPr>
              <a:t>全局</a:t>
            </a:r>
            <a:r>
              <a:rPr lang="en-US" altLang="zh-CN" dirty="0">
                <a:solidFill>
                  <a:srgbClr val="4D3F82"/>
                </a:solidFill>
              </a:rPr>
              <a:t>attention</a:t>
            </a:r>
            <a:endParaRPr lang="zh-CN" altLang="en-US" dirty="0">
              <a:solidFill>
                <a:srgbClr val="4D3F82"/>
              </a:solidFill>
            </a:endParaRPr>
          </a:p>
        </p:txBody>
      </p:sp>
      <p:sp>
        <p:nvSpPr>
          <p:cNvPr id="21" name="左大括号 20"/>
          <p:cNvSpPr/>
          <p:nvPr/>
        </p:nvSpPr>
        <p:spPr>
          <a:xfrm>
            <a:off x="4020572" y="4541508"/>
            <a:ext cx="219234" cy="1236991"/>
          </a:xfrm>
          <a:prstGeom prst="leftBrace">
            <a:avLst/>
          </a:prstGeom>
          <a:ln>
            <a:solidFill>
              <a:srgbClr val="4D3F8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1" name="Shape 3520"/>
          <p:cNvSpPr/>
          <p:nvPr/>
        </p:nvSpPr>
        <p:spPr>
          <a:xfrm>
            <a:off x="806455" y="5007768"/>
            <a:ext cx="343688" cy="310609"/>
          </a:xfrm>
          <a:custGeom>
            <a:avLst/>
            <a:gdLst/>
            <a:ahLst/>
            <a:cxnLst/>
            <a:rect l="0" t="0" r="0" b="0"/>
            <a:pathLst>
              <a:path w="120000" h="120000" extrusionOk="0">
                <a:moveTo>
                  <a:pt x="77156" y="28497"/>
                </a:moveTo>
                <a:lnTo>
                  <a:pt x="77156" y="28497"/>
                </a:lnTo>
                <a:cubicBezTo>
                  <a:pt x="77156" y="25589"/>
                  <a:pt x="74248" y="25589"/>
                  <a:pt x="71340" y="28497"/>
                </a:cubicBezTo>
                <a:cubicBezTo>
                  <a:pt x="42843" y="56995"/>
                  <a:pt x="42843" y="56995"/>
                  <a:pt x="42843" y="56995"/>
                </a:cubicBezTo>
                <a:lnTo>
                  <a:pt x="42843" y="59903"/>
                </a:lnTo>
                <a:lnTo>
                  <a:pt x="42843" y="62810"/>
                </a:lnTo>
                <a:cubicBezTo>
                  <a:pt x="71340" y="91308"/>
                  <a:pt x="71340" y="91308"/>
                  <a:pt x="71340" y="91308"/>
                </a:cubicBezTo>
                <a:cubicBezTo>
                  <a:pt x="74248" y="94216"/>
                  <a:pt x="77156" y="94216"/>
                  <a:pt x="77156" y="91308"/>
                </a:cubicBezTo>
                <a:cubicBezTo>
                  <a:pt x="79870" y="91308"/>
                  <a:pt x="79870" y="88594"/>
                  <a:pt x="77156" y="85492"/>
                </a:cubicBezTo>
                <a:cubicBezTo>
                  <a:pt x="51373" y="59903"/>
                  <a:pt x="51373" y="59903"/>
                  <a:pt x="51373" y="59903"/>
                </a:cubicBezTo>
                <a:cubicBezTo>
                  <a:pt x="77156" y="34313"/>
                  <a:pt x="77156" y="34313"/>
                  <a:pt x="77156" y="34313"/>
                </a:cubicBezTo>
                <a:cubicBezTo>
                  <a:pt x="79870" y="31405"/>
                  <a:pt x="79870" y="28497"/>
                  <a:pt x="77156" y="28497"/>
                </a:cubicBezTo>
                <a:close/>
                <a:moveTo>
                  <a:pt x="59903" y="0"/>
                </a:moveTo>
                <a:lnTo>
                  <a:pt x="59903" y="0"/>
                </a:lnTo>
                <a:cubicBezTo>
                  <a:pt x="25589" y="0"/>
                  <a:pt x="0" y="25589"/>
                  <a:pt x="0" y="59903"/>
                </a:cubicBezTo>
                <a:cubicBezTo>
                  <a:pt x="0" y="94216"/>
                  <a:pt x="25589" y="119806"/>
                  <a:pt x="59903" y="119806"/>
                </a:cubicBezTo>
                <a:cubicBezTo>
                  <a:pt x="94216" y="119806"/>
                  <a:pt x="119806" y="94216"/>
                  <a:pt x="119806" y="59903"/>
                </a:cubicBezTo>
                <a:cubicBezTo>
                  <a:pt x="119806" y="25589"/>
                  <a:pt x="94216" y="0"/>
                  <a:pt x="59903" y="0"/>
                </a:cubicBezTo>
                <a:close/>
                <a:moveTo>
                  <a:pt x="59903" y="114184"/>
                </a:moveTo>
                <a:lnTo>
                  <a:pt x="59903" y="114184"/>
                </a:lnTo>
                <a:cubicBezTo>
                  <a:pt x="31405" y="114184"/>
                  <a:pt x="5621" y="88594"/>
                  <a:pt x="5621" y="59903"/>
                </a:cubicBezTo>
                <a:cubicBezTo>
                  <a:pt x="5621" y="31405"/>
                  <a:pt x="31405" y="5621"/>
                  <a:pt x="59903" y="5621"/>
                </a:cubicBezTo>
                <a:cubicBezTo>
                  <a:pt x="88594" y="5621"/>
                  <a:pt x="114184" y="31405"/>
                  <a:pt x="114184" y="59903"/>
                </a:cubicBezTo>
                <a:cubicBezTo>
                  <a:pt x="114184" y="88594"/>
                  <a:pt x="88594" y="114184"/>
                  <a:pt x="59903" y="114184"/>
                </a:cubicBezTo>
                <a:close/>
              </a:path>
            </a:pathLst>
          </a:custGeom>
          <a:solidFill>
            <a:srgbClr val="4D3F82"/>
          </a:solidFill>
          <a:ln>
            <a:noFill/>
          </a:ln>
        </p:spPr>
        <p:txBody>
          <a:bodyPr lIns="45713" tIns="22850" rIns="45713" bIns="22850"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Lato"/>
              <a:ea typeface="Lato"/>
              <a:cs typeface="Lato"/>
              <a:sym typeface="Lato"/>
            </a:endParaRPr>
          </a:p>
        </p:txBody>
      </p:sp>
      <p:sp>
        <p:nvSpPr>
          <p:cNvPr id="32" name="矩形 31"/>
          <p:cNvSpPr/>
          <p:nvPr/>
        </p:nvSpPr>
        <p:spPr>
          <a:xfrm>
            <a:off x="5270755" y="3285071"/>
            <a:ext cx="1210588" cy="400110"/>
          </a:xfrm>
          <a:prstGeom prst="rect">
            <a:avLst/>
          </a:prstGeom>
        </p:spPr>
        <p:txBody>
          <a:bodyPr wrap="none">
            <a:spAutoFit/>
          </a:bodyPr>
          <a:lstStyle/>
          <a:p>
            <a:r>
              <a:rPr lang="zh-CN" altLang="en-US" sz="2000" dirty="0">
                <a:solidFill>
                  <a:schemeClr val="bg1"/>
                </a:solidFill>
                <a:latin typeface="+mn-ea"/>
              </a:rPr>
              <a:t>图论方法</a:t>
            </a:r>
            <a:endParaRPr lang="zh-CN" altLang="en-US" sz="2000" dirty="0">
              <a:solidFill>
                <a:schemeClr val="bg1"/>
              </a:solidFill>
            </a:endParaRPr>
          </a:p>
        </p:txBody>
      </p:sp>
    </p:spTree>
    <p:extLst>
      <p:ext uri="{BB962C8B-B14F-4D97-AF65-F5344CB8AC3E}">
        <p14:creationId xmlns:p14="http://schemas.microsoft.com/office/powerpoint/2010/main" val="203257397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fade">
                                      <p:cBhvr>
                                        <p:cTn id="12" dur="1000"/>
                                        <p:tgtEl>
                                          <p:spTgt spid="30"/>
                                        </p:tgtEl>
                                      </p:cBhvr>
                                    </p:animEffect>
                                    <p:anim calcmode="lin" valueType="num">
                                      <p:cBhvr>
                                        <p:cTn id="13" dur="1000" fill="hold"/>
                                        <p:tgtEl>
                                          <p:spTgt spid="30"/>
                                        </p:tgtEl>
                                        <p:attrNameLst>
                                          <p:attrName>ppt_x</p:attrName>
                                        </p:attrNameLst>
                                      </p:cBhvr>
                                      <p:tavLst>
                                        <p:tav tm="0">
                                          <p:val>
                                            <p:strVal val="#ppt_x"/>
                                          </p:val>
                                        </p:tav>
                                        <p:tav tm="100000">
                                          <p:val>
                                            <p:strVal val="#ppt_x"/>
                                          </p:val>
                                        </p:tav>
                                      </p:tavLst>
                                    </p:anim>
                                    <p:anim calcmode="lin" valueType="num">
                                      <p:cBhvr>
                                        <p:cTn id="14" dur="1000" fill="hold"/>
                                        <p:tgtEl>
                                          <p:spTgt spid="30"/>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fade">
                                      <p:cBhvr>
                                        <p:cTn id="17" dur="1000"/>
                                        <p:tgtEl>
                                          <p:spTgt spid="31"/>
                                        </p:tgtEl>
                                      </p:cBhvr>
                                    </p:animEffect>
                                    <p:anim calcmode="lin" valueType="num">
                                      <p:cBhvr>
                                        <p:cTn id="18" dur="1000" fill="hold"/>
                                        <p:tgtEl>
                                          <p:spTgt spid="31"/>
                                        </p:tgtEl>
                                        <p:attrNameLst>
                                          <p:attrName>ppt_x</p:attrName>
                                        </p:attrNameLst>
                                      </p:cBhvr>
                                      <p:tavLst>
                                        <p:tav tm="0">
                                          <p:val>
                                            <p:strVal val="#ppt_x"/>
                                          </p:val>
                                        </p:tav>
                                        <p:tav tm="100000">
                                          <p:val>
                                            <p:strVal val="#ppt_x"/>
                                          </p:val>
                                        </p:tav>
                                      </p:tavLst>
                                    </p:anim>
                                    <p:anim calcmode="lin" valueType="num">
                                      <p:cBhvr>
                                        <p:cTn id="19" dur="1000" fill="hold"/>
                                        <p:tgtEl>
                                          <p:spTgt spid="31"/>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1000"/>
                                        <p:tgtEl>
                                          <p:spTgt spid="21"/>
                                        </p:tgtEl>
                                      </p:cBhvr>
                                    </p:animEffect>
                                    <p:anim calcmode="lin" valueType="num">
                                      <p:cBhvr>
                                        <p:cTn id="23" dur="1000" fill="hold"/>
                                        <p:tgtEl>
                                          <p:spTgt spid="21"/>
                                        </p:tgtEl>
                                        <p:attrNameLst>
                                          <p:attrName>ppt_x</p:attrName>
                                        </p:attrNameLst>
                                      </p:cBhvr>
                                      <p:tavLst>
                                        <p:tav tm="0">
                                          <p:val>
                                            <p:strVal val="#ppt_x"/>
                                          </p:val>
                                        </p:tav>
                                        <p:tav tm="100000">
                                          <p:val>
                                            <p:strVal val="#ppt_x"/>
                                          </p:val>
                                        </p:tav>
                                      </p:tavLst>
                                    </p:anim>
                                    <p:anim calcmode="lin" valueType="num">
                                      <p:cBhvr>
                                        <p:cTn id="24" dur="1000" fill="hold"/>
                                        <p:tgtEl>
                                          <p:spTgt spid="21"/>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fade">
                                      <p:cBhvr>
                                        <p:cTn id="27" dur="1000"/>
                                        <p:tgtEl>
                                          <p:spTgt spid="41"/>
                                        </p:tgtEl>
                                      </p:cBhvr>
                                    </p:animEffect>
                                    <p:anim calcmode="lin" valueType="num">
                                      <p:cBhvr>
                                        <p:cTn id="28" dur="1000" fill="hold"/>
                                        <p:tgtEl>
                                          <p:spTgt spid="41"/>
                                        </p:tgtEl>
                                        <p:attrNameLst>
                                          <p:attrName>ppt_x</p:attrName>
                                        </p:attrNameLst>
                                      </p:cBhvr>
                                      <p:tavLst>
                                        <p:tav tm="0">
                                          <p:val>
                                            <p:strVal val="#ppt_x"/>
                                          </p:val>
                                        </p:tav>
                                        <p:tav tm="100000">
                                          <p:val>
                                            <p:strVal val="#ppt_x"/>
                                          </p:val>
                                        </p:tav>
                                      </p:tavLst>
                                    </p:anim>
                                    <p:anim calcmode="lin" valueType="num">
                                      <p:cBhvr>
                                        <p:cTn id="29" dur="1000" fill="hold"/>
                                        <p:tgtEl>
                                          <p:spTgt spid="41"/>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fade">
                                      <p:cBhvr>
                                        <p:cTn id="32" dur="1000"/>
                                        <p:tgtEl>
                                          <p:spTgt spid="29"/>
                                        </p:tgtEl>
                                      </p:cBhvr>
                                    </p:animEffect>
                                    <p:anim calcmode="lin" valueType="num">
                                      <p:cBhvr>
                                        <p:cTn id="33" dur="1000" fill="hold"/>
                                        <p:tgtEl>
                                          <p:spTgt spid="29"/>
                                        </p:tgtEl>
                                        <p:attrNameLst>
                                          <p:attrName>ppt_x</p:attrName>
                                        </p:attrNameLst>
                                      </p:cBhvr>
                                      <p:tavLst>
                                        <p:tav tm="0">
                                          <p:val>
                                            <p:strVal val="#ppt_x"/>
                                          </p:val>
                                        </p:tav>
                                        <p:tav tm="100000">
                                          <p:val>
                                            <p:strVal val="#ppt_x"/>
                                          </p:val>
                                        </p:tav>
                                      </p:tavLst>
                                    </p:anim>
                                    <p:anim calcmode="lin" valueType="num">
                                      <p:cBhvr>
                                        <p:cTn id="34"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9" grpId="0"/>
      <p:bldP spid="30" grpId="0"/>
      <p:bldP spid="31" grpId="0"/>
      <p:bldP spid="21" grpId="0" animBg="1"/>
      <p:bldP spid="4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文本框 19"/>
          <p:cNvSpPr txBox="1"/>
          <p:nvPr/>
        </p:nvSpPr>
        <p:spPr>
          <a:xfrm>
            <a:off x="1071199" y="457068"/>
            <a:ext cx="2132763" cy="523220"/>
          </a:xfrm>
          <a:prstGeom prst="rect">
            <a:avLst/>
          </a:prstGeom>
          <a:noFill/>
        </p:spPr>
        <p:txBody>
          <a:bodyPr wrap="none" rtlCol="0">
            <a:spAutoFit/>
          </a:bodyPr>
          <a:lstStyle/>
          <a:p>
            <a:pPr lvl="0">
              <a:defRPr/>
            </a:pPr>
            <a:r>
              <a:rPr lang="en-US" altLang="zh-CN" sz="2800" b="1" dirty="0">
                <a:solidFill>
                  <a:srgbClr val="4D3F82"/>
                </a:solidFill>
                <a:cs typeface="+mn-ea"/>
                <a:sym typeface="+mn-lt"/>
              </a:rPr>
              <a:t>Big Bird </a:t>
            </a:r>
            <a:r>
              <a:rPr lang="zh-CN" altLang="en-US" sz="2800" b="1" dirty="0">
                <a:solidFill>
                  <a:srgbClr val="4D3F82"/>
                </a:solidFill>
                <a:cs typeface="+mn-ea"/>
                <a:sym typeface="+mn-lt"/>
              </a:rPr>
              <a:t>简介</a:t>
            </a:r>
            <a:endParaRPr kumimoji="0" lang="zh-CN" altLang="en-US" sz="2800" b="1" i="0" u="none" strike="noStrike" kern="1200" cap="none" spc="0" normalizeH="0" baseline="0" noProof="0" dirty="0">
              <a:ln>
                <a:noFill/>
              </a:ln>
              <a:solidFill>
                <a:srgbClr val="4D3F82"/>
              </a:solidFill>
              <a:effectLst/>
              <a:uLnTx/>
              <a:uFillTx/>
              <a:latin typeface="Calibri"/>
              <a:ea typeface="微软雅黑"/>
              <a:cs typeface="+mn-ea"/>
              <a:sym typeface="+mn-lt"/>
            </a:endParaRPr>
          </a:p>
        </p:txBody>
      </p:sp>
      <p:sp>
        <p:nvSpPr>
          <p:cNvPr id="6" name="椭圆 5">
            <a:extLst>
              <a:ext uri="{FF2B5EF4-FFF2-40B4-BE49-F238E27FC236}">
                <a16:creationId xmlns:a16="http://schemas.microsoft.com/office/drawing/2014/main" id="{DF773A56-49AF-444E-AF6D-49DFDB041C2E}"/>
              </a:ext>
            </a:extLst>
          </p:cNvPr>
          <p:cNvSpPr/>
          <p:nvPr/>
        </p:nvSpPr>
        <p:spPr>
          <a:xfrm>
            <a:off x="11073997" y="5889631"/>
            <a:ext cx="872276" cy="872276"/>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9723BAD4-F047-4320-87A0-E95852694C3F}"/>
              </a:ext>
            </a:extLst>
          </p:cNvPr>
          <p:cNvSpPr/>
          <p:nvPr/>
        </p:nvSpPr>
        <p:spPr>
          <a:xfrm rot="9430845">
            <a:off x="11432508" y="5123846"/>
            <a:ext cx="344849" cy="344849"/>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D4E3EEDC-7C8A-43DB-BD42-E8947B413BB8}"/>
              </a:ext>
            </a:extLst>
          </p:cNvPr>
          <p:cNvSpPr/>
          <p:nvPr/>
        </p:nvSpPr>
        <p:spPr>
          <a:xfrm rot="9430845">
            <a:off x="10447956" y="6589483"/>
            <a:ext cx="344849" cy="344849"/>
          </a:xfrm>
          <a:prstGeom prst="ellipse">
            <a:avLst/>
          </a:prstGeom>
          <a:solidFill>
            <a:srgbClr val="4D3F82"/>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EF07DB3A-3E81-4DC1-8E47-D5A7AB5ABD16}"/>
              </a:ext>
            </a:extLst>
          </p:cNvPr>
          <p:cNvSpPr/>
          <p:nvPr/>
        </p:nvSpPr>
        <p:spPr>
          <a:xfrm rot="9430845">
            <a:off x="528920" y="441278"/>
            <a:ext cx="503796" cy="511184"/>
          </a:xfrm>
          <a:prstGeom prst="ellipse">
            <a:avLst/>
          </a:prstGeom>
          <a:solidFill>
            <a:srgbClr val="4D3F8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FB187FA8-C04C-4322-891C-A741CEA371EC}"/>
              </a:ext>
            </a:extLst>
          </p:cNvPr>
          <p:cNvSpPr txBox="1"/>
          <p:nvPr/>
        </p:nvSpPr>
        <p:spPr>
          <a:xfrm>
            <a:off x="524715" y="466029"/>
            <a:ext cx="561265" cy="461665"/>
          </a:xfrm>
          <a:prstGeom prst="rect">
            <a:avLst/>
          </a:prstGeom>
          <a:noFill/>
        </p:spPr>
        <p:txBody>
          <a:bodyPr wrap="square" rtlCol="0">
            <a:spAutoFit/>
          </a:bodyPr>
          <a:lstStyle/>
          <a:p>
            <a:r>
              <a:rPr lang="en-US" altLang="zh-CN" sz="2400" dirty="0">
                <a:solidFill>
                  <a:schemeClr val="bg1"/>
                </a:solidFill>
                <a:latin typeface="Bauhaus 93" panose="04030905020B02020C02" pitchFamily="82" charset="0"/>
              </a:rPr>
              <a:t>02</a:t>
            </a:r>
            <a:endParaRPr lang="zh-CN" altLang="en-US" sz="2400" dirty="0">
              <a:solidFill>
                <a:schemeClr val="bg1"/>
              </a:solidFill>
              <a:latin typeface="Bauhaus 93" panose="04030905020B02020C02" pitchFamily="82" charset="0"/>
            </a:endParaRPr>
          </a:p>
        </p:txBody>
      </p:sp>
      <p:sp>
        <p:nvSpPr>
          <p:cNvPr id="37" name="椭圆 36">
            <a:extLst>
              <a:ext uri="{FF2B5EF4-FFF2-40B4-BE49-F238E27FC236}">
                <a16:creationId xmlns:a16="http://schemas.microsoft.com/office/drawing/2014/main" id="{7A007603-F3D9-40C8-B984-92A6C591C1ED}"/>
              </a:ext>
            </a:extLst>
          </p:cNvPr>
          <p:cNvSpPr/>
          <p:nvPr/>
        </p:nvSpPr>
        <p:spPr>
          <a:xfrm rot="14219635">
            <a:off x="-422765" y="-198887"/>
            <a:ext cx="872276" cy="872276"/>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6E536261-448B-42D2-AA47-008BC8415B5E}"/>
              </a:ext>
            </a:extLst>
          </p:cNvPr>
          <p:cNvSpPr/>
          <p:nvPr/>
        </p:nvSpPr>
        <p:spPr>
          <a:xfrm rot="14219635">
            <a:off x="367756" y="1142977"/>
            <a:ext cx="163510" cy="163510"/>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0" name="图片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359445"/>
            <a:ext cx="3374582" cy="537824"/>
          </a:xfrm>
          <a:prstGeom prst="rect">
            <a:avLst/>
          </a:prstGeom>
        </p:spPr>
      </p:pic>
      <p:pic>
        <p:nvPicPr>
          <p:cNvPr id="2" name="图片 1"/>
          <p:cNvPicPr>
            <a:picLocks noChangeAspect="1"/>
          </p:cNvPicPr>
          <p:nvPr/>
        </p:nvPicPr>
        <p:blipFill>
          <a:blip r:embed="rId4"/>
          <a:stretch>
            <a:fillRect/>
          </a:stretch>
        </p:blipFill>
        <p:spPr>
          <a:xfrm>
            <a:off x="7844310" y="1901008"/>
            <a:ext cx="3001871" cy="3441476"/>
          </a:xfrm>
          <a:prstGeom prst="rect">
            <a:avLst/>
          </a:prstGeom>
        </p:spPr>
      </p:pic>
      <p:sp>
        <p:nvSpPr>
          <p:cNvPr id="22" name="矩形 21"/>
          <p:cNvSpPr/>
          <p:nvPr/>
        </p:nvSpPr>
        <p:spPr>
          <a:xfrm>
            <a:off x="1071199" y="1071726"/>
            <a:ext cx="6684606" cy="4247317"/>
          </a:xfrm>
          <a:prstGeom prst="rect">
            <a:avLst/>
          </a:prstGeom>
        </p:spPr>
        <p:txBody>
          <a:bodyPr wrap="square">
            <a:spAutoFit/>
          </a:bodyPr>
          <a:lstStyle/>
          <a:p>
            <a:pPr marL="457200" indent="-457200">
              <a:lnSpc>
                <a:spcPct val="200000"/>
              </a:lnSpc>
              <a:buAutoNum type="arabicPeriod"/>
            </a:pPr>
            <a:r>
              <a:rPr lang="zh-CN" altLang="en-US" sz="2000" dirty="0">
                <a:solidFill>
                  <a:srgbClr val="4D3F82"/>
                </a:solidFill>
                <a:latin typeface="+mn-ea"/>
              </a:rPr>
              <a:t>随机 </a:t>
            </a:r>
            <a:r>
              <a:rPr lang="en-US" altLang="zh-CN" sz="2000" dirty="0">
                <a:solidFill>
                  <a:srgbClr val="4D3F82"/>
                </a:solidFill>
                <a:latin typeface="+mn-ea"/>
              </a:rPr>
              <a:t>attention</a:t>
            </a:r>
          </a:p>
          <a:p>
            <a:pPr>
              <a:lnSpc>
                <a:spcPct val="150000"/>
              </a:lnSpc>
            </a:pPr>
            <a:r>
              <a:rPr lang="zh-CN" altLang="en-US" sz="2000" dirty="0">
                <a:solidFill>
                  <a:schemeClr val="tx1">
                    <a:lumMod val="50000"/>
                  </a:schemeClr>
                </a:solidFill>
                <a:latin typeface="+mn-ea"/>
              </a:rPr>
              <a:t>随机图在很多情况下近似完整图，用于注意力机制的稀疏随机图应具有</a:t>
            </a:r>
            <a:r>
              <a:rPr lang="en-US" altLang="zh-CN" sz="2000" dirty="0">
                <a:solidFill>
                  <a:schemeClr val="tx1">
                    <a:lumMod val="50000"/>
                  </a:schemeClr>
                </a:solidFill>
                <a:latin typeface="+mn-ea"/>
              </a:rPr>
              <a:t>2</a:t>
            </a:r>
            <a:r>
              <a:rPr lang="zh-CN" altLang="en-US" sz="2000" dirty="0">
                <a:solidFill>
                  <a:schemeClr val="tx1">
                    <a:lumMod val="50000"/>
                  </a:schemeClr>
                </a:solidFill>
                <a:latin typeface="+mn-ea"/>
              </a:rPr>
              <a:t>个属性：</a:t>
            </a:r>
            <a:endParaRPr lang="en-US" altLang="zh-CN" sz="2000" dirty="0">
              <a:solidFill>
                <a:schemeClr val="tx1">
                  <a:lumMod val="50000"/>
                </a:schemeClr>
              </a:solidFill>
              <a:latin typeface="+mn-ea"/>
            </a:endParaRPr>
          </a:p>
          <a:p>
            <a:pPr>
              <a:lnSpc>
                <a:spcPct val="200000"/>
              </a:lnSpc>
            </a:pPr>
            <a:r>
              <a:rPr lang="zh-CN" altLang="en-US" sz="2000" dirty="0">
                <a:solidFill>
                  <a:schemeClr val="tx1">
                    <a:lumMod val="50000"/>
                  </a:schemeClr>
                </a:solidFill>
                <a:latin typeface="+mn-ea"/>
              </a:rPr>
              <a:t> </a:t>
            </a:r>
            <a:r>
              <a:rPr lang="en-US" altLang="zh-CN" sz="2000" dirty="0">
                <a:solidFill>
                  <a:srgbClr val="4D3F82"/>
                </a:solidFill>
                <a:latin typeface="+mn-ea"/>
              </a:rPr>
              <a:t>1</a:t>
            </a:r>
            <a:r>
              <a:rPr lang="zh-CN" altLang="en-US" sz="2000" dirty="0">
                <a:solidFill>
                  <a:srgbClr val="4D3F82"/>
                </a:solidFill>
                <a:latin typeface="+mn-ea"/>
              </a:rPr>
              <a:t>）节点间平均路径最短</a:t>
            </a:r>
            <a:r>
              <a:rPr lang="en-US" altLang="zh-CN" sz="2000" dirty="0">
                <a:solidFill>
                  <a:srgbClr val="4D3F82"/>
                </a:solidFill>
                <a:latin typeface="+mn-ea"/>
              </a:rPr>
              <a:t>  </a:t>
            </a:r>
            <a:r>
              <a:rPr lang="zh-CN" altLang="en-US" sz="2000" dirty="0">
                <a:solidFill>
                  <a:srgbClr val="4D3F82"/>
                </a:solidFill>
                <a:latin typeface="+mn-ea"/>
              </a:rPr>
              <a:t>；</a:t>
            </a:r>
            <a:r>
              <a:rPr lang="en-US" altLang="zh-CN" sz="2000" dirty="0">
                <a:solidFill>
                  <a:srgbClr val="4D3F82"/>
                </a:solidFill>
                <a:latin typeface="+mn-ea"/>
              </a:rPr>
              <a:t>    2</a:t>
            </a:r>
            <a:r>
              <a:rPr lang="zh-CN" altLang="en-US" sz="2000" dirty="0">
                <a:solidFill>
                  <a:srgbClr val="4D3F82"/>
                </a:solidFill>
                <a:latin typeface="+mn-ea"/>
              </a:rPr>
              <a:t>）局部性</a:t>
            </a:r>
            <a:endParaRPr lang="en-US" altLang="zh-CN" sz="2000" dirty="0">
              <a:solidFill>
                <a:srgbClr val="4D3F82"/>
              </a:solidFill>
              <a:latin typeface="+mn-ea"/>
            </a:endParaRPr>
          </a:p>
          <a:p>
            <a:pPr>
              <a:lnSpc>
                <a:spcPct val="150000"/>
              </a:lnSpc>
            </a:pPr>
            <a:r>
              <a:rPr lang="zh-CN" altLang="en-US" sz="2000" dirty="0">
                <a:solidFill>
                  <a:schemeClr val="tx1">
                    <a:lumMod val="50000"/>
                  </a:schemeClr>
                </a:solidFill>
                <a:latin typeface="+mn-ea"/>
              </a:rPr>
              <a:t>从平均路径角度出发，考虑最简单的</a:t>
            </a:r>
            <a:r>
              <a:rPr lang="en-US" altLang="zh-CN" sz="2000" dirty="0">
                <a:solidFill>
                  <a:schemeClr val="tx1">
                    <a:lumMod val="50000"/>
                  </a:schemeClr>
                </a:solidFill>
                <a:latin typeface="+mn-ea"/>
              </a:rPr>
              <a:t>ER</a:t>
            </a:r>
            <a:r>
              <a:rPr lang="zh-CN" altLang="en-US" sz="2000" dirty="0">
                <a:solidFill>
                  <a:schemeClr val="tx1">
                    <a:lumMod val="50000"/>
                  </a:schemeClr>
                </a:solidFill>
                <a:latin typeface="+mn-ea"/>
              </a:rPr>
              <a:t>随机图，以一定概率独立地随机选择每条边，任意两点间的最小距离是节点数的对数。这样一个随机图在频谱上近似完整图。</a:t>
            </a:r>
            <a:endParaRPr lang="en-US" altLang="zh-CN" sz="2000" dirty="0">
              <a:solidFill>
                <a:schemeClr val="tx1">
                  <a:lumMod val="50000"/>
                </a:schemeClr>
              </a:solidFill>
              <a:latin typeface="+mn-ea"/>
            </a:endParaRPr>
          </a:p>
          <a:p>
            <a:pPr>
              <a:lnSpc>
                <a:spcPct val="200000"/>
              </a:lnSpc>
            </a:pPr>
            <a:r>
              <a:rPr lang="zh-CN" altLang="en-US" sz="2000" dirty="0">
                <a:solidFill>
                  <a:schemeClr val="tx1">
                    <a:lumMod val="50000"/>
                  </a:schemeClr>
                </a:solidFill>
                <a:latin typeface="+mn-ea"/>
              </a:rPr>
              <a:t>为每个</a:t>
            </a:r>
            <a:r>
              <a:rPr lang="en-US" altLang="zh-CN" sz="2000" dirty="0">
                <a:solidFill>
                  <a:schemeClr val="tx1">
                    <a:lumMod val="50000"/>
                  </a:schemeClr>
                </a:solidFill>
                <a:latin typeface="+mn-ea"/>
              </a:rPr>
              <a:t>query</a:t>
            </a:r>
            <a:r>
              <a:rPr lang="zh-CN" altLang="en-US" sz="2000" dirty="0">
                <a:solidFill>
                  <a:schemeClr val="tx1">
                    <a:lumMod val="50000"/>
                  </a:schemeClr>
                </a:solidFill>
                <a:latin typeface="+mn-ea"/>
              </a:rPr>
              <a:t>向量随机选择</a:t>
            </a:r>
            <a:r>
              <a:rPr lang="en-US" altLang="zh-CN" sz="2000" dirty="0">
                <a:solidFill>
                  <a:schemeClr val="tx1">
                    <a:lumMod val="50000"/>
                  </a:schemeClr>
                </a:solidFill>
                <a:latin typeface="+mn-ea"/>
              </a:rPr>
              <a:t>r</a:t>
            </a:r>
            <a:r>
              <a:rPr lang="zh-CN" altLang="en-US" sz="2000" dirty="0">
                <a:solidFill>
                  <a:schemeClr val="tx1">
                    <a:lumMod val="50000"/>
                  </a:schemeClr>
                </a:solidFill>
                <a:latin typeface="+mn-ea"/>
              </a:rPr>
              <a:t>个</a:t>
            </a:r>
            <a:r>
              <a:rPr lang="en-US" altLang="zh-CN" sz="2000" dirty="0">
                <a:solidFill>
                  <a:schemeClr val="tx1">
                    <a:lumMod val="50000"/>
                  </a:schemeClr>
                </a:solidFill>
                <a:latin typeface="+mn-ea"/>
              </a:rPr>
              <a:t>key</a:t>
            </a:r>
            <a:r>
              <a:rPr lang="zh-CN" altLang="en-US" sz="2000" dirty="0">
                <a:solidFill>
                  <a:schemeClr val="tx1">
                    <a:lumMod val="50000"/>
                  </a:schemeClr>
                </a:solidFill>
                <a:latin typeface="+mn-ea"/>
              </a:rPr>
              <a:t>向量进行</a:t>
            </a:r>
            <a:r>
              <a:rPr lang="en-US" altLang="zh-CN" sz="2000" dirty="0">
                <a:solidFill>
                  <a:schemeClr val="tx1">
                    <a:lumMod val="50000"/>
                  </a:schemeClr>
                </a:solidFill>
                <a:latin typeface="+mn-ea"/>
              </a:rPr>
              <a:t>attention</a:t>
            </a:r>
            <a:r>
              <a:rPr lang="zh-CN" altLang="en-US" sz="2000" dirty="0">
                <a:solidFill>
                  <a:schemeClr val="tx1">
                    <a:lumMod val="50000"/>
                  </a:schemeClr>
                </a:solidFill>
                <a:latin typeface="+mn-ea"/>
              </a:rPr>
              <a:t>计算</a:t>
            </a:r>
            <a:endParaRPr lang="zh-CN" altLang="en-US" sz="2000" dirty="0">
              <a:solidFill>
                <a:schemeClr val="tx1">
                  <a:lumMod val="50000"/>
                </a:schemeClr>
              </a:solidFill>
            </a:endParaRPr>
          </a:p>
        </p:txBody>
      </p:sp>
      <p:pic>
        <p:nvPicPr>
          <p:cNvPr id="10" name="图片 9"/>
          <p:cNvPicPr>
            <a:picLocks noChangeAspect="1"/>
          </p:cNvPicPr>
          <p:nvPr/>
        </p:nvPicPr>
        <p:blipFill>
          <a:blip r:embed="rId5"/>
          <a:stretch>
            <a:fillRect/>
          </a:stretch>
        </p:blipFill>
        <p:spPr>
          <a:xfrm>
            <a:off x="3575944" y="5486456"/>
            <a:ext cx="1675116" cy="391268"/>
          </a:xfrm>
          <a:prstGeom prst="rect">
            <a:avLst/>
          </a:prstGeom>
        </p:spPr>
      </p:pic>
      <p:sp>
        <p:nvSpPr>
          <p:cNvPr id="33" name="Shape 2778">
            <a:extLst>
              <a:ext uri="{FF2B5EF4-FFF2-40B4-BE49-F238E27FC236}">
                <a16:creationId xmlns:a16="http://schemas.microsoft.com/office/drawing/2014/main" id="{F29DC826-5488-45F3-AE98-172A6E992139}"/>
              </a:ext>
            </a:extLst>
          </p:cNvPr>
          <p:cNvSpPr/>
          <p:nvPr/>
        </p:nvSpPr>
        <p:spPr>
          <a:xfrm>
            <a:off x="625994" y="4788495"/>
            <a:ext cx="367849" cy="367849"/>
          </a:xfrm>
          <a:custGeom>
            <a:avLst/>
            <a:gdLst/>
            <a:ahLst/>
            <a:cxnLst>
              <a:cxn ang="0">
                <a:pos x="wd2" y="hd2"/>
              </a:cxn>
              <a:cxn ang="5400000">
                <a:pos x="wd2" y="hd2"/>
              </a:cxn>
              <a:cxn ang="10800000">
                <a:pos x="wd2" y="hd2"/>
              </a:cxn>
              <a:cxn ang="16200000">
                <a:pos x="wd2" y="hd2"/>
              </a:cxn>
            </a:cxnLst>
            <a:rect l="0" t="0" r="r" b="b"/>
            <a:pathLst>
              <a:path w="21600" h="21600" extrusionOk="0">
                <a:moveTo>
                  <a:pt x="17481" y="12956"/>
                </a:moveTo>
                <a:cubicBezTo>
                  <a:pt x="17070" y="12258"/>
                  <a:pt x="16576" y="11533"/>
                  <a:pt x="16011" y="10795"/>
                </a:cubicBezTo>
                <a:cubicBezTo>
                  <a:pt x="16573" y="10063"/>
                  <a:pt x="17072" y="9339"/>
                  <a:pt x="17481" y="8644"/>
                </a:cubicBezTo>
                <a:cubicBezTo>
                  <a:pt x="19410" y="9181"/>
                  <a:pt x="20618" y="9948"/>
                  <a:pt x="20618" y="10800"/>
                </a:cubicBezTo>
                <a:cubicBezTo>
                  <a:pt x="20618" y="11652"/>
                  <a:pt x="19410" y="12419"/>
                  <a:pt x="17481" y="12956"/>
                </a:cubicBezTo>
                <a:moveTo>
                  <a:pt x="17742" y="17743"/>
                </a:moveTo>
                <a:cubicBezTo>
                  <a:pt x="17140" y="18345"/>
                  <a:pt x="15740" y="18028"/>
                  <a:pt x="13996" y="17045"/>
                </a:cubicBezTo>
                <a:cubicBezTo>
                  <a:pt x="14198" y="16261"/>
                  <a:pt x="14365" y="15406"/>
                  <a:pt x="14487" y="14488"/>
                </a:cubicBezTo>
                <a:cubicBezTo>
                  <a:pt x="15405" y="14366"/>
                  <a:pt x="16261" y="14198"/>
                  <a:pt x="17044" y="13996"/>
                </a:cubicBezTo>
                <a:cubicBezTo>
                  <a:pt x="18028" y="15740"/>
                  <a:pt x="18345" y="17140"/>
                  <a:pt x="17742" y="17743"/>
                </a:cubicBezTo>
                <a:moveTo>
                  <a:pt x="15404" y="11561"/>
                </a:moveTo>
                <a:cubicBezTo>
                  <a:pt x="15837" y="12119"/>
                  <a:pt x="16219" y="12662"/>
                  <a:pt x="16554" y="13185"/>
                </a:cubicBezTo>
                <a:cubicBezTo>
                  <a:pt x="15950" y="13317"/>
                  <a:pt x="15295" y="13429"/>
                  <a:pt x="14597" y="13517"/>
                </a:cubicBezTo>
                <a:cubicBezTo>
                  <a:pt x="14631" y="13155"/>
                  <a:pt x="14655" y="12784"/>
                  <a:pt x="14677" y="12409"/>
                </a:cubicBezTo>
                <a:cubicBezTo>
                  <a:pt x="14930" y="12127"/>
                  <a:pt x="15170" y="11844"/>
                  <a:pt x="15404" y="11561"/>
                </a:cubicBezTo>
                <a:moveTo>
                  <a:pt x="15402" y="10032"/>
                </a:moveTo>
                <a:cubicBezTo>
                  <a:pt x="15170" y="9752"/>
                  <a:pt x="14928" y="9471"/>
                  <a:pt x="14677" y="9191"/>
                </a:cubicBezTo>
                <a:cubicBezTo>
                  <a:pt x="14655" y="8817"/>
                  <a:pt x="14631" y="8445"/>
                  <a:pt x="14597" y="8084"/>
                </a:cubicBezTo>
                <a:cubicBezTo>
                  <a:pt x="15295" y="8171"/>
                  <a:pt x="15950" y="8283"/>
                  <a:pt x="16554" y="8415"/>
                </a:cubicBezTo>
                <a:cubicBezTo>
                  <a:pt x="16221" y="8935"/>
                  <a:pt x="15832" y="9478"/>
                  <a:pt x="15402" y="10032"/>
                </a:cubicBezTo>
                <a:moveTo>
                  <a:pt x="17742" y="3857"/>
                </a:moveTo>
                <a:cubicBezTo>
                  <a:pt x="18345" y="4460"/>
                  <a:pt x="18028" y="5860"/>
                  <a:pt x="17044" y="7604"/>
                </a:cubicBezTo>
                <a:cubicBezTo>
                  <a:pt x="16261" y="7402"/>
                  <a:pt x="15405" y="7234"/>
                  <a:pt x="14487" y="7112"/>
                </a:cubicBezTo>
                <a:cubicBezTo>
                  <a:pt x="14365" y="6194"/>
                  <a:pt x="14198" y="5339"/>
                  <a:pt x="13996" y="4555"/>
                </a:cubicBezTo>
                <a:cubicBezTo>
                  <a:pt x="15740" y="3572"/>
                  <a:pt x="17140" y="3255"/>
                  <a:pt x="17742" y="3857"/>
                </a:cubicBezTo>
                <a:moveTo>
                  <a:pt x="13718" y="12012"/>
                </a:moveTo>
                <a:cubicBezTo>
                  <a:pt x="13448" y="12303"/>
                  <a:pt x="13172" y="12593"/>
                  <a:pt x="12882" y="12883"/>
                </a:cubicBezTo>
                <a:cubicBezTo>
                  <a:pt x="12593" y="13172"/>
                  <a:pt x="12303" y="13449"/>
                  <a:pt x="12012" y="13719"/>
                </a:cubicBezTo>
                <a:cubicBezTo>
                  <a:pt x="11614" y="13733"/>
                  <a:pt x="11212" y="13745"/>
                  <a:pt x="10800" y="13745"/>
                </a:cubicBezTo>
                <a:cubicBezTo>
                  <a:pt x="10387" y="13745"/>
                  <a:pt x="9985" y="13733"/>
                  <a:pt x="9587" y="13719"/>
                </a:cubicBezTo>
                <a:cubicBezTo>
                  <a:pt x="9297" y="13449"/>
                  <a:pt x="9006" y="13172"/>
                  <a:pt x="8717" y="12883"/>
                </a:cubicBezTo>
                <a:cubicBezTo>
                  <a:pt x="8428" y="12593"/>
                  <a:pt x="8152" y="12303"/>
                  <a:pt x="7881" y="12012"/>
                </a:cubicBezTo>
                <a:cubicBezTo>
                  <a:pt x="7866" y="11614"/>
                  <a:pt x="7855" y="11212"/>
                  <a:pt x="7855" y="10800"/>
                </a:cubicBezTo>
                <a:cubicBezTo>
                  <a:pt x="7855" y="10388"/>
                  <a:pt x="7866" y="9986"/>
                  <a:pt x="7881" y="9587"/>
                </a:cubicBezTo>
                <a:cubicBezTo>
                  <a:pt x="8152" y="9297"/>
                  <a:pt x="8428" y="9007"/>
                  <a:pt x="8717" y="8717"/>
                </a:cubicBezTo>
                <a:cubicBezTo>
                  <a:pt x="9006" y="8428"/>
                  <a:pt x="9297" y="8151"/>
                  <a:pt x="9587" y="7881"/>
                </a:cubicBezTo>
                <a:cubicBezTo>
                  <a:pt x="9985" y="7867"/>
                  <a:pt x="10387" y="7855"/>
                  <a:pt x="10800" y="7855"/>
                </a:cubicBezTo>
                <a:cubicBezTo>
                  <a:pt x="11212" y="7855"/>
                  <a:pt x="11614" y="7867"/>
                  <a:pt x="12012" y="7881"/>
                </a:cubicBezTo>
                <a:cubicBezTo>
                  <a:pt x="12303" y="8151"/>
                  <a:pt x="12593" y="8428"/>
                  <a:pt x="12882" y="8717"/>
                </a:cubicBezTo>
                <a:cubicBezTo>
                  <a:pt x="13172" y="9007"/>
                  <a:pt x="13448" y="9297"/>
                  <a:pt x="13718" y="9587"/>
                </a:cubicBezTo>
                <a:cubicBezTo>
                  <a:pt x="13733" y="9986"/>
                  <a:pt x="13745" y="10388"/>
                  <a:pt x="13745" y="10800"/>
                </a:cubicBezTo>
                <a:cubicBezTo>
                  <a:pt x="13745" y="11212"/>
                  <a:pt x="13733" y="11614"/>
                  <a:pt x="13718" y="12012"/>
                </a:cubicBezTo>
                <a:moveTo>
                  <a:pt x="13185" y="16555"/>
                </a:moveTo>
                <a:cubicBezTo>
                  <a:pt x="12662" y="16219"/>
                  <a:pt x="12120" y="15837"/>
                  <a:pt x="11561" y="15404"/>
                </a:cubicBezTo>
                <a:cubicBezTo>
                  <a:pt x="11844" y="15170"/>
                  <a:pt x="12127" y="14931"/>
                  <a:pt x="12409" y="14677"/>
                </a:cubicBezTo>
                <a:cubicBezTo>
                  <a:pt x="12783" y="14655"/>
                  <a:pt x="13155" y="14631"/>
                  <a:pt x="13517" y="14597"/>
                </a:cubicBezTo>
                <a:cubicBezTo>
                  <a:pt x="13429" y="15295"/>
                  <a:pt x="13316" y="15950"/>
                  <a:pt x="13185" y="16555"/>
                </a:cubicBezTo>
                <a:moveTo>
                  <a:pt x="10800" y="20618"/>
                </a:moveTo>
                <a:cubicBezTo>
                  <a:pt x="9948" y="20618"/>
                  <a:pt x="9181" y="19410"/>
                  <a:pt x="8643" y="17481"/>
                </a:cubicBezTo>
                <a:cubicBezTo>
                  <a:pt x="9339" y="17072"/>
                  <a:pt x="10062" y="16573"/>
                  <a:pt x="10795" y="16011"/>
                </a:cubicBezTo>
                <a:cubicBezTo>
                  <a:pt x="11532" y="16576"/>
                  <a:pt x="12258" y="17070"/>
                  <a:pt x="12957" y="17481"/>
                </a:cubicBezTo>
                <a:cubicBezTo>
                  <a:pt x="12419" y="19410"/>
                  <a:pt x="11652" y="20618"/>
                  <a:pt x="10800" y="20618"/>
                </a:cubicBezTo>
                <a:moveTo>
                  <a:pt x="8083" y="14597"/>
                </a:moveTo>
                <a:cubicBezTo>
                  <a:pt x="8445" y="14631"/>
                  <a:pt x="8816" y="14655"/>
                  <a:pt x="9190" y="14677"/>
                </a:cubicBezTo>
                <a:cubicBezTo>
                  <a:pt x="9471" y="14929"/>
                  <a:pt x="9751" y="15170"/>
                  <a:pt x="10032" y="15403"/>
                </a:cubicBezTo>
                <a:cubicBezTo>
                  <a:pt x="9478" y="15832"/>
                  <a:pt x="8935" y="16221"/>
                  <a:pt x="8415" y="16555"/>
                </a:cubicBezTo>
                <a:cubicBezTo>
                  <a:pt x="8283" y="15950"/>
                  <a:pt x="8171" y="15295"/>
                  <a:pt x="8083" y="14597"/>
                </a:cubicBezTo>
                <a:moveTo>
                  <a:pt x="8415" y="5045"/>
                </a:moveTo>
                <a:cubicBezTo>
                  <a:pt x="8938" y="5381"/>
                  <a:pt x="9480" y="5762"/>
                  <a:pt x="10038" y="6196"/>
                </a:cubicBezTo>
                <a:cubicBezTo>
                  <a:pt x="9756" y="6430"/>
                  <a:pt x="9473" y="6670"/>
                  <a:pt x="9190" y="6924"/>
                </a:cubicBezTo>
                <a:cubicBezTo>
                  <a:pt x="8816" y="6945"/>
                  <a:pt x="8445" y="6969"/>
                  <a:pt x="8083" y="7003"/>
                </a:cubicBezTo>
                <a:cubicBezTo>
                  <a:pt x="8171" y="6305"/>
                  <a:pt x="8283" y="5650"/>
                  <a:pt x="8415" y="5045"/>
                </a:cubicBezTo>
                <a:moveTo>
                  <a:pt x="10800" y="982"/>
                </a:moveTo>
                <a:cubicBezTo>
                  <a:pt x="11652" y="982"/>
                  <a:pt x="12419" y="2191"/>
                  <a:pt x="12957" y="4119"/>
                </a:cubicBezTo>
                <a:cubicBezTo>
                  <a:pt x="12261" y="4528"/>
                  <a:pt x="11537" y="5027"/>
                  <a:pt x="10804" y="5589"/>
                </a:cubicBezTo>
                <a:cubicBezTo>
                  <a:pt x="10067" y="5024"/>
                  <a:pt x="9341" y="4530"/>
                  <a:pt x="8643" y="4119"/>
                </a:cubicBezTo>
                <a:cubicBezTo>
                  <a:pt x="9181" y="2191"/>
                  <a:pt x="9948" y="982"/>
                  <a:pt x="10800" y="982"/>
                </a:cubicBezTo>
                <a:moveTo>
                  <a:pt x="13517" y="7003"/>
                </a:moveTo>
                <a:cubicBezTo>
                  <a:pt x="13155" y="6969"/>
                  <a:pt x="12783" y="6945"/>
                  <a:pt x="12409" y="6924"/>
                </a:cubicBezTo>
                <a:cubicBezTo>
                  <a:pt x="12129" y="6671"/>
                  <a:pt x="11848" y="6430"/>
                  <a:pt x="11568" y="6198"/>
                </a:cubicBezTo>
                <a:cubicBezTo>
                  <a:pt x="12122" y="5768"/>
                  <a:pt x="12665" y="5379"/>
                  <a:pt x="13185" y="5045"/>
                </a:cubicBezTo>
                <a:cubicBezTo>
                  <a:pt x="13316" y="5650"/>
                  <a:pt x="13429" y="6305"/>
                  <a:pt x="13517" y="7003"/>
                </a:cubicBezTo>
                <a:moveTo>
                  <a:pt x="7112" y="7112"/>
                </a:moveTo>
                <a:cubicBezTo>
                  <a:pt x="6194" y="7234"/>
                  <a:pt x="5339" y="7402"/>
                  <a:pt x="4555" y="7604"/>
                </a:cubicBezTo>
                <a:cubicBezTo>
                  <a:pt x="3572" y="5860"/>
                  <a:pt x="3255" y="4460"/>
                  <a:pt x="3858" y="3857"/>
                </a:cubicBezTo>
                <a:cubicBezTo>
                  <a:pt x="4460" y="3255"/>
                  <a:pt x="5860" y="3572"/>
                  <a:pt x="7604" y="4555"/>
                </a:cubicBezTo>
                <a:cubicBezTo>
                  <a:pt x="7402" y="5339"/>
                  <a:pt x="7234" y="6194"/>
                  <a:pt x="7112" y="7112"/>
                </a:cubicBezTo>
                <a:moveTo>
                  <a:pt x="3858" y="17743"/>
                </a:moveTo>
                <a:cubicBezTo>
                  <a:pt x="3255" y="17140"/>
                  <a:pt x="3572" y="15740"/>
                  <a:pt x="4555" y="13996"/>
                </a:cubicBezTo>
                <a:cubicBezTo>
                  <a:pt x="5339" y="14198"/>
                  <a:pt x="6194" y="14366"/>
                  <a:pt x="7112" y="14488"/>
                </a:cubicBezTo>
                <a:cubicBezTo>
                  <a:pt x="7234" y="15406"/>
                  <a:pt x="7402" y="16261"/>
                  <a:pt x="7604" y="17045"/>
                </a:cubicBezTo>
                <a:cubicBezTo>
                  <a:pt x="5860" y="18028"/>
                  <a:pt x="4460" y="18345"/>
                  <a:pt x="3858" y="17743"/>
                </a:cubicBezTo>
                <a:moveTo>
                  <a:pt x="7003" y="13517"/>
                </a:moveTo>
                <a:cubicBezTo>
                  <a:pt x="6305" y="13429"/>
                  <a:pt x="5650" y="13317"/>
                  <a:pt x="5045" y="13185"/>
                </a:cubicBezTo>
                <a:cubicBezTo>
                  <a:pt x="5379" y="12665"/>
                  <a:pt x="5768" y="12122"/>
                  <a:pt x="6197" y="11568"/>
                </a:cubicBezTo>
                <a:cubicBezTo>
                  <a:pt x="6429" y="11848"/>
                  <a:pt x="6671" y="12129"/>
                  <a:pt x="6923" y="12409"/>
                </a:cubicBezTo>
                <a:cubicBezTo>
                  <a:pt x="6944" y="12784"/>
                  <a:pt x="6968" y="13155"/>
                  <a:pt x="7003" y="13517"/>
                </a:cubicBezTo>
                <a:moveTo>
                  <a:pt x="6923" y="9191"/>
                </a:moveTo>
                <a:cubicBezTo>
                  <a:pt x="6669" y="9473"/>
                  <a:pt x="6429" y="9756"/>
                  <a:pt x="6196" y="10039"/>
                </a:cubicBezTo>
                <a:cubicBezTo>
                  <a:pt x="5763" y="9481"/>
                  <a:pt x="5381" y="8938"/>
                  <a:pt x="5045" y="8415"/>
                </a:cubicBezTo>
                <a:cubicBezTo>
                  <a:pt x="5650" y="8283"/>
                  <a:pt x="6305" y="8171"/>
                  <a:pt x="7003" y="8084"/>
                </a:cubicBezTo>
                <a:cubicBezTo>
                  <a:pt x="6968" y="8445"/>
                  <a:pt x="6944" y="8816"/>
                  <a:pt x="6923" y="9191"/>
                </a:cubicBezTo>
                <a:moveTo>
                  <a:pt x="982" y="10800"/>
                </a:moveTo>
                <a:cubicBezTo>
                  <a:pt x="982" y="9948"/>
                  <a:pt x="2190" y="9181"/>
                  <a:pt x="4119" y="8644"/>
                </a:cubicBezTo>
                <a:cubicBezTo>
                  <a:pt x="4530" y="9342"/>
                  <a:pt x="5023" y="10067"/>
                  <a:pt x="5588" y="10805"/>
                </a:cubicBezTo>
                <a:cubicBezTo>
                  <a:pt x="5027" y="11537"/>
                  <a:pt x="4528" y="12262"/>
                  <a:pt x="4119" y="12956"/>
                </a:cubicBezTo>
                <a:cubicBezTo>
                  <a:pt x="2190" y="12419"/>
                  <a:pt x="982" y="11652"/>
                  <a:pt x="982" y="10800"/>
                </a:cubicBezTo>
                <a:moveTo>
                  <a:pt x="21600" y="10800"/>
                </a:moveTo>
                <a:cubicBezTo>
                  <a:pt x="21600" y="9624"/>
                  <a:pt x="20173" y="8571"/>
                  <a:pt x="17918" y="7853"/>
                </a:cubicBezTo>
                <a:cubicBezTo>
                  <a:pt x="19002" y="5750"/>
                  <a:pt x="19269" y="3995"/>
                  <a:pt x="18437" y="3163"/>
                </a:cubicBezTo>
                <a:cubicBezTo>
                  <a:pt x="17605" y="2332"/>
                  <a:pt x="15850" y="2598"/>
                  <a:pt x="13748" y="3682"/>
                </a:cubicBezTo>
                <a:cubicBezTo>
                  <a:pt x="13029" y="1427"/>
                  <a:pt x="11976" y="0"/>
                  <a:pt x="10800" y="0"/>
                </a:cubicBezTo>
                <a:cubicBezTo>
                  <a:pt x="9623" y="0"/>
                  <a:pt x="8571" y="1427"/>
                  <a:pt x="7852" y="3682"/>
                </a:cubicBezTo>
                <a:cubicBezTo>
                  <a:pt x="5750" y="2598"/>
                  <a:pt x="3995" y="2332"/>
                  <a:pt x="3163" y="3163"/>
                </a:cubicBezTo>
                <a:cubicBezTo>
                  <a:pt x="2331" y="3995"/>
                  <a:pt x="2598" y="5750"/>
                  <a:pt x="3682" y="7853"/>
                </a:cubicBezTo>
                <a:cubicBezTo>
                  <a:pt x="1426" y="8571"/>
                  <a:pt x="0" y="9624"/>
                  <a:pt x="0" y="10800"/>
                </a:cubicBezTo>
                <a:cubicBezTo>
                  <a:pt x="0" y="11976"/>
                  <a:pt x="1426" y="13029"/>
                  <a:pt x="3682" y="13748"/>
                </a:cubicBezTo>
                <a:cubicBezTo>
                  <a:pt x="2598" y="15851"/>
                  <a:pt x="2331" y="17605"/>
                  <a:pt x="3163" y="18437"/>
                </a:cubicBezTo>
                <a:cubicBezTo>
                  <a:pt x="3995" y="19268"/>
                  <a:pt x="5750" y="19002"/>
                  <a:pt x="7852" y="17918"/>
                </a:cubicBezTo>
                <a:cubicBezTo>
                  <a:pt x="8571" y="20173"/>
                  <a:pt x="9623" y="21600"/>
                  <a:pt x="10800" y="21600"/>
                </a:cubicBezTo>
                <a:cubicBezTo>
                  <a:pt x="11976" y="21600"/>
                  <a:pt x="13029" y="20173"/>
                  <a:pt x="13748" y="17918"/>
                </a:cubicBezTo>
                <a:cubicBezTo>
                  <a:pt x="15850" y="19002"/>
                  <a:pt x="17605" y="19268"/>
                  <a:pt x="18437" y="18437"/>
                </a:cubicBezTo>
                <a:cubicBezTo>
                  <a:pt x="19269" y="17605"/>
                  <a:pt x="19002" y="15851"/>
                  <a:pt x="17918" y="13748"/>
                </a:cubicBezTo>
                <a:cubicBezTo>
                  <a:pt x="20173" y="13029"/>
                  <a:pt x="21600" y="11976"/>
                  <a:pt x="21600" y="10800"/>
                </a:cubicBezTo>
                <a:moveTo>
                  <a:pt x="10800" y="9818"/>
                </a:moveTo>
                <a:cubicBezTo>
                  <a:pt x="10258" y="9818"/>
                  <a:pt x="9818" y="10258"/>
                  <a:pt x="9818" y="10800"/>
                </a:cubicBezTo>
                <a:cubicBezTo>
                  <a:pt x="9818" y="11342"/>
                  <a:pt x="10258" y="11782"/>
                  <a:pt x="10800" y="11782"/>
                </a:cubicBezTo>
                <a:cubicBezTo>
                  <a:pt x="11342" y="11782"/>
                  <a:pt x="11782" y="11342"/>
                  <a:pt x="11782" y="10800"/>
                </a:cubicBezTo>
                <a:cubicBezTo>
                  <a:pt x="11782" y="10258"/>
                  <a:pt x="11342" y="9818"/>
                  <a:pt x="10800" y="9818"/>
                </a:cubicBezTo>
              </a:path>
            </a:pathLst>
          </a:custGeom>
          <a:solidFill>
            <a:srgbClr val="4D3F82"/>
          </a:solidFill>
          <a:ln w="12700">
            <a:miter lim="400000"/>
          </a:ln>
        </p:spPr>
        <p:txBody>
          <a:bodyPr lIns="19045" tIns="19045" rIns="19045" bIns="19045" anchor="ctr"/>
          <a:lstStyle/>
          <a:p>
            <a:pPr marL="0" marR="0" lvl="0" indent="0" algn="l" defTabSz="228532" rtl="0" eaLnBrk="1" fontAlgn="auto" latinLnBrk="0" hangingPunct="1">
              <a:lnSpc>
                <a:spcPct val="100000"/>
              </a:lnSpc>
              <a:spcBef>
                <a:spcPts val="0"/>
              </a:spcBef>
              <a:spcAft>
                <a:spcPts val="0"/>
              </a:spcAft>
              <a:buClrTx/>
              <a:buSzTx/>
              <a:buFontTx/>
              <a:buNone/>
              <a:tabLst/>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5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Century Gothic" panose="020B0502020202020204" pitchFamily="34" charset="0"/>
              <a:sym typeface="Gill Sans"/>
            </a:endParaRPr>
          </a:p>
        </p:txBody>
      </p:sp>
    </p:spTree>
    <p:extLst>
      <p:ext uri="{BB962C8B-B14F-4D97-AF65-F5344CB8AC3E}">
        <p14:creationId xmlns:p14="http://schemas.microsoft.com/office/powerpoint/2010/main" val="62809880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1000"/>
                                        <p:tgtEl>
                                          <p:spTgt spid="33"/>
                                        </p:tgtEl>
                                      </p:cBhvr>
                                    </p:animEffect>
                                    <p:anim calcmode="lin" valueType="num">
                                      <p:cBhvr>
                                        <p:cTn id="8" dur="1000" fill="hold"/>
                                        <p:tgtEl>
                                          <p:spTgt spid="33"/>
                                        </p:tgtEl>
                                        <p:attrNameLst>
                                          <p:attrName>ppt_x</p:attrName>
                                        </p:attrNameLst>
                                      </p:cBhvr>
                                      <p:tavLst>
                                        <p:tav tm="0">
                                          <p:val>
                                            <p:strVal val="#ppt_x"/>
                                          </p:val>
                                        </p:tav>
                                        <p:tav tm="100000">
                                          <p:val>
                                            <p:strVal val="#ppt_x"/>
                                          </p:val>
                                        </p:tav>
                                      </p:tavLst>
                                    </p:anim>
                                    <p:anim calcmode="lin" valueType="num">
                                      <p:cBhvr>
                                        <p:cTn id="9"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7743648" y="1901008"/>
            <a:ext cx="3056236" cy="3441476"/>
          </a:xfrm>
          <a:prstGeom prst="rect">
            <a:avLst/>
          </a:prstGeom>
        </p:spPr>
      </p:pic>
      <p:sp>
        <p:nvSpPr>
          <p:cNvPr id="20" name="文本框 19"/>
          <p:cNvSpPr txBox="1"/>
          <p:nvPr/>
        </p:nvSpPr>
        <p:spPr>
          <a:xfrm>
            <a:off x="1071199" y="457068"/>
            <a:ext cx="2132763" cy="523220"/>
          </a:xfrm>
          <a:prstGeom prst="rect">
            <a:avLst/>
          </a:prstGeom>
          <a:noFill/>
        </p:spPr>
        <p:txBody>
          <a:bodyPr wrap="none" rtlCol="0">
            <a:spAutoFit/>
          </a:bodyPr>
          <a:lstStyle/>
          <a:p>
            <a:pPr lvl="0">
              <a:defRPr/>
            </a:pPr>
            <a:r>
              <a:rPr lang="en-US" altLang="zh-CN" sz="2800" b="1" dirty="0">
                <a:solidFill>
                  <a:srgbClr val="4D3F82"/>
                </a:solidFill>
                <a:cs typeface="+mn-ea"/>
                <a:sym typeface="+mn-lt"/>
              </a:rPr>
              <a:t>Big Bird </a:t>
            </a:r>
            <a:r>
              <a:rPr lang="zh-CN" altLang="en-US" sz="2800" b="1" dirty="0">
                <a:solidFill>
                  <a:srgbClr val="4D3F82"/>
                </a:solidFill>
                <a:cs typeface="+mn-ea"/>
                <a:sym typeface="+mn-lt"/>
              </a:rPr>
              <a:t>简介</a:t>
            </a:r>
            <a:endParaRPr kumimoji="0" lang="zh-CN" altLang="en-US" sz="2800" b="1" i="0" u="none" strike="noStrike" kern="1200" cap="none" spc="0" normalizeH="0" baseline="0" noProof="0" dirty="0">
              <a:ln>
                <a:noFill/>
              </a:ln>
              <a:solidFill>
                <a:srgbClr val="4D3F82"/>
              </a:solidFill>
              <a:effectLst/>
              <a:uLnTx/>
              <a:uFillTx/>
              <a:latin typeface="Calibri"/>
              <a:ea typeface="微软雅黑"/>
              <a:cs typeface="+mn-ea"/>
              <a:sym typeface="+mn-lt"/>
            </a:endParaRPr>
          </a:p>
        </p:txBody>
      </p:sp>
      <p:sp>
        <p:nvSpPr>
          <p:cNvPr id="6" name="椭圆 5">
            <a:extLst>
              <a:ext uri="{FF2B5EF4-FFF2-40B4-BE49-F238E27FC236}">
                <a16:creationId xmlns:a16="http://schemas.microsoft.com/office/drawing/2014/main" id="{DF773A56-49AF-444E-AF6D-49DFDB041C2E}"/>
              </a:ext>
            </a:extLst>
          </p:cNvPr>
          <p:cNvSpPr/>
          <p:nvPr/>
        </p:nvSpPr>
        <p:spPr>
          <a:xfrm>
            <a:off x="11073997" y="5889631"/>
            <a:ext cx="872276" cy="872276"/>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9723BAD4-F047-4320-87A0-E95852694C3F}"/>
              </a:ext>
            </a:extLst>
          </p:cNvPr>
          <p:cNvSpPr/>
          <p:nvPr/>
        </p:nvSpPr>
        <p:spPr>
          <a:xfrm rot="9430845">
            <a:off x="11432508" y="5123846"/>
            <a:ext cx="344849" cy="344849"/>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D4E3EEDC-7C8A-43DB-BD42-E8947B413BB8}"/>
              </a:ext>
            </a:extLst>
          </p:cNvPr>
          <p:cNvSpPr/>
          <p:nvPr/>
        </p:nvSpPr>
        <p:spPr>
          <a:xfrm rot="9430845">
            <a:off x="10447956" y="6589483"/>
            <a:ext cx="344849" cy="344849"/>
          </a:xfrm>
          <a:prstGeom prst="ellipse">
            <a:avLst/>
          </a:prstGeom>
          <a:solidFill>
            <a:srgbClr val="4D3F82"/>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EF07DB3A-3E81-4DC1-8E47-D5A7AB5ABD16}"/>
              </a:ext>
            </a:extLst>
          </p:cNvPr>
          <p:cNvSpPr/>
          <p:nvPr/>
        </p:nvSpPr>
        <p:spPr>
          <a:xfrm rot="9430845">
            <a:off x="528920" y="441278"/>
            <a:ext cx="503796" cy="511184"/>
          </a:xfrm>
          <a:prstGeom prst="ellipse">
            <a:avLst/>
          </a:prstGeom>
          <a:solidFill>
            <a:srgbClr val="4D3F8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FB187FA8-C04C-4322-891C-A741CEA371EC}"/>
              </a:ext>
            </a:extLst>
          </p:cNvPr>
          <p:cNvSpPr txBox="1"/>
          <p:nvPr/>
        </p:nvSpPr>
        <p:spPr>
          <a:xfrm>
            <a:off x="524715" y="466029"/>
            <a:ext cx="561265" cy="461665"/>
          </a:xfrm>
          <a:prstGeom prst="rect">
            <a:avLst/>
          </a:prstGeom>
          <a:noFill/>
        </p:spPr>
        <p:txBody>
          <a:bodyPr wrap="square" rtlCol="0">
            <a:spAutoFit/>
          </a:bodyPr>
          <a:lstStyle/>
          <a:p>
            <a:r>
              <a:rPr lang="en-US" altLang="zh-CN" sz="2400" dirty="0">
                <a:solidFill>
                  <a:schemeClr val="bg1"/>
                </a:solidFill>
                <a:latin typeface="Bauhaus 93" panose="04030905020B02020C02" pitchFamily="82" charset="0"/>
              </a:rPr>
              <a:t>02</a:t>
            </a:r>
            <a:endParaRPr lang="zh-CN" altLang="en-US" sz="2400" dirty="0">
              <a:solidFill>
                <a:schemeClr val="bg1"/>
              </a:solidFill>
              <a:latin typeface="Bauhaus 93" panose="04030905020B02020C02" pitchFamily="82" charset="0"/>
            </a:endParaRPr>
          </a:p>
        </p:txBody>
      </p:sp>
      <p:sp>
        <p:nvSpPr>
          <p:cNvPr id="37" name="椭圆 36">
            <a:extLst>
              <a:ext uri="{FF2B5EF4-FFF2-40B4-BE49-F238E27FC236}">
                <a16:creationId xmlns:a16="http://schemas.microsoft.com/office/drawing/2014/main" id="{7A007603-F3D9-40C8-B984-92A6C591C1ED}"/>
              </a:ext>
            </a:extLst>
          </p:cNvPr>
          <p:cNvSpPr/>
          <p:nvPr/>
        </p:nvSpPr>
        <p:spPr>
          <a:xfrm rot="14219635">
            <a:off x="-422765" y="-198887"/>
            <a:ext cx="872276" cy="872276"/>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6E536261-448B-42D2-AA47-008BC8415B5E}"/>
              </a:ext>
            </a:extLst>
          </p:cNvPr>
          <p:cNvSpPr/>
          <p:nvPr/>
        </p:nvSpPr>
        <p:spPr>
          <a:xfrm rot="14219635">
            <a:off x="367756" y="1142977"/>
            <a:ext cx="163510" cy="163510"/>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0" name="图片 3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6359445"/>
            <a:ext cx="3374582" cy="537824"/>
          </a:xfrm>
          <a:prstGeom prst="rect">
            <a:avLst/>
          </a:prstGeom>
        </p:spPr>
      </p:pic>
      <p:sp>
        <p:nvSpPr>
          <p:cNvPr id="22" name="矩形 21"/>
          <p:cNvSpPr/>
          <p:nvPr/>
        </p:nvSpPr>
        <p:spPr>
          <a:xfrm>
            <a:off x="1071199" y="1132589"/>
            <a:ext cx="6472601" cy="3785652"/>
          </a:xfrm>
          <a:prstGeom prst="rect">
            <a:avLst/>
          </a:prstGeom>
        </p:spPr>
        <p:txBody>
          <a:bodyPr wrap="square">
            <a:spAutoFit/>
          </a:bodyPr>
          <a:lstStyle/>
          <a:p>
            <a:pPr>
              <a:lnSpc>
                <a:spcPct val="200000"/>
              </a:lnSpc>
            </a:pPr>
            <a:r>
              <a:rPr lang="en-US" altLang="zh-CN" sz="2000" dirty="0">
                <a:solidFill>
                  <a:srgbClr val="4D3F82"/>
                </a:solidFill>
                <a:latin typeface="+mn-ea"/>
              </a:rPr>
              <a:t>2. </a:t>
            </a:r>
            <a:r>
              <a:rPr lang="zh-CN" altLang="en-US" sz="2000" dirty="0">
                <a:solidFill>
                  <a:srgbClr val="4D3F82"/>
                </a:solidFill>
                <a:latin typeface="+mn-ea"/>
              </a:rPr>
              <a:t>滑动窗 </a:t>
            </a:r>
            <a:r>
              <a:rPr lang="en-US" altLang="zh-CN" sz="2000" dirty="0">
                <a:solidFill>
                  <a:srgbClr val="4D3F82"/>
                </a:solidFill>
                <a:latin typeface="+mn-ea"/>
              </a:rPr>
              <a:t>attention</a:t>
            </a:r>
          </a:p>
          <a:p>
            <a:pPr>
              <a:lnSpc>
                <a:spcPct val="200000"/>
              </a:lnSpc>
            </a:pPr>
            <a:r>
              <a:rPr lang="zh-CN" altLang="en-US" sz="2000" dirty="0">
                <a:solidFill>
                  <a:schemeClr val="tx1">
                    <a:lumMod val="50000"/>
                  </a:schemeClr>
                </a:solidFill>
                <a:latin typeface="+mn-ea"/>
              </a:rPr>
              <a:t>在</a:t>
            </a:r>
            <a:r>
              <a:rPr lang="en-US" altLang="zh-CN" sz="2000" dirty="0">
                <a:solidFill>
                  <a:schemeClr val="tx1">
                    <a:lumMod val="50000"/>
                  </a:schemeClr>
                </a:solidFill>
                <a:latin typeface="+mn-ea"/>
              </a:rPr>
              <a:t>NLP</a:t>
            </a:r>
            <a:r>
              <a:rPr lang="zh-CN" altLang="en-US" sz="2000" dirty="0">
                <a:solidFill>
                  <a:schemeClr val="tx1">
                    <a:lumMod val="50000"/>
                  </a:schemeClr>
                </a:solidFill>
                <a:latin typeface="+mn-ea"/>
              </a:rPr>
              <a:t>中，一个词语的表示可以从其邻居词中获得大量有效信息。从局部性角度出发，希望图具有较高的聚集系数（图局部连通性的度量，如</a:t>
            </a:r>
            <a:r>
              <a:rPr lang="en-US" altLang="zh-CN" sz="2000" dirty="0">
                <a:solidFill>
                  <a:schemeClr val="tx1">
                    <a:lumMod val="50000"/>
                  </a:schemeClr>
                </a:solidFill>
                <a:latin typeface="+mn-ea"/>
              </a:rPr>
              <a:t>small world graph</a:t>
            </a:r>
            <a:r>
              <a:rPr lang="zh-CN" altLang="en-US" sz="2000" dirty="0">
                <a:solidFill>
                  <a:schemeClr val="tx1">
                    <a:lumMod val="50000"/>
                  </a:schemeClr>
                </a:solidFill>
                <a:latin typeface="+mn-ea"/>
              </a:rPr>
              <a:t>）。</a:t>
            </a:r>
            <a:endParaRPr lang="en-US" altLang="zh-CN" sz="2000" dirty="0">
              <a:solidFill>
                <a:schemeClr val="tx1">
                  <a:lumMod val="50000"/>
                </a:schemeClr>
              </a:solidFill>
              <a:latin typeface="+mn-ea"/>
            </a:endParaRPr>
          </a:p>
          <a:p>
            <a:pPr>
              <a:lnSpc>
                <a:spcPct val="200000"/>
              </a:lnSpc>
            </a:pPr>
            <a:r>
              <a:rPr lang="zh-CN" altLang="en-US" sz="2000" dirty="0">
                <a:solidFill>
                  <a:schemeClr val="tx1">
                    <a:lumMod val="50000"/>
                  </a:schemeClr>
                </a:solidFill>
                <a:latin typeface="+mn-ea"/>
              </a:rPr>
              <a:t>       为捕捉局部上下文结构，定义一个宽为</a:t>
            </a:r>
            <a:r>
              <a:rPr lang="en-US" altLang="zh-CN" sz="2000" dirty="0">
                <a:solidFill>
                  <a:schemeClr val="tx1">
                    <a:lumMod val="50000"/>
                  </a:schemeClr>
                </a:solidFill>
                <a:latin typeface="+mn-ea"/>
              </a:rPr>
              <a:t>w</a:t>
            </a:r>
            <a:r>
              <a:rPr lang="zh-CN" altLang="en-US" sz="2000" dirty="0">
                <a:solidFill>
                  <a:schemeClr val="tx1">
                    <a:lumMod val="50000"/>
                  </a:schemeClr>
                </a:solidFill>
                <a:latin typeface="+mn-ea"/>
              </a:rPr>
              <a:t>的滑动窗</a:t>
            </a:r>
            <a:r>
              <a:rPr lang="en-US" altLang="zh-CN" sz="2000" dirty="0">
                <a:solidFill>
                  <a:schemeClr val="tx1">
                    <a:lumMod val="50000"/>
                  </a:schemeClr>
                </a:solidFill>
                <a:latin typeface="+mn-ea"/>
              </a:rPr>
              <a:t>attention</a:t>
            </a:r>
            <a:r>
              <a:rPr lang="zh-CN" altLang="en-US" sz="2000" dirty="0">
                <a:solidFill>
                  <a:schemeClr val="tx1">
                    <a:lumMod val="50000"/>
                  </a:schemeClr>
                </a:solidFill>
                <a:latin typeface="+mn-ea"/>
              </a:rPr>
              <a:t>，</a:t>
            </a:r>
            <a:endParaRPr lang="zh-CN" altLang="en-US" sz="2000" dirty="0">
              <a:solidFill>
                <a:schemeClr val="tx1">
                  <a:lumMod val="50000"/>
                </a:schemeClr>
              </a:solidFill>
            </a:endParaRPr>
          </a:p>
        </p:txBody>
      </p:sp>
      <p:pic>
        <p:nvPicPr>
          <p:cNvPr id="5" name="图片 4"/>
          <p:cNvPicPr>
            <a:picLocks noChangeAspect="1"/>
          </p:cNvPicPr>
          <p:nvPr/>
        </p:nvPicPr>
        <p:blipFill>
          <a:blip r:embed="rId5"/>
          <a:stretch>
            <a:fillRect/>
          </a:stretch>
        </p:blipFill>
        <p:spPr>
          <a:xfrm>
            <a:off x="2137580" y="4918241"/>
            <a:ext cx="3753447" cy="455690"/>
          </a:xfrm>
          <a:prstGeom prst="rect">
            <a:avLst/>
          </a:prstGeom>
        </p:spPr>
      </p:pic>
      <p:sp>
        <p:nvSpPr>
          <p:cNvPr id="16" name="Shape 2778">
            <a:extLst>
              <a:ext uri="{FF2B5EF4-FFF2-40B4-BE49-F238E27FC236}">
                <a16:creationId xmlns:a16="http://schemas.microsoft.com/office/drawing/2014/main" id="{F29DC826-5488-45F3-AE98-172A6E992139}"/>
              </a:ext>
            </a:extLst>
          </p:cNvPr>
          <p:cNvSpPr/>
          <p:nvPr/>
        </p:nvSpPr>
        <p:spPr>
          <a:xfrm>
            <a:off x="581795" y="4405127"/>
            <a:ext cx="367849" cy="367849"/>
          </a:xfrm>
          <a:custGeom>
            <a:avLst/>
            <a:gdLst/>
            <a:ahLst/>
            <a:cxnLst>
              <a:cxn ang="0">
                <a:pos x="wd2" y="hd2"/>
              </a:cxn>
              <a:cxn ang="5400000">
                <a:pos x="wd2" y="hd2"/>
              </a:cxn>
              <a:cxn ang="10800000">
                <a:pos x="wd2" y="hd2"/>
              </a:cxn>
              <a:cxn ang="16200000">
                <a:pos x="wd2" y="hd2"/>
              </a:cxn>
            </a:cxnLst>
            <a:rect l="0" t="0" r="r" b="b"/>
            <a:pathLst>
              <a:path w="21600" h="21600" extrusionOk="0">
                <a:moveTo>
                  <a:pt x="17481" y="12956"/>
                </a:moveTo>
                <a:cubicBezTo>
                  <a:pt x="17070" y="12258"/>
                  <a:pt x="16576" y="11533"/>
                  <a:pt x="16011" y="10795"/>
                </a:cubicBezTo>
                <a:cubicBezTo>
                  <a:pt x="16573" y="10063"/>
                  <a:pt x="17072" y="9339"/>
                  <a:pt x="17481" y="8644"/>
                </a:cubicBezTo>
                <a:cubicBezTo>
                  <a:pt x="19410" y="9181"/>
                  <a:pt x="20618" y="9948"/>
                  <a:pt x="20618" y="10800"/>
                </a:cubicBezTo>
                <a:cubicBezTo>
                  <a:pt x="20618" y="11652"/>
                  <a:pt x="19410" y="12419"/>
                  <a:pt x="17481" y="12956"/>
                </a:cubicBezTo>
                <a:moveTo>
                  <a:pt x="17742" y="17743"/>
                </a:moveTo>
                <a:cubicBezTo>
                  <a:pt x="17140" y="18345"/>
                  <a:pt x="15740" y="18028"/>
                  <a:pt x="13996" y="17045"/>
                </a:cubicBezTo>
                <a:cubicBezTo>
                  <a:pt x="14198" y="16261"/>
                  <a:pt x="14365" y="15406"/>
                  <a:pt x="14487" y="14488"/>
                </a:cubicBezTo>
                <a:cubicBezTo>
                  <a:pt x="15405" y="14366"/>
                  <a:pt x="16261" y="14198"/>
                  <a:pt x="17044" y="13996"/>
                </a:cubicBezTo>
                <a:cubicBezTo>
                  <a:pt x="18028" y="15740"/>
                  <a:pt x="18345" y="17140"/>
                  <a:pt x="17742" y="17743"/>
                </a:cubicBezTo>
                <a:moveTo>
                  <a:pt x="15404" y="11561"/>
                </a:moveTo>
                <a:cubicBezTo>
                  <a:pt x="15837" y="12119"/>
                  <a:pt x="16219" y="12662"/>
                  <a:pt x="16554" y="13185"/>
                </a:cubicBezTo>
                <a:cubicBezTo>
                  <a:pt x="15950" y="13317"/>
                  <a:pt x="15295" y="13429"/>
                  <a:pt x="14597" y="13517"/>
                </a:cubicBezTo>
                <a:cubicBezTo>
                  <a:pt x="14631" y="13155"/>
                  <a:pt x="14655" y="12784"/>
                  <a:pt x="14677" y="12409"/>
                </a:cubicBezTo>
                <a:cubicBezTo>
                  <a:pt x="14930" y="12127"/>
                  <a:pt x="15170" y="11844"/>
                  <a:pt x="15404" y="11561"/>
                </a:cubicBezTo>
                <a:moveTo>
                  <a:pt x="15402" y="10032"/>
                </a:moveTo>
                <a:cubicBezTo>
                  <a:pt x="15170" y="9752"/>
                  <a:pt x="14928" y="9471"/>
                  <a:pt x="14677" y="9191"/>
                </a:cubicBezTo>
                <a:cubicBezTo>
                  <a:pt x="14655" y="8817"/>
                  <a:pt x="14631" y="8445"/>
                  <a:pt x="14597" y="8084"/>
                </a:cubicBezTo>
                <a:cubicBezTo>
                  <a:pt x="15295" y="8171"/>
                  <a:pt x="15950" y="8283"/>
                  <a:pt x="16554" y="8415"/>
                </a:cubicBezTo>
                <a:cubicBezTo>
                  <a:pt x="16221" y="8935"/>
                  <a:pt x="15832" y="9478"/>
                  <a:pt x="15402" y="10032"/>
                </a:cubicBezTo>
                <a:moveTo>
                  <a:pt x="17742" y="3857"/>
                </a:moveTo>
                <a:cubicBezTo>
                  <a:pt x="18345" y="4460"/>
                  <a:pt x="18028" y="5860"/>
                  <a:pt x="17044" y="7604"/>
                </a:cubicBezTo>
                <a:cubicBezTo>
                  <a:pt x="16261" y="7402"/>
                  <a:pt x="15405" y="7234"/>
                  <a:pt x="14487" y="7112"/>
                </a:cubicBezTo>
                <a:cubicBezTo>
                  <a:pt x="14365" y="6194"/>
                  <a:pt x="14198" y="5339"/>
                  <a:pt x="13996" y="4555"/>
                </a:cubicBezTo>
                <a:cubicBezTo>
                  <a:pt x="15740" y="3572"/>
                  <a:pt x="17140" y="3255"/>
                  <a:pt x="17742" y="3857"/>
                </a:cubicBezTo>
                <a:moveTo>
                  <a:pt x="13718" y="12012"/>
                </a:moveTo>
                <a:cubicBezTo>
                  <a:pt x="13448" y="12303"/>
                  <a:pt x="13172" y="12593"/>
                  <a:pt x="12882" y="12883"/>
                </a:cubicBezTo>
                <a:cubicBezTo>
                  <a:pt x="12593" y="13172"/>
                  <a:pt x="12303" y="13449"/>
                  <a:pt x="12012" y="13719"/>
                </a:cubicBezTo>
                <a:cubicBezTo>
                  <a:pt x="11614" y="13733"/>
                  <a:pt x="11212" y="13745"/>
                  <a:pt x="10800" y="13745"/>
                </a:cubicBezTo>
                <a:cubicBezTo>
                  <a:pt x="10387" y="13745"/>
                  <a:pt x="9985" y="13733"/>
                  <a:pt x="9587" y="13719"/>
                </a:cubicBezTo>
                <a:cubicBezTo>
                  <a:pt x="9297" y="13449"/>
                  <a:pt x="9006" y="13172"/>
                  <a:pt x="8717" y="12883"/>
                </a:cubicBezTo>
                <a:cubicBezTo>
                  <a:pt x="8428" y="12593"/>
                  <a:pt x="8152" y="12303"/>
                  <a:pt x="7881" y="12012"/>
                </a:cubicBezTo>
                <a:cubicBezTo>
                  <a:pt x="7866" y="11614"/>
                  <a:pt x="7855" y="11212"/>
                  <a:pt x="7855" y="10800"/>
                </a:cubicBezTo>
                <a:cubicBezTo>
                  <a:pt x="7855" y="10388"/>
                  <a:pt x="7866" y="9986"/>
                  <a:pt x="7881" y="9587"/>
                </a:cubicBezTo>
                <a:cubicBezTo>
                  <a:pt x="8152" y="9297"/>
                  <a:pt x="8428" y="9007"/>
                  <a:pt x="8717" y="8717"/>
                </a:cubicBezTo>
                <a:cubicBezTo>
                  <a:pt x="9006" y="8428"/>
                  <a:pt x="9297" y="8151"/>
                  <a:pt x="9587" y="7881"/>
                </a:cubicBezTo>
                <a:cubicBezTo>
                  <a:pt x="9985" y="7867"/>
                  <a:pt x="10387" y="7855"/>
                  <a:pt x="10800" y="7855"/>
                </a:cubicBezTo>
                <a:cubicBezTo>
                  <a:pt x="11212" y="7855"/>
                  <a:pt x="11614" y="7867"/>
                  <a:pt x="12012" y="7881"/>
                </a:cubicBezTo>
                <a:cubicBezTo>
                  <a:pt x="12303" y="8151"/>
                  <a:pt x="12593" y="8428"/>
                  <a:pt x="12882" y="8717"/>
                </a:cubicBezTo>
                <a:cubicBezTo>
                  <a:pt x="13172" y="9007"/>
                  <a:pt x="13448" y="9297"/>
                  <a:pt x="13718" y="9587"/>
                </a:cubicBezTo>
                <a:cubicBezTo>
                  <a:pt x="13733" y="9986"/>
                  <a:pt x="13745" y="10388"/>
                  <a:pt x="13745" y="10800"/>
                </a:cubicBezTo>
                <a:cubicBezTo>
                  <a:pt x="13745" y="11212"/>
                  <a:pt x="13733" y="11614"/>
                  <a:pt x="13718" y="12012"/>
                </a:cubicBezTo>
                <a:moveTo>
                  <a:pt x="13185" y="16555"/>
                </a:moveTo>
                <a:cubicBezTo>
                  <a:pt x="12662" y="16219"/>
                  <a:pt x="12120" y="15837"/>
                  <a:pt x="11561" y="15404"/>
                </a:cubicBezTo>
                <a:cubicBezTo>
                  <a:pt x="11844" y="15170"/>
                  <a:pt x="12127" y="14931"/>
                  <a:pt x="12409" y="14677"/>
                </a:cubicBezTo>
                <a:cubicBezTo>
                  <a:pt x="12783" y="14655"/>
                  <a:pt x="13155" y="14631"/>
                  <a:pt x="13517" y="14597"/>
                </a:cubicBezTo>
                <a:cubicBezTo>
                  <a:pt x="13429" y="15295"/>
                  <a:pt x="13316" y="15950"/>
                  <a:pt x="13185" y="16555"/>
                </a:cubicBezTo>
                <a:moveTo>
                  <a:pt x="10800" y="20618"/>
                </a:moveTo>
                <a:cubicBezTo>
                  <a:pt x="9948" y="20618"/>
                  <a:pt x="9181" y="19410"/>
                  <a:pt x="8643" y="17481"/>
                </a:cubicBezTo>
                <a:cubicBezTo>
                  <a:pt x="9339" y="17072"/>
                  <a:pt x="10062" y="16573"/>
                  <a:pt x="10795" y="16011"/>
                </a:cubicBezTo>
                <a:cubicBezTo>
                  <a:pt x="11532" y="16576"/>
                  <a:pt x="12258" y="17070"/>
                  <a:pt x="12957" y="17481"/>
                </a:cubicBezTo>
                <a:cubicBezTo>
                  <a:pt x="12419" y="19410"/>
                  <a:pt x="11652" y="20618"/>
                  <a:pt x="10800" y="20618"/>
                </a:cubicBezTo>
                <a:moveTo>
                  <a:pt x="8083" y="14597"/>
                </a:moveTo>
                <a:cubicBezTo>
                  <a:pt x="8445" y="14631"/>
                  <a:pt x="8816" y="14655"/>
                  <a:pt x="9190" y="14677"/>
                </a:cubicBezTo>
                <a:cubicBezTo>
                  <a:pt x="9471" y="14929"/>
                  <a:pt x="9751" y="15170"/>
                  <a:pt x="10032" y="15403"/>
                </a:cubicBezTo>
                <a:cubicBezTo>
                  <a:pt x="9478" y="15832"/>
                  <a:pt x="8935" y="16221"/>
                  <a:pt x="8415" y="16555"/>
                </a:cubicBezTo>
                <a:cubicBezTo>
                  <a:pt x="8283" y="15950"/>
                  <a:pt x="8171" y="15295"/>
                  <a:pt x="8083" y="14597"/>
                </a:cubicBezTo>
                <a:moveTo>
                  <a:pt x="8415" y="5045"/>
                </a:moveTo>
                <a:cubicBezTo>
                  <a:pt x="8938" y="5381"/>
                  <a:pt x="9480" y="5762"/>
                  <a:pt x="10038" y="6196"/>
                </a:cubicBezTo>
                <a:cubicBezTo>
                  <a:pt x="9756" y="6430"/>
                  <a:pt x="9473" y="6670"/>
                  <a:pt x="9190" y="6924"/>
                </a:cubicBezTo>
                <a:cubicBezTo>
                  <a:pt x="8816" y="6945"/>
                  <a:pt x="8445" y="6969"/>
                  <a:pt x="8083" y="7003"/>
                </a:cubicBezTo>
                <a:cubicBezTo>
                  <a:pt x="8171" y="6305"/>
                  <a:pt x="8283" y="5650"/>
                  <a:pt x="8415" y="5045"/>
                </a:cubicBezTo>
                <a:moveTo>
                  <a:pt x="10800" y="982"/>
                </a:moveTo>
                <a:cubicBezTo>
                  <a:pt x="11652" y="982"/>
                  <a:pt x="12419" y="2191"/>
                  <a:pt x="12957" y="4119"/>
                </a:cubicBezTo>
                <a:cubicBezTo>
                  <a:pt x="12261" y="4528"/>
                  <a:pt x="11537" y="5027"/>
                  <a:pt x="10804" y="5589"/>
                </a:cubicBezTo>
                <a:cubicBezTo>
                  <a:pt x="10067" y="5024"/>
                  <a:pt x="9341" y="4530"/>
                  <a:pt x="8643" y="4119"/>
                </a:cubicBezTo>
                <a:cubicBezTo>
                  <a:pt x="9181" y="2191"/>
                  <a:pt x="9948" y="982"/>
                  <a:pt x="10800" y="982"/>
                </a:cubicBezTo>
                <a:moveTo>
                  <a:pt x="13517" y="7003"/>
                </a:moveTo>
                <a:cubicBezTo>
                  <a:pt x="13155" y="6969"/>
                  <a:pt x="12783" y="6945"/>
                  <a:pt x="12409" y="6924"/>
                </a:cubicBezTo>
                <a:cubicBezTo>
                  <a:pt x="12129" y="6671"/>
                  <a:pt x="11848" y="6430"/>
                  <a:pt x="11568" y="6198"/>
                </a:cubicBezTo>
                <a:cubicBezTo>
                  <a:pt x="12122" y="5768"/>
                  <a:pt x="12665" y="5379"/>
                  <a:pt x="13185" y="5045"/>
                </a:cubicBezTo>
                <a:cubicBezTo>
                  <a:pt x="13316" y="5650"/>
                  <a:pt x="13429" y="6305"/>
                  <a:pt x="13517" y="7003"/>
                </a:cubicBezTo>
                <a:moveTo>
                  <a:pt x="7112" y="7112"/>
                </a:moveTo>
                <a:cubicBezTo>
                  <a:pt x="6194" y="7234"/>
                  <a:pt x="5339" y="7402"/>
                  <a:pt x="4555" y="7604"/>
                </a:cubicBezTo>
                <a:cubicBezTo>
                  <a:pt x="3572" y="5860"/>
                  <a:pt x="3255" y="4460"/>
                  <a:pt x="3858" y="3857"/>
                </a:cubicBezTo>
                <a:cubicBezTo>
                  <a:pt x="4460" y="3255"/>
                  <a:pt x="5860" y="3572"/>
                  <a:pt x="7604" y="4555"/>
                </a:cubicBezTo>
                <a:cubicBezTo>
                  <a:pt x="7402" y="5339"/>
                  <a:pt x="7234" y="6194"/>
                  <a:pt x="7112" y="7112"/>
                </a:cubicBezTo>
                <a:moveTo>
                  <a:pt x="3858" y="17743"/>
                </a:moveTo>
                <a:cubicBezTo>
                  <a:pt x="3255" y="17140"/>
                  <a:pt x="3572" y="15740"/>
                  <a:pt x="4555" y="13996"/>
                </a:cubicBezTo>
                <a:cubicBezTo>
                  <a:pt x="5339" y="14198"/>
                  <a:pt x="6194" y="14366"/>
                  <a:pt x="7112" y="14488"/>
                </a:cubicBezTo>
                <a:cubicBezTo>
                  <a:pt x="7234" y="15406"/>
                  <a:pt x="7402" y="16261"/>
                  <a:pt x="7604" y="17045"/>
                </a:cubicBezTo>
                <a:cubicBezTo>
                  <a:pt x="5860" y="18028"/>
                  <a:pt x="4460" y="18345"/>
                  <a:pt x="3858" y="17743"/>
                </a:cubicBezTo>
                <a:moveTo>
                  <a:pt x="7003" y="13517"/>
                </a:moveTo>
                <a:cubicBezTo>
                  <a:pt x="6305" y="13429"/>
                  <a:pt x="5650" y="13317"/>
                  <a:pt x="5045" y="13185"/>
                </a:cubicBezTo>
                <a:cubicBezTo>
                  <a:pt x="5379" y="12665"/>
                  <a:pt x="5768" y="12122"/>
                  <a:pt x="6197" y="11568"/>
                </a:cubicBezTo>
                <a:cubicBezTo>
                  <a:pt x="6429" y="11848"/>
                  <a:pt x="6671" y="12129"/>
                  <a:pt x="6923" y="12409"/>
                </a:cubicBezTo>
                <a:cubicBezTo>
                  <a:pt x="6944" y="12784"/>
                  <a:pt x="6968" y="13155"/>
                  <a:pt x="7003" y="13517"/>
                </a:cubicBezTo>
                <a:moveTo>
                  <a:pt x="6923" y="9191"/>
                </a:moveTo>
                <a:cubicBezTo>
                  <a:pt x="6669" y="9473"/>
                  <a:pt x="6429" y="9756"/>
                  <a:pt x="6196" y="10039"/>
                </a:cubicBezTo>
                <a:cubicBezTo>
                  <a:pt x="5763" y="9481"/>
                  <a:pt x="5381" y="8938"/>
                  <a:pt x="5045" y="8415"/>
                </a:cubicBezTo>
                <a:cubicBezTo>
                  <a:pt x="5650" y="8283"/>
                  <a:pt x="6305" y="8171"/>
                  <a:pt x="7003" y="8084"/>
                </a:cubicBezTo>
                <a:cubicBezTo>
                  <a:pt x="6968" y="8445"/>
                  <a:pt x="6944" y="8816"/>
                  <a:pt x="6923" y="9191"/>
                </a:cubicBezTo>
                <a:moveTo>
                  <a:pt x="982" y="10800"/>
                </a:moveTo>
                <a:cubicBezTo>
                  <a:pt x="982" y="9948"/>
                  <a:pt x="2190" y="9181"/>
                  <a:pt x="4119" y="8644"/>
                </a:cubicBezTo>
                <a:cubicBezTo>
                  <a:pt x="4530" y="9342"/>
                  <a:pt x="5023" y="10067"/>
                  <a:pt x="5588" y="10805"/>
                </a:cubicBezTo>
                <a:cubicBezTo>
                  <a:pt x="5027" y="11537"/>
                  <a:pt x="4528" y="12262"/>
                  <a:pt x="4119" y="12956"/>
                </a:cubicBezTo>
                <a:cubicBezTo>
                  <a:pt x="2190" y="12419"/>
                  <a:pt x="982" y="11652"/>
                  <a:pt x="982" y="10800"/>
                </a:cubicBezTo>
                <a:moveTo>
                  <a:pt x="21600" y="10800"/>
                </a:moveTo>
                <a:cubicBezTo>
                  <a:pt x="21600" y="9624"/>
                  <a:pt x="20173" y="8571"/>
                  <a:pt x="17918" y="7853"/>
                </a:cubicBezTo>
                <a:cubicBezTo>
                  <a:pt x="19002" y="5750"/>
                  <a:pt x="19269" y="3995"/>
                  <a:pt x="18437" y="3163"/>
                </a:cubicBezTo>
                <a:cubicBezTo>
                  <a:pt x="17605" y="2332"/>
                  <a:pt x="15850" y="2598"/>
                  <a:pt x="13748" y="3682"/>
                </a:cubicBezTo>
                <a:cubicBezTo>
                  <a:pt x="13029" y="1427"/>
                  <a:pt x="11976" y="0"/>
                  <a:pt x="10800" y="0"/>
                </a:cubicBezTo>
                <a:cubicBezTo>
                  <a:pt x="9623" y="0"/>
                  <a:pt x="8571" y="1427"/>
                  <a:pt x="7852" y="3682"/>
                </a:cubicBezTo>
                <a:cubicBezTo>
                  <a:pt x="5750" y="2598"/>
                  <a:pt x="3995" y="2332"/>
                  <a:pt x="3163" y="3163"/>
                </a:cubicBezTo>
                <a:cubicBezTo>
                  <a:pt x="2331" y="3995"/>
                  <a:pt x="2598" y="5750"/>
                  <a:pt x="3682" y="7853"/>
                </a:cubicBezTo>
                <a:cubicBezTo>
                  <a:pt x="1426" y="8571"/>
                  <a:pt x="0" y="9624"/>
                  <a:pt x="0" y="10800"/>
                </a:cubicBezTo>
                <a:cubicBezTo>
                  <a:pt x="0" y="11976"/>
                  <a:pt x="1426" y="13029"/>
                  <a:pt x="3682" y="13748"/>
                </a:cubicBezTo>
                <a:cubicBezTo>
                  <a:pt x="2598" y="15851"/>
                  <a:pt x="2331" y="17605"/>
                  <a:pt x="3163" y="18437"/>
                </a:cubicBezTo>
                <a:cubicBezTo>
                  <a:pt x="3995" y="19268"/>
                  <a:pt x="5750" y="19002"/>
                  <a:pt x="7852" y="17918"/>
                </a:cubicBezTo>
                <a:cubicBezTo>
                  <a:pt x="8571" y="20173"/>
                  <a:pt x="9623" y="21600"/>
                  <a:pt x="10800" y="21600"/>
                </a:cubicBezTo>
                <a:cubicBezTo>
                  <a:pt x="11976" y="21600"/>
                  <a:pt x="13029" y="20173"/>
                  <a:pt x="13748" y="17918"/>
                </a:cubicBezTo>
                <a:cubicBezTo>
                  <a:pt x="15850" y="19002"/>
                  <a:pt x="17605" y="19268"/>
                  <a:pt x="18437" y="18437"/>
                </a:cubicBezTo>
                <a:cubicBezTo>
                  <a:pt x="19269" y="17605"/>
                  <a:pt x="19002" y="15851"/>
                  <a:pt x="17918" y="13748"/>
                </a:cubicBezTo>
                <a:cubicBezTo>
                  <a:pt x="20173" y="13029"/>
                  <a:pt x="21600" y="11976"/>
                  <a:pt x="21600" y="10800"/>
                </a:cubicBezTo>
                <a:moveTo>
                  <a:pt x="10800" y="9818"/>
                </a:moveTo>
                <a:cubicBezTo>
                  <a:pt x="10258" y="9818"/>
                  <a:pt x="9818" y="10258"/>
                  <a:pt x="9818" y="10800"/>
                </a:cubicBezTo>
                <a:cubicBezTo>
                  <a:pt x="9818" y="11342"/>
                  <a:pt x="10258" y="11782"/>
                  <a:pt x="10800" y="11782"/>
                </a:cubicBezTo>
                <a:cubicBezTo>
                  <a:pt x="11342" y="11782"/>
                  <a:pt x="11782" y="11342"/>
                  <a:pt x="11782" y="10800"/>
                </a:cubicBezTo>
                <a:cubicBezTo>
                  <a:pt x="11782" y="10258"/>
                  <a:pt x="11342" y="9818"/>
                  <a:pt x="10800" y="9818"/>
                </a:cubicBezTo>
              </a:path>
            </a:pathLst>
          </a:custGeom>
          <a:solidFill>
            <a:srgbClr val="4D3F82"/>
          </a:solidFill>
          <a:ln w="12700">
            <a:miter lim="400000"/>
          </a:ln>
        </p:spPr>
        <p:txBody>
          <a:bodyPr lIns="19045" tIns="19045" rIns="19045" bIns="19045" anchor="ctr"/>
          <a:lstStyle/>
          <a:p>
            <a:pPr marL="0" marR="0" lvl="0" indent="0" algn="l" defTabSz="228532" rtl="0" eaLnBrk="1" fontAlgn="auto" latinLnBrk="0" hangingPunct="1">
              <a:lnSpc>
                <a:spcPct val="100000"/>
              </a:lnSpc>
              <a:spcBef>
                <a:spcPts val="0"/>
              </a:spcBef>
              <a:spcAft>
                <a:spcPts val="0"/>
              </a:spcAft>
              <a:buClrTx/>
              <a:buSzTx/>
              <a:buFontTx/>
              <a:buNone/>
              <a:tabLst/>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5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Century Gothic" panose="020B0502020202020204" pitchFamily="34" charset="0"/>
              <a:sym typeface="Gill Sans"/>
            </a:endParaRPr>
          </a:p>
        </p:txBody>
      </p:sp>
    </p:spTree>
    <p:extLst>
      <p:ext uri="{BB962C8B-B14F-4D97-AF65-F5344CB8AC3E}">
        <p14:creationId xmlns:p14="http://schemas.microsoft.com/office/powerpoint/2010/main" val="178618388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7789945" y="1901008"/>
            <a:ext cx="2960682" cy="3441476"/>
          </a:xfrm>
          <a:prstGeom prst="rect">
            <a:avLst/>
          </a:prstGeom>
        </p:spPr>
      </p:pic>
      <p:sp>
        <p:nvSpPr>
          <p:cNvPr id="20" name="文本框 19"/>
          <p:cNvSpPr txBox="1"/>
          <p:nvPr/>
        </p:nvSpPr>
        <p:spPr>
          <a:xfrm>
            <a:off x="1071199" y="457068"/>
            <a:ext cx="2132763" cy="523220"/>
          </a:xfrm>
          <a:prstGeom prst="rect">
            <a:avLst/>
          </a:prstGeom>
          <a:noFill/>
        </p:spPr>
        <p:txBody>
          <a:bodyPr wrap="none" rtlCol="0">
            <a:spAutoFit/>
          </a:bodyPr>
          <a:lstStyle/>
          <a:p>
            <a:pPr lvl="0">
              <a:defRPr/>
            </a:pPr>
            <a:r>
              <a:rPr lang="en-US" altLang="zh-CN" sz="2800" b="1" dirty="0">
                <a:solidFill>
                  <a:srgbClr val="4D3F82"/>
                </a:solidFill>
                <a:cs typeface="+mn-ea"/>
                <a:sym typeface="+mn-lt"/>
              </a:rPr>
              <a:t>Big Bird </a:t>
            </a:r>
            <a:r>
              <a:rPr lang="zh-CN" altLang="en-US" sz="2800" b="1" dirty="0">
                <a:solidFill>
                  <a:srgbClr val="4D3F82"/>
                </a:solidFill>
                <a:cs typeface="+mn-ea"/>
                <a:sym typeface="+mn-lt"/>
              </a:rPr>
              <a:t>简介</a:t>
            </a:r>
            <a:endParaRPr kumimoji="0" lang="zh-CN" altLang="en-US" sz="2800" b="1" i="0" u="none" strike="noStrike" kern="1200" cap="none" spc="0" normalizeH="0" baseline="0" noProof="0" dirty="0">
              <a:ln>
                <a:noFill/>
              </a:ln>
              <a:solidFill>
                <a:srgbClr val="4D3F82"/>
              </a:solidFill>
              <a:effectLst/>
              <a:uLnTx/>
              <a:uFillTx/>
              <a:latin typeface="Calibri"/>
              <a:ea typeface="微软雅黑"/>
              <a:cs typeface="+mn-ea"/>
              <a:sym typeface="+mn-lt"/>
            </a:endParaRPr>
          </a:p>
        </p:txBody>
      </p:sp>
      <p:sp>
        <p:nvSpPr>
          <p:cNvPr id="6" name="椭圆 5">
            <a:extLst>
              <a:ext uri="{FF2B5EF4-FFF2-40B4-BE49-F238E27FC236}">
                <a16:creationId xmlns:a16="http://schemas.microsoft.com/office/drawing/2014/main" id="{DF773A56-49AF-444E-AF6D-49DFDB041C2E}"/>
              </a:ext>
            </a:extLst>
          </p:cNvPr>
          <p:cNvSpPr/>
          <p:nvPr/>
        </p:nvSpPr>
        <p:spPr>
          <a:xfrm>
            <a:off x="11073997" y="5889631"/>
            <a:ext cx="872276" cy="872276"/>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9723BAD4-F047-4320-87A0-E95852694C3F}"/>
              </a:ext>
            </a:extLst>
          </p:cNvPr>
          <p:cNvSpPr/>
          <p:nvPr/>
        </p:nvSpPr>
        <p:spPr>
          <a:xfrm rot="9430845">
            <a:off x="11432508" y="5123846"/>
            <a:ext cx="344849" cy="344849"/>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D4E3EEDC-7C8A-43DB-BD42-E8947B413BB8}"/>
              </a:ext>
            </a:extLst>
          </p:cNvPr>
          <p:cNvSpPr/>
          <p:nvPr/>
        </p:nvSpPr>
        <p:spPr>
          <a:xfrm rot="9430845">
            <a:off x="10447956" y="6589483"/>
            <a:ext cx="344849" cy="344849"/>
          </a:xfrm>
          <a:prstGeom prst="ellipse">
            <a:avLst/>
          </a:prstGeom>
          <a:solidFill>
            <a:srgbClr val="4D3F82"/>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EF07DB3A-3E81-4DC1-8E47-D5A7AB5ABD16}"/>
              </a:ext>
            </a:extLst>
          </p:cNvPr>
          <p:cNvSpPr/>
          <p:nvPr/>
        </p:nvSpPr>
        <p:spPr>
          <a:xfrm rot="9430845">
            <a:off x="528920" y="441278"/>
            <a:ext cx="503796" cy="511184"/>
          </a:xfrm>
          <a:prstGeom prst="ellipse">
            <a:avLst/>
          </a:prstGeom>
          <a:solidFill>
            <a:srgbClr val="4D3F8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FB187FA8-C04C-4322-891C-A741CEA371EC}"/>
              </a:ext>
            </a:extLst>
          </p:cNvPr>
          <p:cNvSpPr txBox="1"/>
          <p:nvPr/>
        </p:nvSpPr>
        <p:spPr>
          <a:xfrm>
            <a:off x="524715" y="466029"/>
            <a:ext cx="561265" cy="461665"/>
          </a:xfrm>
          <a:prstGeom prst="rect">
            <a:avLst/>
          </a:prstGeom>
          <a:noFill/>
        </p:spPr>
        <p:txBody>
          <a:bodyPr wrap="square" rtlCol="0">
            <a:spAutoFit/>
          </a:bodyPr>
          <a:lstStyle/>
          <a:p>
            <a:r>
              <a:rPr lang="en-US" altLang="zh-CN" sz="2400" dirty="0">
                <a:solidFill>
                  <a:schemeClr val="bg1"/>
                </a:solidFill>
                <a:latin typeface="Bauhaus 93" panose="04030905020B02020C02" pitchFamily="82" charset="0"/>
              </a:rPr>
              <a:t>02</a:t>
            </a:r>
            <a:endParaRPr lang="zh-CN" altLang="en-US" sz="2400" dirty="0">
              <a:solidFill>
                <a:schemeClr val="bg1"/>
              </a:solidFill>
              <a:latin typeface="Bauhaus 93" panose="04030905020B02020C02" pitchFamily="82" charset="0"/>
            </a:endParaRPr>
          </a:p>
        </p:txBody>
      </p:sp>
      <p:sp>
        <p:nvSpPr>
          <p:cNvPr id="37" name="椭圆 36">
            <a:extLst>
              <a:ext uri="{FF2B5EF4-FFF2-40B4-BE49-F238E27FC236}">
                <a16:creationId xmlns:a16="http://schemas.microsoft.com/office/drawing/2014/main" id="{7A007603-F3D9-40C8-B984-92A6C591C1ED}"/>
              </a:ext>
            </a:extLst>
          </p:cNvPr>
          <p:cNvSpPr/>
          <p:nvPr/>
        </p:nvSpPr>
        <p:spPr>
          <a:xfrm rot="14219635">
            <a:off x="-422765" y="-198887"/>
            <a:ext cx="872276" cy="872276"/>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6E536261-448B-42D2-AA47-008BC8415B5E}"/>
              </a:ext>
            </a:extLst>
          </p:cNvPr>
          <p:cNvSpPr/>
          <p:nvPr/>
        </p:nvSpPr>
        <p:spPr>
          <a:xfrm rot="14219635">
            <a:off x="367756" y="1142977"/>
            <a:ext cx="163510" cy="163510"/>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0" name="图片 3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6359445"/>
            <a:ext cx="3374582" cy="537824"/>
          </a:xfrm>
          <a:prstGeom prst="rect">
            <a:avLst/>
          </a:prstGeom>
        </p:spPr>
      </p:pic>
      <p:sp>
        <p:nvSpPr>
          <p:cNvPr id="22" name="矩形 21"/>
          <p:cNvSpPr/>
          <p:nvPr/>
        </p:nvSpPr>
        <p:spPr>
          <a:xfrm>
            <a:off x="1085979" y="1132589"/>
            <a:ext cx="6264901" cy="3785652"/>
          </a:xfrm>
          <a:prstGeom prst="rect">
            <a:avLst/>
          </a:prstGeom>
        </p:spPr>
        <p:txBody>
          <a:bodyPr wrap="square">
            <a:spAutoFit/>
          </a:bodyPr>
          <a:lstStyle/>
          <a:p>
            <a:pPr>
              <a:lnSpc>
                <a:spcPct val="200000"/>
              </a:lnSpc>
            </a:pPr>
            <a:r>
              <a:rPr lang="en-US" altLang="zh-CN" sz="2000" dirty="0">
                <a:solidFill>
                  <a:srgbClr val="4D3F82"/>
                </a:solidFill>
                <a:latin typeface="+mn-ea"/>
              </a:rPr>
              <a:t>3. </a:t>
            </a:r>
            <a:r>
              <a:rPr lang="zh-CN" altLang="en-US" sz="2000" dirty="0">
                <a:solidFill>
                  <a:srgbClr val="4D3F82"/>
                </a:solidFill>
                <a:latin typeface="+mn-ea"/>
              </a:rPr>
              <a:t>全局 </a:t>
            </a:r>
            <a:r>
              <a:rPr lang="en-US" altLang="zh-CN" sz="2000" dirty="0">
                <a:solidFill>
                  <a:srgbClr val="4D3F82"/>
                </a:solidFill>
                <a:latin typeface="+mn-ea"/>
              </a:rPr>
              <a:t>attention</a:t>
            </a:r>
          </a:p>
          <a:p>
            <a:pPr>
              <a:lnSpc>
                <a:spcPct val="200000"/>
              </a:lnSpc>
            </a:pPr>
            <a:r>
              <a:rPr lang="zh-CN" altLang="en-US" sz="2000" dirty="0">
                <a:solidFill>
                  <a:schemeClr val="tx1">
                    <a:lumMod val="50000"/>
                  </a:schemeClr>
                </a:solidFill>
                <a:latin typeface="+mn-ea"/>
              </a:rPr>
              <a:t>全局</a:t>
            </a:r>
            <a:r>
              <a:rPr lang="en-US" altLang="zh-CN" sz="2000" dirty="0">
                <a:solidFill>
                  <a:schemeClr val="tx1">
                    <a:lumMod val="50000"/>
                  </a:schemeClr>
                </a:solidFill>
                <a:latin typeface="+mn-ea"/>
              </a:rPr>
              <a:t>token</a:t>
            </a:r>
            <a:r>
              <a:rPr lang="zh-CN" altLang="en-US" sz="2000" dirty="0">
                <a:solidFill>
                  <a:schemeClr val="tx1">
                    <a:lumMod val="50000"/>
                  </a:schemeClr>
                </a:solidFill>
                <a:latin typeface="+mn-ea"/>
              </a:rPr>
              <a:t>是非常重要的，它要与序列中所有词语计算</a:t>
            </a:r>
            <a:r>
              <a:rPr lang="en-US" altLang="zh-CN" sz="2000" dirty="0">
                <a:solidFill>
                  <a:schemeClr val="tx1">
                    <a:lumMod val="50000"/>
                  </a:schemeClr>
                </a:solidFill>
                <a:latin typeface="+mn-ea"/>
              </a:rPr>
              <a:t>attention</a:t>
            </a:r>
            <a:r>
              <a:rPr lang="zh-CN" altLang="en-US" sz="2000" dirty="0">
                <a:solidFill>
                  <a:schemeClr val="tx1">
                    <a:lumMod val="50000"/>
                  </a:schemeClr>
                </a:solidFill>
                <a:latin typeface="+mn-ea"/>
              </a:rPr>
              <a:t>。</a:t>
            </a:r>
            <a:r>
              <a:rPr lang="en-US" altLang="zh-CN" sz="2000" dirty="0">
                <a:solidFill>
                  <a:schemeClr val="tx1">
                    <a:lumMod val="50000"/>
                  </a:schemeClr>
                </a:solidFill>
                <a:latin typeface="+mn-ea"/>
              </a:rPr>
              <a:t>2</a:t>
            </a:r>
            <a:r>
              <a:rPr lang="zh-CN" altLang="en-US" sz="2000" dirty="0">
                <a:solidFill>
                  <a:schemeClr val="tx1">
                    <a:lumMod val="50000"/>
                  </a:schemeClr>
                </a:solidFill>
                <a:latin typeface="+mn-ea"/>
              </a:rPr>
              <a:t>种方法定义全局</a:t>
            </a:r>
            <a:r>
              <a:rPr lang="en-US" altLang="zh-CN" sz="2000" dirty="0">
                <a:solidFill>
                  <a:schemeClr val="tx1">
                    <a:lumMod val="50000"/>
                  </a:schemeClr>
                </a:solidFill>
                <a:latin typeface="+mn-ea"/>
              </a:rPr>
              <a:t>token</a:t>
            </a:r>
            <a:r>
              <a:rPr lang="zh-CN" altLang="en-US" sz="2000" dirty="0">
                <a:solidFill>
                  <a:schemeClr val="tx1">
                    <a:lumMod val="50000"/>
                  </a:schemeClr>
                </a:solidFill>
                <a:latin typeface="+mn-ea"/>
              </a:rPr>
              <a:t>：</a:t>
            </a:r>
            <a:endParaRPr lang="en-US" altLang="zh-CN" sz="2000" dirty="0">
              <a:solidFill>
                <a:schemeClr val="tx1">
                  <a:lumMod val="50000"/>
                </a:schemeClr>
              </a:solidFill>
              <a:latin typeface="+mn-ea"/>
            </a:endParaRPr>
          </a:p>
          <a:p>
            <a:pPr>
              <a:lnSpc>
                <a:spcPct val="200000"/>
              </a:lnSpc>
            </a:pPr>
            <a:r>
              <a:rPr lang="en-US" altLang="zh-CN" sz="2000" dirty="0">
                <a:solidFill>
                  <a:schemeClr val="tx1">
                    <a:lumMod val="50000"/>
                  </a:schemeClr>
                </a:solidFill>
                <a:latin typeface="+mn-ea"/>
              </a:rPr>
              <a:t>1) Big Bird-ITC (</a:t>
            </a:r>
            <a:r>
              <a:rPr lang="en-US" altLang="zh-CN" sz="2000" dirty="0">
                <a:solidFill>
                  <a:schemeClr val="tx1">
                    <a:lumMod val="50000"/>
                  </a:schemeClr>
                </a:solidFill>
              </a:rPr>
              <a:t>internal transformer construction</a:t>
            </a:r>
            <a:r>
              <a:rPr lang="en-US" altLang="zh-CN" sz="2000" dirty="0">
                <a:solidFill>
                  <a:schemeClr val="tx1">
                    <a:lumMod val="50000"/>
                  </a:schemeClr>
                </a:solidFill>
                <a:latin typeface="+mn-ea"/>
              </a:rPr>
              <a:t>)</a:t>
            </a:r>
            <a:r>
              <a:rPr lang="zh-CN" altLang="en-US" sz="2000" dirty="0">
                <a:solidFill>
                  <a:schemeClr val="tx1">
                    <a:lumMod val="50000"/>
                  </a:schemeClr>
                </a:solidFill>
                <a:latin typeface="+mn-ea"/>
              </a:rPr>
              <a:t>：选择现有序列中的词语作为全局</a:t>
            </a:r>
            <a:r>
              <a:rPr lang="en-US" altLang="zh-CN" sz="2000" dirty="0">
                <a:solidFill>
                  <a:schemeClr val="tx1">
                    <a:lumMod val="50000"/>
                  </a:schemeClr>
                </a:solidFill>
                <a:latin typeface="+mn-ea"/>
              </a:rPr>
              <a:t>token</a:t>
            </a:r>
            <a:r>
              <a:rPr lang="zh-CN" altLang="en-US" sz="2000" dirty="0">
                <a:solidFill>
                  <a:schemeClr val="tx1">
                    <a:lumMod val="50000"/>
                  </a:schemeClr>
                </a:solidFill>
                <a:latin typeface="+mn-ea"/>
              </a:rPr>
              <a:t>。</a:t>
            </a:r>
            <a:endParaRPr lang="en-US" altLang="zh-CN" sz="2000" dirty="0">
              <a:solidFill>
                <a:schemeClr val="tx1">
                  <a:lumMod val="50000"/>
                </a:schemeClr>
              </a:solidFill>
              <a:latin typeface="+mn-ea"/>
            </a:endParaRPr>
          </a:p>
          <a:p>
            <a:pPr>
              <a:lnSpc>
                <a:spcPct val="200000"/>
              </a:lnSpc>
            </a:pPr>
            <a:r>
              <a:rPr lang="zh-CN" altLang="en-US" sz="2000" dirty="0">
                <a:solidFill>
                  <a:schemeClr val="tx1">
                    <a:lumMod val="50000"/>
                  </a:schemeClr>
                </a:solidFill>
                <a:latin typeface="+mn-ea"/>
              </a:rPr>
              <a:t>选择一个子集</a:t>
            </a:r>
            <a:r>
              <a:rPr lang="en-US" altLang="zh-CN" sz="2000" dirty="0">
                <a:solidFill>
                  <a:schemeClr val="tx1">
                    <a:lumMod val="50000"/>
                  </a:schemeClr>
                </a:solidFill>
                <a:latin typeface="+mn-ea"/>
              </a:rPr>
              <a:t>G</a:t>
            </a:r>
            <a:r>
              <a:rPr lang="zh-CN" altLang="en-US" sz="2000" dirty="0">
                <a:solidFill>
                  <a:schemeClr val="tx1">
                    <a:lumMod val="50000"/>
                  </a:schemeClr>
                </a:solidFill>
                <a:latin typeface="+mn-ea"/>
              </a:rPr>
              <a:t>，对于每个         ，都有                  和</a:t>
            </a:r>
            <a:endParaRPr lang="en-US" altLang="zh-CN" sz="2000" dirty="0">
              <a:solidFill>
                <a:schemeClr val="tx1">
                  <a:lumMod val="50000"/>
                </a:schemeClr>
              </a:solidFill>
              <a:latin typeface="+mn-ea"/>
            </a:endParaRPr>
          </a:p>
        </p:txBody>
      </p:sp>
      <p:pic>
        <p:nvPicPr>
          <p:cNvPr id="4" name="图片 3"/>
          <p:cNvPicPr>
            <a:picLocks noChangeAspect="1"/>
          </p:cNvPicPr>
          <p:nvPr/>
        </p:nvPicPr>
        <p:blipFill>
          <a:blip r:embed="rId5"/>
          <a:stretch>
            <a:fillRect/>
          </a:stretch>
        </p:blipFill>
        <p:spPr>
          <a:xfrm>
            <a:off x="4148327" y="4417531"/>
            <a:ext cx="763286" cy="316218"/>
          </a:xfrm>
          <a:prstGeom prst="rect">
            <a:avLst/>
          </a:prstGeom>
        </p:spPr>
      </p:pic>
      <p:pic>
        <p:nvPicPr>
          <p:cNvPr id="5" name="图片 4"/>
          <p:cNvPicPr>
            <a:picLocks noChangeAspect="1"/>
          </p:cNvPicPr>
          <p:nvPr/>
        </p:nvPicPr>
        <p:blipFill>
          <a:blip r:embed="rId6"/>
          <a:stretch>
            <a:fillRect/>
          </a:stretch>
        </p:blipFill>
        <p:spPr>
          <a:xfrm>
            <a:off x="5589892" y="4430595"/>
            <a:ext cx="1319392" cy="316218"/>
          </a:xfrm>
          <a:prstGeom prst="rect">
            <a:avLst/>
          </a:prstGeom>
        </p:spPr>
      </p:pic>
      <p:pic>
        <p:nvPicPr>
          <p:cNvPr id="7" name="图片 6"/>
          <p:cNvPicPr>
            <a:picLocks noChangeAspect="1"/>
          </p:cNvPicPr>
          <p:nvPr/>
        </p:nvPicPr>
        <p:blipFill>
          <a:blip r:embed="rId7"/>
          <a:stretch>
            <a:fillRect/>
          </a:stretch>
        </p:blipFill>
        <p:spPr>
          <a:xfrm>
            <a:off x="1112126" y="5020680"/>
            <a:ext cx="1434040" cy="358510"/>
          </a:xfrm>
          <a:prstGeom prst="rect">
            <a:avLst/>
          </a:prstGeom>
        </p:spPr>
      </p:pic>
      <p:sp>
        <p:nvSpPr>
          <p:cNvPr id="18" name="Shape 2538"/>
          <p:cNvSpPr/>
          <p:nvPr/>
        </p:nvSpPr>
        <p:spPr>
          <a:xfrm>
            <a:off x="718268" y="4377905"/>
            <a:ext cx="283403" cy="368908"/>
          </a:xfrm>
          <a:custGeom>
            <a:avLst/>
            <a:gdLst/>
            <a:ahLst/>
            <a:cxnLst>
              <a:cxn ang="0">
                <a:pos x="wd2" y="hd2"/>
              </a:cxn>
              <a:cxn ang="5400000">
                <a:pos x="wd2" y="hd2"/>
              </a:cxn>
              <a:cxn ang="10800000">
                <a:pos x="wd2" y="hd2"/>
              </a:cxn>
              <a:cxn ang="16200000">
                <a:pos x="wd2" y="hd2"/>
              </a:cxn>
            </a:cxnLst>
            <a:rect l="0" t="0" r="r" b="b"/>
            <a:pathLst>
              <a:path w="21600" h="21600" extrusionOk="0">
                <a:moveTo>
                  <a:pt x="20400" y="5891"/>
                </a:moveTo>
                <a:lnTo>
                  <a:pt x="1200" y="5891"/>
                </a:lnTo>
                <a:lnTo>
                  <a:pt x="1200" y="3927"/>
                </a:lnTo>
                <a:lnTo>
                  <a:pt x="6000" y="3927"/>
                </a:lnTo>
                <a:cubicBezTo>
                  <a:pt x="6000" y="4469"/>
                  <a:pt x="6538" y="4909"/>
                  <a:pt x="7200" y="4909"/>
                </a:cubicBezTo>
                <a:lnTo>
                  <a:pt x="14400" y="4909"/>
                </a:lnTo>
                <a:cubicBezTo>
                  <a:pt x="15062" y="4909"/>
                  <a:pt x="15600" y="4469"/>
                  <a:pt x="15600" y="3927"/>
                </a:cubicBezTo>
                <a:lnTo>
                  <a:pt x="20400" y="3927"/>
                </a:lnTo>
                <a:cubicBezTo>
                  <a:pt x="20400" y="3927"/>
                  <a:pt x="20400" y="5891"/>
                  <a:pt x="20400" y="5891"/>
                </a:cubicBezTo>
                <a:close/>
                <a:moveTo>
                  <a:pt x="20400" y="20618"/>
                </a:moveTo>
                <a:lnTo>
                  <a:pt x="1200" y="20618"/>
                </a:lnTo>
                <a:lnTo>
                  <a:pt x="1200" y="6873"/>
                </a:lnTo>
                <a:lnTo>
                  <a:pt x="20400" y="6873"/>
                </a:lnTo>
                <a:cubicBezTo>
                  <a:pt x="20400" y="6873"/>
                  <a:pt x="20400" y="20618"/>
                  <a:pt x="20400" y="20618"/>
                </a:cubicBezTo>
                <a:close/>
                <a:moveTo>
                  <a:pt x="7200" y="1964"/>
                </a:moveTo>
                <a:lnTo>
                  <a:pt x="14400" y="1964"/>
                </a:lnTo>
                <a:lnTo>
                  <a:pt x="14400" y="3927"/>
                </a:lnTo>
                <a:lnTo>
                  <a:pt x="7200" y="3927"/>
                </a:lnTo>
                <a:cubicBezTo>
                  <a:pt x="7200" y="3927"/>
                  <a:pt x="7200" y="1964"/>
                  <a:pt x="7200" y="1964"/>
                </a:cubicBezTo>
                <a:close/>
                <a:moveTo>
                  <a:pt x="20400" y="2945"/>
                </a:moveTo>
                <a:lnTo>
                  <a:pt x="15600" y="2945"/>
                </a:lnTo>
                <a:lnTo>
                  <a:pt x="15600" y="1964"/>
                </a:lnTo>
                <a:cubicBezTo>
                  <a:pt x="15600" y="1422"/>
                  <a:pt x="15062" y="982"/>
                  <a:pt x="14400" y="982"/>
                </a:cubicBezTo>
                <a:lnTo>
                  <a:pt x="12000" y="982"/>
                </a:lnTo>
                <a:cubicBezTo>
                  <a:pt x="12000" y="440"/>
                  <a:pt x="11462" y="0"/>
                  <a:pt x="10800" y="0"/>
                </a:cubicBezTo>
                <a:cubicBezTo>
                  <a:pt x="10138" y="0"/>
                  <a:pt x="9600" y="440"/>
                  <a:pt x="9600" y="982"/>
                </a:cubicBezTo>
                <a:lnTo>
                  <a:pt x="7200" y="982"/>
                </a:lnTo>
                <a:cubicBezTo>
                  <a:pt x="6538" y="982"/>
                  <a:pt x="6000" y="1422"/>
                  <a:pt x="6000" y="1964"/>
                </a:cubicBezTo>
                <a:lnTo>
                  <a:pt x="6000" y="2945"/>
                </a:lnTo>
                <a:lnTo>
                  <a:pt x="1200" y="2945"/>
                </a:lnTo>
                <a:cubicBezTo>
                  <a:pt x="538" y="2945"/>
                  <a:pt x="0" y="3386"/>
                  <a:pt x="0" y="3927"/>
                </a:cubicBezTo>
                <a:lnTo>
                  <a:pt x="0" y="20618"/>
                </a:lnTo>
                <a:cubicBezTo>
                  <a:pt x="0" y="21160"/>
                  <a:pt x="538" y="21600"/>
                  <a:pt x="1200" y="21600"/>
                </a:cubicBezTo>
                <a:lnTo>
                  <a:pt x="20400" y="21600"/>
                </a:lnTo>
                <a:cubicBezTo>
                  <a:pt x="21062" y="21600"/>
                  <a:pt x="21600" y="21160"/>
                  <a:pt x="21600" y="20618"/>
                </a:cubicBezTo>
                <a:lnTo>
                  <a:pt x="21600" y="3927"/>
                </a:lnTo>
                <a:cubicBezTo>
                  <a:pt x="21600" y="3386"/>
                  <a:pt x="21062" y="2945"/>
                  <a:pt x="20400" y="2945"/>
                </a:cubicBezTo>
                <a:moveTo>
                  <a:pt x="4200" y="16691"/>
                </a:moveTo>
                <a:lnTo>
                  <a:pt x="15000" y="16691"/>
                </a:lnTo>
                <a:cubicBezTo>
                  <a:pt x="15331" y="16691"/>
                  <a:pt x="15600" y="16472"/>
                  <a:pt x="15600" y="16200"/>
                </a:cubicBezTo>
                <a:cubicBezTo>
                  <a:pt x="15600" y="15929"/>
                  <a:pt x="15331" y="15709"/>
                  <a:pt x="15000" y="15709"/>
                </a:cubicBezTo>
                <a:lnTo>
                  <a:pt x="4200" y="15709"/>
                </a:lnTo>
                <a:cubicBezTo>
                  <a:pt x="3869" y="15709"/>
                  <a:pt x="3600" y="15929"/>
                  <a:pt x="3600" y="16200"/>
                </a:cubicBezTo>
                <a:cubicBezTo>
                  <a:pt x="3600" y="16472"/>
                  <a:pt x="3869" y="16691"/>
                  <a:pt x="4200" y="16691"/>
                </a:cubicBezTo>
                <a:moveTo>
                  <a:pt x="4200" y="13745"/>
                </a:moveTo>
                <a:lnTo>
                  <a:pt x="17400" y="13745"/>
                </a:lnTo>
                <a:cubicBezTo>
                  <a:pt x="17731" y="13745"/>
                  <a:pt x="18000" y="13526"/>
                  <a:pt x="18000" y="13255"/>
                </a:cubicBezTo>
                <a:cubicBezTo>
                  <a:pt x="18000" y="12984"/>
                  <a:pt x="17731" y="12764"/>
                  <a:pt x="17400" y="12764"/>
                </a:cubicBezTo>
                <a:lnTo>
                  <a:pt x="4200" y="12764"/>
                </a:lnTo>
                <a:cubicBezTo>
                  <a:pt x="3869" y="12764"/>
                  <a:pt x="3600" y="12984"/>
                  <a:pt x="3600" y="13255"/>
                </a:cubicBezTo>
                <a:cubicBezTo>
                  <a:pt x="3600" y="13526"/>
                  <a:pt x="3869" y="13745"/>
                  <a:pt x="4200" y="13745"/>
                </a:cubicBezTo>
                <a:moveTo>
                  <a:pt x="4200" y="10800"/>
                </a:moveTo>
                <a:lnTo>
                  <a:pt x="11400" y="10800"/>
                </a:lnTo>
                <a:cubicBezTo>
                  <a:pt x="11731" y="10800"/>
                  <a:pt x="12000" y="10581"/>
                  <a:pt x="12000" y="10309"/>
                </a:cubicBezTo>
                <a:cubicBezTo>
                  <a:pt x="12000" y="10038"/>
                  <a:pt x="11731" y="9818"/>
                  <a:pt x="11400" y="9818"/>
                </a:cubicBezTo>
                <a:lnTo>
                  <a:pt x="4200" y="9818"/>
                </a:lnTo>
                <a:cubicBezTo>
                  <a:pt x="3869" y="9818"/>
                  <a:pt x="3600" y="10038"/>
                  <a:pt x="3600" y="10309"/>
                </a:cubicBezTo>
                <a:cubicBezTo>
                  <a:pt x="3600" y="10581"/>
                  <a:pt x="3869" y="10800"/>
                  <a:pt x="4200" y="10800"/>
                </a:cubicBezTo>
              </a:path>
            </a:pathLst>
          </a:custGeom>
          <a:solidFill>
            <a:srgbClr val="4D3F82"/>
          </a:solidFill>
          <a:ln w="12700">
            <a:miter lim="400000"/>
          </a:ln>
        </p:spPr>
        <p:txBody>
          <a:bodyPr lIns="38090" tIns="38090" rIns="38090" bIns="38090" anchor="ctr"/>
          <a:lstStyle/>
          <a:p>
            <a:pPr marL="0" marR="0" lvl="0" indent="0" defTabSz="457063" eaLnBrk="1" fontAlgn="auto" latinLnBrk="0" hangingPunct="1">
              <a:lnSpc>
                <a:spcPct val="100000"/>
              </a:lnSpc>
              <a:spcBef>
                <a:spcPts val="0"/>
              </a:spcBef>
              <a:spcAft>
                <a:spcPts val="0"/>
              </a:spcAft>
              <a:buClrTx/>
              <a:buSzTx/>
              <a:buFontTx/>
              <a:buNone/>
              <a:tabLst/>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2999"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Gill Sans"/>
              <a:sym typeface="Gill Sans"/>
            </a:endParaRPr>
          </a:p>
        </p:txBody>
      </p:sp>
    </p:spTree>
    <p:extLst>
      <p:ext uri="{BB962C8B-B14F-4D97-AF65-F5344CB8AC3E}">
        <p14:creationId xmlns:p14="http://schemas.microsoft.com/office/powerpoint/2010/main" val="306439385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7789173" y="1901008"/>
            <a:ext cx="2960682" cy="3441476"/>
          </a:xfrm>
          <a:prstGeom prst="rect">
            <a:avLst/>
          </a:prstGeom>
        </p:spPr>
      </p:pic>
      <p:sp>
        <p:nvSpPr>
          <p:cNvPr id="20" name="文本框 19"/>
          <p:cNvSpPr txBox="1"/>
          <p:nvPr/>
        </p:nvSpPr>
        <p:spPr>
          <a:xfrm>
            <a:off x="1071199" y="457068"/>
            <a:ext cx="2132763" cy="523220"/>
          </a:xfrm>
          <a:prstGeom prst="rect">
            <a:avLst/>
          </a:prstGeom>
          <a:noFill/>
        </p:spPr>
        <p:txBody>
          <a:bodyPr wrap="none" rtlCol="0">
            <a:spAutoFit/>
          </a:bodyPr>
          <a:lstStyle/>
          <a:p>
            <a:pPr lvl="0">
              <a:defRPr/>
            </a:pPr>
            <a:r>
              <a:rPr lang="en-US" altLang="zh-CN" sz="2800" b="1" dirty="0">
                <a:solidFill>
                  <a:srgbClr val="4D3F82"/>
                </a:solidFill>
                <a:cs typeface="+mn-ea"/>
                <a:sym typeface="+mn-lt"/>
              </a:rPr>
              <a:t>Big Bird </a:t>
            </a:r>
            <a:r>
              <a:rPr lang="zh-CN" altLang="en-US" sz="2800" b="1" dirty="0">
                <a:solidFill>
                  <a:srgbClr val="4D3F82"/>
                </a:solidFill>
                <a:cs typeface="+mn-ea"/>
                <a:sym typeface="+mn-lt"/>
              </a:rPr>
              <a:t>简介</a:t>
            </a:r>
            <a:endParaRPr kumimoji="0" lang="zh-CN" altLang="en-US" sz="2800" b="1" i="0" u="none" strike="noStrike" kern="1200" cap="none" spc="0" normalizeH="0" baseline="0" noProof="0" dirty="0">
              <a:ln>
                <a:noFill/>
              </a:ln>
              <a:solidFill>
                <a:srgbClr val="4D3F82"/>
              </a:solidFill>
              <a:effectLst/>
              <a:uLnTx/>
              <a:uFillTx/>
              <a:latin typeface="Calibri"/>
              <a:ea typeface="微软雅黑"/>
              <a:cs typeface="+mn-ea"/>
              <a:sym typeface="+mn-lt"/>
            </a:endParaRPr>
          </a:p>
        </p:txBody>
      </p:sp>
      <p:sp>
        <p:nvSpPr>
          <p:cNvPr id="6" name="椭圆 5">
            <a:extLst>
              <a:ext uri="{FF2B5EF4-FFF2-40B4-BE49-F238E27FC236}">
                <a16:creationId xmlns:a16="http://schemas.microsoft.com/office/drawing/2014/main" id="{DF773A56-49AF-444E-AF6D-49DFDB041C2E}"/>
              </a:ext>
            </a:extLst>
          </p:cNvPr>
          <p:cNvSpPr/>
          <p:nvPr/>
        </p:nvSpPr>
        <p:spPr>
          <a:xfrm>
            <a:off x="11073997" y="5889631"/>
            <a:ext cx="872276" cy="872276"/>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9723BAD4-F047-4320-87A0-E95852694C3F}"/>
              </a:ext>
            </a:extLst>
          </p:cNvPr>
          <p:cNvSpPr/>
          <p:nvPr/>
        </p:nvSpPr>
        <p:spPr>
          <a:xfrm rot="9430845">
            <a:off x="11432508" y="5123846"/>
            <a:ext cx="344849" cy="344849"/>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D4E3EEDC-7C8A-43DB-BD42-E8947B413BB8}"/>
              </a:ext>
            </a:extLst>
          </p:cNvPr>
          <p:cNvSpPr/>
          <p:nvPr/>
        </p:nvSpPr>
        <p:spPr>
          <a:xfrm rot="9430845">
            <a:off x="10447956" y="6589483"/>
            <a:ext cx="344849" cy="344849"/>
          </a:xfrm>
          <a:prstGeom prst="ellipse">
            <a:avLst/>
          </a:prstGeom>
          <a:solidFill>
            <a:srgbClr val="4D3F82"/>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EF07DB3A-3E81-4DC1-8E47-D5A7AB5ABD16}"/>
              </a:ext>
            </a:extLst>
          </p:cNvPr>
          <p:cNvSpPr/>
          <p:nvPr/>
        </p:nvSpPr>
        <p:spPr>
          <a:xfrm rot="9430845">
            <a:off x="528920" y="441278"/>
            <a:ext cx="503796" cy="511184"/>
          </a:xfrm>
          <a:prstGeom prst="ellipse">
            <a:avLst/>
          </a:prstGeom>
          <a:solidFill>
            <a:srgbClr val="4D3F8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FB187FA8-C04C-4322-891C-A741CEA371EC}"/>
              </a:ext>
            </a:extLst>
          </p:cNvPr>
          <p:cNvSpPr txBox="1"/>
          <p:nvPr/>
        </p:nvSpPr>
        <p:spPr>
          <a:xfrm>
            <a:off x="524715" y="466029"/>
            <a:ext cx="561265" cy="461665"/>
          </a:xfrm>
          <a:prstGeom prst="rect">
            <a:avLst/>
          </a:prstGeom>
          <a:noFill/>
        </p:spPr>
        <p:txBody>
          <a:bodyPr wrap="square" rtlCol="0">
            <a:spAutoFit/>
          </a:bodyPr>
          <a:lstStyle/>
          <a:p>
            <a:r>
              <a:rPr lang="en-US" altLang="zh-CN" sz="2400" dirty="0">
                <a:solidFill>
                  <a:schemeClr val="bg1"/>
                </a:solidFill>
                <a:latin typeface="Bauhaus 93" panose="04030905020B02020C02" pitchFamily="82" charset="0"/>
              </a:rPr>
              <a:t>02</a:t>
            </a:r>
            <a:endParaRPr lang="zh-CN" altLang="en-US" sz="2400" dirty="0">
              <a:solidFill>
                <a:schemeClr val="bg1"/>
              </a:solidFill>
              <a:latin typeface="Bauhaus 93" panose="04030905020B02020C02" pitchFamily="82" charset="0"/>
            </a:endParaRPr>
          </a:p>
        </p:txBody>
      </p:sp>
      <p:sp>
        <p:nvSpPr>
          <p:cNvPr id="37" name="椭圆 36">
            <a:extLst>
              <a:ext uri="{FF2B5EF4-FFF2-40B4-BE49-F238E27FC236}">
                <a16:creationId xmlns:a16="http://schemas.microsoft.com/office/drawing/2014/main" id="{7A007603-F3D9-40C8-B984-92A6C591C1ED}"/>
              </a:ext>
            </a:extLst>
          </p:cNvPr>
          <p:cNvSpPr/>
          <p:nvPr/>
        </p:nvSpPr>
        <p:spPr>
          <a:xfrm rot="14219635">
            <a:off x="-422765" y="-198887"/>
            <a:ext cx="872276" cy="872276"/>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6E536261-448B-42D2-AA47-008BC8415B5E}"/>
              </a:ext>
            </a:extLst>
          </p:cNvPr>
          <p:cNvSpPr/>
          <p:nvPr/>
        </p:nvSpPr>
        <p:spPr>
          <a:xfrm rot="14219635">
            <a:off x="367756" y="1142977"/>
            <a:ext cx="163510" cy="163510"/>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0" name="图片 3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6359445"/>
            <a:ext cx="3374582" cy="537824"/>
          </a:xfrm>
          <a:prstGeom prst="rect">
            <a:avLst/>
          </a:prstGeom>
        </p:spPr>
      </p:pic>
      <p:sp>
        <p:nvSpPr>
          <p:cNvPr id="22" name="矩形 21"/>
          <p:cNvSpPr/>
          <p:nvPr/>
        </p:nvSpPr>
        <p:spPr>
          <a:xfrm>
            <a:off x="1112126" y="929521"/>
            <a:ext cx="6098571" cy="5016758"/>
          </a:xfrm>
          <a:prstGeom prst="rect">
            <a:avLst/>
          </a:prstGeom>
        </p:spPr>
        <p:txBody>
          <a:bodyPr wrap="square">
            <a:spAutoFit/>
          </a:bodyPr>
          <a:lstStyle/>
          <a:p>
            <a:pPr>
              <a:lnSpc>
                <a:spcPct val="200000"/>
              </a:lnSpc>
            </a:pPr>
            <a:r>
              <a:rPr lang="en-US" altLang="zh-CN" sz="2000" dirty="0">
                <a:solidFill>
                  <a:srgbClr val="4D3F82"/>
                </a:solidFill>
                <a:latin typeface="+mn-ea"/>
              </a:rPr>
              <a:t>3. </a:t>
            </a:r>
            <a:r>
              <a:rPr lang="zh-CN" altLang="en-US" sz="2000" dirty="0">
                <a:solidFill>
                  <a:srgbClr val="4D3F82"/>
                </a:solidFill>
                <a:latin typeface="+mn-ea"/>
              </a:rPr>
              <a:t>全局 </a:t>
            </a:r>
            <a:r>
              <a:rPr lang="en-US" altLang="zh-CN" sz="2000" dirty="0">
                <a:solidFill>
                  <a:srgbClr val="4D3F82"/>
                </a:solidFill>
                <a:latin typeface="+mn-ea"/>
              </a:rPr>
              <a:t>attention</a:t>
            </a:r>
          </a:p>
          <a:p>
            <a:pPr>
              <a:lnSpc>
                <a:spcPct val="200000"/>
              </a:lnSpc>
            </a:pPr>
            <a:r>
              <a:rPr lang="en-US" altLang="zh-CN" sz="2000" dirty="0">
                <a:solidFill>
                  <a:schemeClr val="tx1">
                    <a:lumMod val="50000"/>
                  </a:schemeClr>
                </a:solidFill>
                <a:latin typeface="+mn-ea"/>
              </a:rPr>
              <a:t>2</a:t>
            </a:r>
            <a:r>
              <a:rPr lang="zh-CN" altLang="en-US" sz="2000" dirty="0">
                <a:solidFill>
                  <a:schemeClr val="tx1">
                    <a:lumMod val="50000"/>
                  </a:schemeClr>
                </a:solidFill>
                <a:latin typeface="+mn-ea"/>
              </a:rPr>
              <a:t>种方法定义全局</a:t>
            </a:r>
            <a:r>
              <a:rPr lang="en-US" altLang="zh-CN" sz="2000" dirty="0">
                <a:solidFill>
                  <a:schemeClr val="tx1">
                    <a:lumMod val="50000"/>
                  </a:schemeClr>
                </a:solidFill>
                <a:latin typeface="+mn-ea"/>
              </a:rPr>
              <a:t>token</a:t>
            </a:r>
            <a:r>
              <a:rPr lang="zh-CN" altLang="en-US" sz="2000" dirty="0">
                <a:solidFill>
                  <a:schemeClr val="tx1">
                    <a:lumMod val="50000"/>
                  </a:schemeClr>
                </a:solidFill>
                <a:latin typeface="+mn-ea"/>
              </a:rPr>
              <a:t>：</a:t>
            </a:r>
            <a:endParaRPr lang="en-US" altLang="zh-CN" sz="2000" dirty="0">
              <a:solidFill>
                <a:schemeClr val="tx1">
                  <a:lumMod val="50000"/>
                </a:schemeClr>
              </a:solidFill>
              <a:latin typeface="+mn-ea"/>
            </a:endParaRPr>
          </a:p>
          <a:p>
            <a:pPr>
              <a:lnSpc>
                <a:spcPct val="200000"/>
              </a:lnSpc>
            </a:pPr>
            <a:r>
              <a:rPr lang="en-US" altLang="zh-CN" sz="2000" dirty="0">
                <a:solidFill>
                  <a:schemeClr val="tx1">
                    <a:lumMod val="50000"/>
                  </a:schemeClr>
                </a:solidFill>
                <a:latin typeface="+mn-ea"/>
              </a:rPr>
              <a:t>2) Big Bird-ETC (</a:t>
            </a:r>
            <a:r>
              <a:rPr lang="en-US" altLang="zh-CN" sz="2000" dirty="0">
                <a:solidFill>
                  <a:schemeClr val="tx1">
                    <a:lumMod val="50000"/>
                  </a:schemeClr>
                </a:solidFill>
              </a:rPr>
              <a:t>extended transformer construction</a:t>
            </a:r>
            <a:r>
              <a:rPr lang="en-US" altLang="zh-CN" sz="2000" dirty="0">
                <a:solidFill>
                  <a:schemeClr val="tx1">
                    <a:lumMod val="50000"/>
                  </a:schemeClr>
                </a:solidFill>
                <a:latin typeface="+mn-ea"/>
              </a:rPr>
              <a:t>)</a:t>
            </a:r>
            <a:r>
              <a:rPr lang="zh-CN" altLang="en-US" sz="2000" dirty="0">
                <a:solidFill>
                  <a:schemeClr val="tx1">
                    <a:lumMod val="50000"/>
                  </a:schemeClr>
                </a:solidFill>
                <a:latin typeface="+mn-ea"/>
              </a:rPr>
              <a:t>：额外添加全局</a:t>
            </a:r>
            <a:r>
              <a:rPr lang="en-US" altLang="zh-CN" sz="2000" dirty="0">
                <a:solidFill>
                  <a:schemeClr val="tx1">
                    <a:lumMod val="50000"/>
                  </a:schemeClr>
                </a:solidFill>
                <a:latin typeface="+mn-ea"/>
              </a:rPr>
              <a:t>token</a:t>
            </a:r>
            <a:r>
              <a:rPr lang="zh-CN" altLang="en-US" sz="2000" dirty="0">
                <a:solidFill>
                  <a:schemeClr val="tx1">
                    <a:lumMod val="50000"/>
                  </a:schemeClr>
                </a:solidFill>
                <a:latin typeface="+mn-ea"/>
              </a:rPr>
              <a:t>，如</a:t>
            </a:r>
            <a:r>
              <a:rPr lang="en-US" altLang="zh-CN" sz="2000" dirty="0">
                <a:solidFill>
                  <a:schemeClr val="tx1">
                    <a:lumMod val="50000"/>
                  </a:schemeClr>
                </a:solidFill>
                <a:latin typeface="+mn-ea"/>
              </a:rPr>
              <a:t>CLS</a:t>
            </a:r>
            <a:r>
              <a:rPr lang="zh-CN" altLang="en-US" sz="2000" dirty="0">
                <a:solidFill>
                  <a:schemeClr val="tx1">
                    <a:lumMod val="50000"/>
                  </a:schemeClr>
                </a:solidFill>
                <a:latin typeface="+mn-ea"/>
              </a:rPr>
              <a:t>。</a:t>
            </a:r>
            <a:endParaRPr lang="en-US" altLang="zh-CN" sz="2000" dirty="0">
              <a:solidFill>
                <a:schemeClr val="tx1">
                  <a:lumMod val="50000"/>
                </a:schemeClr>
              </a:solidFill>
              <a:latin typeface="+mn-ea"/>
            </a:endParaRPr>
          </a:p>
          <a:p>
            <a:pPr>
              <a:lnSpc>
                <a:spcPct val="200000"/>
              </a:lnSpc>
            </a:pPr>
            <a:r>
              <a:rPr lang="zh-CN" altLang="en-US" sz="2000" dirty="0">
                <a:solidFill>
                  <a:schemeClr val="tx1">
                    <a:lumMod val="50000"/>
                  </a:schemeClr>
                </a:solidFill>
                <a:latin typeface="+mn-ea"/>
              </a:rPr>
              <a:t>在现有序列中添加</a:t>
            </a:r>
            <a:r>
              <a:rPr lang="en-US" altLang="zh-CN" sz="2000" dirty="0">
                <a:solidFill>
                  <a:schemeClr val="tx1">
                    <a:lumMod val="50000"/>
                  </a:schemeClr>
                </a:solidFill>
                <a:latin typeface="+mn-ea"/>
              </a:rPr>
              <a:t>g</a:t>
            </a:r>
            <a:r>
              <a:rPr lang="zh-CN" altLang="en-US" sz="2000" dirty="0">
                <a:solidFill>
                  <a:schemeClr val="tx1">
                    <a:lumMod val="50000"/>
                  </a:schemeClr>
                </a:solidFill>
                <a:latin typeface="+mn-ea"/>
              </a:rPr>
              <a:t>个词语，构建新的邻接矩阵</a:t>
            </a:r>
            <a:endParaRPr lang="en-US" altLang="zh-CN" sz="2000" dirty="0">
              <a:solidFill>
                <a:schemeClr val="tx1">
                  <a:lumMod val="50000"/>
                </a:schemeClr>
              </a:solidFill>
              <a:latin typeface="+mn-ea"/>
            </a:endParaRPr>
          </a:p>
          <a:p>
            <a:pPr>
              <a:lnSpc>
                <a:spcPct val="200000"/>
              </a:lnSpc>
            </a:pPr>
            <a:r>
              <a:rPr lang="en-US" altLang="zh-CN" sz="2000" dirty="0">
                <a:solidFill>
                  <a:schemeClr val="tx1">
                    <a:lumMod val="50000"/>
                  </a:schemeClr>
                </a:solidFill>
                <a:latin typeface="+mn-ea"/>
              </a:rPr>
              <a:t>                                </a:t>
            </a:r>
            <a:r>
              <a:rPr lang="zh-CN" altLang="en-US" sz="2000" dirty="0">
                <a:solidFill>
                  <a:schemeClr val="tx1">
                    <a:lumMod val="50000"/>
                  </a:schemeClr>
                </a:solidFill>
                <a:latin typeface="+mn-ea"/>
              </a:rPr>
              <a:t>，对于                         和</a:t>
            </a:r>
            <a:endParaRPr lang="en-US" altLang="zh-CN" sz="2000" dirty="0">
              <a:solidFill>
                <a:schemeClr val="tx1">
                  <a:lumMod val="50000"/>
                </a:schemeClr>
              </a:solidFill>
              <a:latin typeface="+mn-ea"/>
            </a:endParaRPr>
          </a:p>
          <a:p>
            <a:pPr>
              <a:lnSpc>
                <a:spcPct val="200000"/>
              </a:lnSpc>
            </a:pPr>
            <a:r>
              <a:rPr lang="en-US" altLang="zh-CN" sz="2000" dirty="0">
                <a:solidFill>
                  <a:schemeClr val="tx1">
                    <a:lumMod val="50000"/>
                  </a:schemeClr>
                </a:solidFill>
                <a:latin typeface="+mn-ea"/>
              </a:rPr>
              <a:t>                                                                    </a:t>
            </a:r>
            <a:r>
              <a:rPr lang="zh-CN" altLang="en-US" sz="2000" dirty="0">
                <a:solidFill>
                  <a:schemeClr val="tx1">
                    <a:lumMod val="50000"/>
                  </a:schemeClr>
                </a:solidFill>
                <a:latin typeface="+mn-ea"/>
              </a:rPr>
              <a:t>，</a:t>
            </a:r>
            <a:endParaRPr lang="en-US" altLang="zh-CN" sz="2000" dirty="0">
              <a:solidFill>
                <a:schemeClr val="tx1">
                  <a:lumMod val="50000"/>
                </a:schemeClr>
              </a:solidFill>
              <a:latin typeface="+mn-ea"/>
            </a:endParaRPr>
          </a:p>
          <a:p>
            <a:pPr>
              <a:lnSpc>
                <a:spcPct val="200000"/>
              </a:lnSpc>
            </a:pPr>
            <a:endParaRPr lang="en-US" altLang="zh-CN" sz="2000" dirty="0">
              <a:solidFill>
                <a:schemeClr val="tx1">
                  <a:lumMod val="50000"/>
                </a:schemeClr>
              </a:solidFill>
              <a:latin typeface="+mn-ea"/>
            </a:endParaRPr>
          </a:p>
        </p:txBody>
      </p:sp>
      <p:sp>
        <p:nvSpPr>
          <p:cNvPr id="16" name="Shape 2538"/>
          <p:cNvSpPr/>
          <p:nvPr/>
        </p:nvSpPr>
        <p:spPr>
          <a:xfrm>
            <a:off x="780818" y="3570269"/>
            <a:ext cx="283403" cy="368908"/>
          </a:xfrm>
          <a:custGeom>
            <a:avLst/>
            <a:gdLst/>
            <a:ahLst/>
            <a:cxnLst>
              <a:cxn ang="0">
                <a:pos x="wd2" y="hd2"/>
              </a:cxn>
              <a:cxn ang="5400000">
                <a:pos x="wd2" y="hd2"/>
              </a:cxn>
              <a:cxn ang="10800000">
                <a:pos x="wd2" y="hd2"/>
              </a:cxn>
              <a:cxn ang="16200000">
                <a:pos x="wd2" y="hd2"/>
              </a:cxn>
            </a:cxnLst>
            <a:rect l="0" t="0" r="r" b="b"/>
            <a:pathLst>
              <a:path w="21600" h="21600" extrusionOk="0">
                <a:moveTo>
                  <a:pt x="20400" y="5891"/>
                </a:moveTo>
                <a:lnTo>
                  <a:pt x="1200" y="5891"/>
                </a:lnTo>
                <a:lnTo>
                  <a:pt x="1200" y="3927"/>
                </a:lnTo>
                <a:lnTo>
                  <a:pt x="6000" y="3927"/>
                </a:lnTo>
                <a:cubicBezTo>
                  <a:pt x="6000" y="4469"/>
                  <a:pt x="6538" y="4909"/>
                  <a:pt x="7200" y="4909"/>
                </a:cubicBezTo>
                <a:lnTo>
                  <a:pt x="14400" y="4909"/>
                </a:lnTo>
                <a:cubicBezTo>
                  <a:pt x="15062" y="4909"/>
                  <a:pt x="15600" y="4469"/>
                  <a:pt x="15600" y="3927"/>
                </a:cubicBezTo>
                <a:lnTo>
                  <a:pt x="20400" y="3927"/>
                </a:lnTo>
                <a:cubicBezTo>
                  <a:pt x="20400" y="3927"/>
                  <a:pt x="20400" y="5891"/>
                  <a:pt x="20400" y="5891"/>
                </a:cubicBezTo>
                <a:close/>
                <a:moveTo>
                  <a:pt x="20400" y="20618"/>
                </a:moveTo>
                <a:lnTo>
                  <a:pt x="1200" y="20618"/>
                </a:lnTo>
                <a:lnTo>
                  <a:pt x="1200" y="6873"/>
                </a:lnTo>
                <a:lnTo>
                  <a:pt x="20400" y="6873"/>
                </a:lnTo>
                <a:cubicBezTo>
                  <a:pt x="20400" y="6873"/>
                  <a:pt x="20400" y="20618"/>
                  <a:pt x="20400" y="20618"/>
                </a:cubicBezTo>
                <a:close/>
                <a:moveTo>
                  <a:pt x="7200" y="1964"/>
                </a:moveTo>
                <a:lnTo>
                  <a:pt x="14400" y="1964"/>
                </a:lnTo>
                <a:lnTo>
                  <a:pt x="14400" y="3927"/>
                </a:lnTo>
                <a:lnTo>
                  <a:pt x="7200" y="3927"/>
                </a:lnTo>
                <a:cubicBezTo>
                  <a:pt x="7200" y="3927"/>
                  <a:pt x="7200" y="1964"/>
                  <a:pt x="7200" y="1964"/>
                </a:cubicBezTo>
                <a:close/>
                <a:moveTo>
                  <a:pt x="20400" y="2945"/>
                </a:moveTo>
                <a:lnTo>
                  <a:pt x="15600" y="2945"/>
                </a:lnTo>
                <a:lnTo>
                  <a:pt x="15600" y="1964"/>
                </a:lnTo>
                <a:cubicBezTo>
                  <a:pt x="15600" y="1422"/>
                  <a:pt x="15062" y="982"/>
                  <a:pt x="14400" y="982"/>
                </a:cubicBezTo>
                <a:lnTo>
                  <a:pt x="12000" y="982"/>
                </a:lnTo>
                <a:cubicBezTo>
                  <a:pt x="12000" y="440"/>
                  <a:pt x="11462" y="0"/>
                  <a:pt x="10800" y="0"/>
                </a:cubicBezTo>
                <a:cubicBezTo>
                  <a:pt x="10138" y="0"/>
                  <a:pt x="9600" y="440"/>
                  <a:pt x="9600" y="982"/>
                </a:cubicBezTo>
                <a:lnTo>
                  <a:pt x="7200" y="982"/>
                </a:lnTo>
                <a:cubicBezTo>
                  <a:pt x="6538" y="982"/>
                  <a:pt x="6000" y="1422"/>
                  <a:pt x="6000" y="1964"/>
                </a:cubicBezTo>
                <a:lnTo>
                  <a:pt x="6000" y="2945"/>
                </a:lnTo>
                <a:lnTo>
                  <a:pt x="1200" y="2945"/>
                </a:lnTo>
                <a:cubicBezTo>
                  <a:pt x="538" y="2945"/>
                  <a:pt x="0" y="3386"/>
                  <a:pt x="0" y="3927"/>
                </a:cubicBezTo>
                <a:lnTo>
                  <a:pt x="0" y="20618"/>
                </a:lnTo>
                <a:cubicBezTo>
                  <a:pt x="0" y="21160"/>
                  <a:pt x="538" y="21600"/>
                  <a:pt x="1200" y="21600"/>
                </a:cubicBezTo>
                <a:lnTo>
                  <a:pt x="20400" y="21600"/>
                </a:lnTo>
                <a:cubicBezTo>
                  <a:pt x="21062" y="21600"/>
                  <a:pt x="21600" y="21160"/>
                  <a:pt x="21600" y="20618"/>
                </a:cubicBezTo>
                <a:lnTo>
                  <a:pt x="21600" y="3927"/>
                </a:lnTo>
                <a:cubicBezTo>
                  <a:pt x="21600" y="3386"/>
                  <a:pt x="21062" y="2945"/>
                  <a:pt x="20400" y="2945"/>
                </a:cubicBezTo>
                <a:moveTo>
                  <a:pt x="4200" y="16691"/>
                </a:moveTo>
                <a:lnTo>
                  <a:pt x="15000" y="16691"/>
                </a:lnTo>
                <a:cubicBezTo>
                  <a:pt x="15331" y="16691"/>
                  <a:pt x="15600" y="16472"/>
                  <a:pt x="15600" y="16200"/>
                </a:cubicBezTo>
                <a:cubicBezTo>
                  <a:pt x="15600" y="15929"/>
                  <a:pt x="15331" y="15709"/>
                  <a:pt x="15000" y="15709"/>
                </a:cubicBezTo>
                <a:lnTo>
                  <a:pt x="4200" y="15709"/>
                </a:lnTo>
                <a:cubicBezTo>
                  <a:pt x="3869" y="15709"/>
                  <a:pt x="3600" y="15929"/>
                  <a:pt x="3600" y="16200"/>
                </a:cubicBezTo>
                <a:cubicBezTo>
                  <a:pt x="3600" y="16472"/>
                  <a:pt x="3869" y="16691"/>
                  <a:pt x="4200" y="16691"/>
                </a:cubicBezTo>
                <a:moveTo>
                  <a:pt x="4200" y="13745"/>
                </a:moveTo>
                <a:lnTo>
                  <a:pt x="17400" y="13745"/>
                </a:lnTo>
                <a:cubicBezTo>
                  <a:pt x="17731" y="13745"/>
                  <a:pt x="18000" y="13526"/>
                  <a:pt x="18000" y="13255"/>
                </a:cubicBezTo>
                <a:cubicBezTo>
                  <a:pt x="18000" y="12984"/>
                  <a:pt x="17731" y="12764"/>
                  <a:pt x="17400" y="12764"/>
                </a:cubicBezTo>
                <a:lnTo>
                  <a:pt x="4200" y="12764"/>
                </a:lnTo>
                <a:cubicBezTo>
                  <a:pt x="3869" y="12764"/>
                  <a:pt x="3600" y="12984"/>
                  <a:pt x="3600" y="13255"/>
                </a:cubicBezTo>
                <a:cubicBezTo>
                  <a:pt x="3600" y="13526"/>
                  <a:pt x="3869" y="13745"/>
                  <a:pt x="4200" y="13745"/>
                </a:cubicBezTo>
                <a:moveTo>
                  <a:pt x="4200" y="10800"/>
                </a:moveTo>
                <a:lnTo>
                  <a:pt x="11400" y="10800"/>
                </a:lnTo>
                <a:cubicBezTo>
                  <a:pt x="11731" y="10800"/>
                  <a:pt x="12000" y="10581"/>
                  <a:pt x="12000" y="10309"/>
                </a:cubicBezTo>
                <a:cubicBezTo>
                  <a:pt x="12000" y="10038"/>
                  <a:pt x="11731" y="9818"/>
                  <a:pt x="11400" y="9818"/>
                </a:cubicBezTo>
                <a:lnTo>
                  <a:pt x="4200" y="9818"/>
                </a:lnTo>
                <a:cubicBezTo>
                  <a:pt x="3869" y="9818"/>
                  <a:pt x="3600" y="10038"/>
                  <a:pt x="3600" y="10309"/>
                </a:cubicBezTo>
                <a:cubicBezTo>
                  <a:pt x="3600" y="10581"/>
                  <a:pt x="3869" y="10800"/>
                  <a:pt x="4200" y="10800"/>
                </a:cubicBezTo>
              </a:path>
            </a:pathLst>
          </a:custGeom>
          <a:solidFill>
            <a:srgbClr val="4D3F82"/>
          </a:solidFill>
          <a:ln w="12700">
            <a:miter lim="400000"/>
          </a:ln>
        </p:spPr>
        <p:txBody>
          <a:bodyPr lIns="38090" tIns="38090" rIns="38090" bIns="38090" anchor="ctr"/>
          <a:lstStyle/>
          <a:p>
            <a:pPr marL="0" marR="0" lvl="0" indent="0" defTabSz="457063" eaLnBrk="1" fontAlgn="auto" latinLnBrk="0" hangingPunct="1">
              <a:lnSpc>
                <a:spcPct val="100000"/>
              </a:lnSpc>
              <a:spcBef>
                <a:spcPts val="0"/>
              </a:spcBef>
              <a:spcAft>
                <a:spcPts val="0"/>
              </a:spcAft>
              <a:buClrTx/>
              <a:buSzTx/>
              <a:buFontTx/>
              <a:buNone/>
              <a:tabLst/>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2999"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Gill Sans"/>
              <a:sym typeface="Gill Sans"/>
            </a:endParaRPr>
          </a:p>
        </p:txBody>
      </p:sp>
      <p:pic>
        <p:nvPicPr>
          <p:cNvPr id="7" name="图片 6"/>
          <p:cNvPicPr>
            <a:picLocks noChangeAspect="1"/>
          </p:cNvPicPr>
          <p:nvPr/>
        </p:nvPicPr>
        <p:blipFill>
          <a:blip r:embed="rId5"/>
          <a:stretch>
            <a:fillRect/>
          </a:stretch>
        </p:blipFill>
        <p:spPr>
          <a:xfrm>
            <a:off x="1212407" y="4123284"/>
            <a:ext cx="2366196" cy="406527"/>
          </a:xfrm>
          <a:prstGeom prst="rect">
            <a:avLst/>
          </a:prstGeom>
        </p:spPr>
      </p:pic>
      <p:pic>
        <p:nvPicPr>
          <p:cNvPr id="11" name="图片 10"/>
          <p:cNvPicPr>
            <a:picLocks noChangeAspect="1"/>
          </p:cNvPicPr>
          <p:nvPr/>
        </p:nvPicPr>
        <p:blipFill>
          <a:blip r:embed="rId6"/>
          <a:stretch>
            <a:fillRect/>
          </a:stretch>
        </p:blipFill>
        <p:spPr>
          <a:xfrm>
            <a:off x="1112126" y="5413767"/>
            <a:ext cx="3749079" cy="373740"/>
          </a:xfrm>
          <a:prstGeom prst="rect">
            <a:avLst/>
          </a:prstGeom>
        </p:spPr>
      </p:pic>
      <p:pic>
        <p:nvPicPr>
          <p:cNvPr id="12" name="图片 11"/>
          <p:cNvPicPr>
            <a:picLocks noChangeAspect="1"/>
          </p:cNvPicPr>
          <p:nvPr/>
        </p:nvPicPr>
        <p:blipFill>
          <a:blip r:embed="rId7"/>
          <a:stretch>
            <a:fillRect/>
          </a:stretch>
        </p:blipFill>
        <p:spPr>
          <a:xfrm>
            <a:off x="4386073" y="4189835"/>
            <a:ext cx="1822011" cy="360165"/>
          </a:xfrm>
          <a:prstGeom prst="rect">
            <a:avLst/>
          </a:prstGeom>
        </p:spPr>
      </p:pic>
      <p:pic>
        <p:nvPicPr>
          <p:cNvPr id="13" name="图片 12"/>
          <p:cNvPicPr>
            <a:picLocks noChangeAspect="1"/>
          </p:cNvPicPr>
          <p:nvPr/>
        </p:nvPicPr>
        <p:blipFill>
          <a:blip r:embed="rId8"/>
          <a:stretch>
            <a:fillRect/>
          </a:stretch>
        </p:blipFill>
        <p:spPr>
          <a:xfrm>
            <a:off x="1212407" y="4797364"/>
            <a:ext cx="5090567" cy="369039"/>
          </a:xfrm>
          <a:prstGeom prst="rect">
            <a:avLst/>
          </a:prstGeom>
        </p:spPr>
      </p:pic>
    </p:spTree>
    <p:extLst>
      <p:ext uri="{BB962C8B-B14F-4D97-AF65-F5344CB8AC3E}">
        <p14:creationId xmlns:p14="http://schemas.microsoft.com/office/powerpoint/2010/main" val="190356713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p:cNvPicPr>
            <a:picLocks noChangeAspect="1"/>
          </p:cNvPicPr>
          <p:nvPr/>
        </p:nvPicPr>
        <p:blipFill>
          <a:blip r:embed="rId3"/>
          <a:stretch>
            <a:fillRect/>
          </a:stretch>
        </p:blipFill>
        <p:spPr>
          <a:xfrm>
            <a:off x="7699183" y="1901008"/>
            <a:ext cx="3050672" cy="3428464"/>
          </a:xfrm>
          <a:prstGeom prst="rect">
            <a:avLst/>
          </a:prstGeom>
        </p:spPr>
      </p:pic>
      <p:sp>
        <p:nvSpPr>
          <p:cNvPr id="20" name="文本框 19"/>
          <p:cNvSpPr txBox="1"/>
          <p:nvPr/>
        </p:nvSpPr>
        <p:spPr>
          <a:xfrm>
            <a:off x="1071199" y="457068"/>
            <a:ext cx="2132763" cy="523220"/>
          </a:xfrm>
          <a:prstGeom prst="rect">
            <a:avLst/>
          </a:prstGeom>
          <a:noFill/>
        </p:spPr>
        <p:txBody>
          <a:bodyPr wrap="none" rtlCol="0">
            <a:spAutoFit/>
          </a:bodyPr>
          <a:lstStyle/>
          <a:p>
            <a:pPr lvl="0">
              <a:defRPr/>
            </a:pPr>
            <a:r>
              <a:rPr lang="en-US" altLang="zh-CN" sz="2800" b="1" dirty="0">
                <a:solidFill>
                  <a:srgbClr val="4D3F82"/>
                </a:solidFill>
                <a:cs typeface="+mn-ea"/>
                <a:sym typeface="+mn-lt"/>
              </a:rPr>
              <a:t>Big Bird </a:t>
            </a:r>
            <a:r>
              <a:rPr lang="zh-CN" altLang="en-US" sz="2800" b="1" dirty="0">
                <a:solidFill>
                  <a:srgbClr val="4D3F82"/>
                </a:solidFill>
                <a:cs typeface="+mn-ea"/>
                <a:sym typeface="+mn-lt"/>
              </a:rPr>
              <a:t>简介</a:t>
            </a:r>
            <a:endParaRPr kumimoji="0" lang="zh-CN" altLang="en-US" sz="2800" b="1" i="0" u="none" strike="noStrike" kern="1200" cap="none" spc="0" normalizeH="0" baseline="0" noProof="0" dirty="0">
              <a:ln>
                <a:noFill/>
              </a:ln>
              <a:solidFill>
                <a:srgbClr val="4D3F82"/>
              </a:solidFill>
              <a:effectLst/>
              <a:uLnTx/>
              <a:uFillTx/>
              <a:latin typeface="Calibri"/>
              <a:ea typeface="微软雅黑"/>
              <a:cs typeface="+mn-ea"/>
              <a:sym typeface="+mn-lt"/>
            </a:endParaRPr>
          </a:p>
        </p:txBody>
      </p:sp>
      <p:sp>
        <p:nvSpPr>
          <p:cNvPr id="6" name="椭圆 5">
            <a:extLst>
              <a:ext uri="{FF2B5EF4-FFF2-40B4-BE49-F238E27FC236}">
                <a16:creationId xmlns:a16="http://schemas.microsoft.com/office/drawing/2014/main" id="{DF773A56-49AF-444E-AF6D-49DFDB041C2E}"/>
              </a:ext>
            </a:extLst>
          </p:cNvPr>
          <p:cNvSpPr/>
          <p:nvPr/>
        </p:nvSpPr>
        <p:spPr>
          <a:xfrm>
            <a:off x="11073997" y="5889631"/>
            <a:ext cx="872276" cy="872276"/>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9723BAD4-F047-4320-87A0-E95852694C3F}"/>
              </a:ext>
            </a:extLst>
          </p:cNvPr>
          <p:cNvSpPr/>
          <p:nvPr/>
        </p:nvSpPr>
        <p:spPr>
          <a:xfrm rot="9430845">
            <a:off x="11432508" y="5123846"/>
            <a:ext cx="344849" cy="344849"/>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D4E3EEDC-7C8A-43DB-BD42-E8947B413BB8}"/>
              </a:ext>
            </a:extLst>
          </p:cNvPr>
          <p:cNvSpPr/>
          <p:nvPr/>
        </p:nvSpPr>
        <p:spPr>
          <a:xfrm rot="9430845">
            <a:off x="10447956" y="6589483"/>
            <a:ext cx="344849" cy="344849"/>
          </a:xfrm>
          <a:prstGeom prst="ellipse">
            <a:avLst/>
          </a:prstGeom>
          <a:solidFill>
            <a:srgbClr val="4D3F82"/>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EF07DB3A-3E81-4DC1-8E47-D5A7AB5ABD16}"/>
              </a:ext>
            </a:extLst>
          </p:cNvPr>
          <p:cNvSpPr/>
          <p:nvPr/>
        </p:nvSpPr>
        <p:spPr>
          <a:xfrm rot="9430845">
            <a:off x="528920" y="441278"/>
            <a:ext cx="503796" cy="511184"/>
          </a:xfrm>
          <a:prstGeom prst="ellipse">
            <a:avLst/>
          </a:prstGeom>
          <a:solidFill>
            <a:srgbClr val="4D3F8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FB187FA8-C04C-4322-891C-A741CEA371EC}"/>
              </a:ext>
            </a:extLst>
          </p:cNvPr>
          <p:cNvSpPr txBox="1"/>
          <p:nvPr/>
        </p:nvSpPr>
        <p:spPr>
          <a:xfrm>
            <a:off x="524715" y="466029"/>
            <a:ext cx="561265" cy="461665"/>
          </a:xfrm>
          <a:prstGeom prst="rect">
            <a:avLst/>
          </a:prstGeom>
          <a:noFill/>
        </p:spPr>
        <p:txBody>
          <a:bodyPr wrap="square" rtlCol="0">
            <a:spAutoFit/>
          </a:bodyPr>
          <a:lstStyle/>
          <a:p>
            <a:r>
              <a:rPr lang="en-US" altLang="zh-CN" sz="2400" dirty="0">
                <a:solidFill>
                  <a:schemeClr val="bg1"/>
                </a:solidFill>
                <a:latin typeface="Bauhaus 93" panose="04030905020B02020C02" pitchFamily="82" charset="0"/>
              </a:rPr>
              <a:t>02</a:t>
            </a:r>
            <a:endParaRPr lang="zh-CN" altLang="en-US" sz="2400" dirty="0">
              <a:solidFill>
                <a:schemeClr val="bg1"/>
              </a:solidFill>
              <a:latin typeface="Bauhaus 93" panose="04030905020B02020C02" pitchFamily="82" charset="0"/>
            </a:endParaRPr>
          </a:p>
        </p:txBody>
      </p:sp>
      <p:sp>
        <p:nvSpPr>
          <p:cNvPr id="37" name="椭圆 36">
            <a:extLst>
              <a:ext uri="{FF2B5EF4-FFF2-40B4-BE49-F238E27FC236}">
                <a16:creationId xmlns:a16="http://schemas.microsoft.com/office/drawing/2014/main" id="{7A007603-F3D9-40C8-B984-92A6C591C1ED}"/>
              </a:ext>
            </a:extLst>
          </p:cNvPr>
          <p:cNvSpPr/>
          <p:nvPr/>
        </p:nvSpPr>
        <p:spPr>
          <a:xfrm rot="14219635">
            <a:off x="-422765" y="-198887"/>
            <a:ext cx="872276" cy="872276"/>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6E536261-448B-42D2-AA47-008BC8415B5E}"/>
              </a:ext>
            </a:extLst>
          </p:cNvPr>
          <p:cNvSpPr/>
          <p:nvPr/>
        </p:nvSpPr>
        <p:spPr>
          <a:xfrm rot="14219635">
            <a:off x="367756" y="1142977"/>
            <a:ext cx="163510" cy="163510"/>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0" name="图片 3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6359445"/>
            <a:ext cx="3374582" cy="537824"/>
          </a:xfrm>
          <a:prstGeom prst="rect">
            <a:avLst/>
          </a:prstGeom>
        </p:spPr>
      </p:pic>
      <p:sp>
        <p:nvSpPr>
          <p:cNvPr id="3" name="矩形 2"/>
          <p:cNvSpPr/>
          <p:nvPr/>
        </p:nvSpPr>
        <p:spPr>
          <a:xfrm>
            <a:off x="1067581" y="1369964"/>
            <a:ext cx="6280020" cy="3785652"/>
          </a:xfrm>
          <a:prstGeom prst="rect">
            <a:avLst/>
          </a:prstGeom>
        </p:spPr>
        <p:txBody>
          <a:bodyPr wrap="square">
            <a:spAutoFit/>
          </a:bodyPr>
          <a:lstStyle/>
          <a:p>
            <a:pPr>
              <a:lnSpc>
                <a:spcPct val="200000"/>
              </a:lnSpc>
            </a:pPr>
            <a:r>
              <a:rPr lang="en-US" altLang="zh-CN" sz="2000" dirty="0">
                <a:solidFill>
                  <a:srgbClr val="4D3F82"/>
                </a:solidFill>
                <a:latin typeface="+mn-ea"/>
              </a:rPr>
              <a:t>BIG BIRD </a:t>
            </a:r>
            <a:r>
              <a:rPr lang="zh-CN" altLang="en-US" sz="2000" dirty="0">
                <a:solidFill>
                  <a:srgbClr val="4D3F82"/>
                </a:solidFill>
                <a:latin typeface="+mn-ea"/>
              </a:rPr>
              <a:t>诞生</a:t>
            </a:r>
            <a:endParaRPr lang="en-US" altLang="zh-CN" sz="2000" dirty="0">
              <a:solidFill>
                <a:srgbClr val="4D3F82"/>
              </a:solidFill>
              <a:latin typeface="+mn-ea"/>
            </a:endParaRPr>
          </a:p>
          <a:p>
            <a:pPr>
              <a:lnSpc>
                <a:spcPct val="200000"/>
              </a:lnSpc>
            </a:pPr>
            <a:r>
              <a:rPr lang="en-US" altLang="zh-CN" sz="2000" dirty="0">
                <a:solidFill>
                  <a:schemeClr val="tx1">
                    <a:lumMod val="50000"/>
                  </a:schemeClr>
                </a:solidFill>
                <a:latin typeface="+mn-ea"/>
              </a:rPr>
              <a:t>Big Bird</a:t>
            </a:r>
            <a:r>
              <a:rPr lang="zh-CN" altLang="en-US" sz="2000" dirty="0">
                <a:solidFill>
                  <a:schemeClr val="tx1">
                    <a:lumMod val="50000"/>
                  </a:schemeClr>
                </a:solidFill>
                <a:latin typeface="+mn-ea"/>
              </a:rPr>
              <a:t>模型结合上述</a:t>
            </a:r>
            <a:r>
              <a:rPr lang="en-US" altLang="zh-CN" sz="2000" dirty="0">
                <a:solidFill>
                  <a:schemeClr val="tx1">
                    <a:lumMod val="50000"/>
                  </a:schemeClr>
                </a:solidFill>
                <a:latin typeface="+mn-ea"/>
              </a:rPr>
              <a:t>3</a:t>
            </a:r>
            <a:r>
              <a:rPr lang="zh-CN" altLang="en-US" sz="2000" dirty="0">
                <a:solidFill>
                  <a:schemeClr val="tx1">
                    <a:lumMod val="50000"/>
                  </a:schemeClr>
                </a:solidFill>
                <a:latin typeface="+mn-ea"/>
              </a:rPr>
              <a:t>种方法，具有以下特点：</a:t>
            </a:r>
            <a:endParaRPr lang="en-US" altLang="zh-CN" sz="2000" dirty="0">
              <a:solidFill>
                <a:schemeClr val="tx1">
                  <a:lumMod val="50000"/>
                </a:schemeClr>
              </a:solidFill>
              <a:latin typeface="+mn-ea"/>
            </a:endParaRPr>
          </a:p>
          <a:p>
            <a:pPr marL="457200" indent="-457200">
              <a:lnSpc>
                <a:spcPct val="200000"/>
              </a:lnSpc>
              <a:buAutoNum type="arabicParenR"/>
            </a:pPr>
            <a:r>
              <a:rPr lang="en-US" altLang="zh-CN" sz="2000" dirty="0">
                <a:solidFill>
                  <a:schemeClr val="tx1">
                    <a:lumMod val="50000"/>
                  </a:schemeClr>
                </a:solidFill>
                <a:latin typeface="+mn-ea"/>
              </a:rPr>
              <a:t>query</a:t>
            </a:r>
            <a:r>
              <a:rPr lang="zh-CN" altLang="en-US" sz="2000" dirty="0">
                <a:solidFill>
                  <a:schemeClr val="tx1">
                    <a:lumMod val="50000"/>
                  </a:schemeClr>
                </a:solidFill>
                <a:latin typeface="+mn-ea"/>
              </a:rPr>
              <a:t>向量随机和</a:t>
            </a:r>
            <a:r>
              <a:rPr lang="en-US" altLang="zh-CN" sz="2000" dirty="0">
                <a:solidFill>
                  <a:schemeClr val="tx1">
                    <a:lumMod val="50000"/>
                  </a:schemeClr>
                </a:solidFill>
                <a:latin typeface="+mn-ea"/>
              </a:rPr>
              <a:t>r</a:t>
            </a:r>
            <a:r>
              <a:rPr lang="zh-CN" altLang="en-US" sz="2000" dirty="0">
                <a:solidFill>
                  <a:schemeClr val="tx1">
                    <a:lumMod val="50000"/>
                  </a:schemeClr>
                </a:solidFill>
                <a:latin typeface="+mn-ea"/>
              </a:rPr>
              <a:t>个</a:t>
            </a:r>
            <a:r>
              <a:rPr lang="en-US" altLang="zh-CN" sz="2000" dirty="0">
                <a:solidFill>
                  <a:schemeClr val="tx1">
                    <a:lumMod val="50000"/>
                  </a:schemeClr>
                </a:solidFill>
                <a:latin typeface="+mn-ea"/>
              </a:rPr>
              <a:t>key</a:t>
            </a:r>
            <a:r>
              <a:rPr lang="zh-CN" altLang="en-US" sz="2000" dirty="0">
                <a:solidFill>
                  <a:schemeClr val="tx1">
                    <a:lumMod val="50000"/>
                  </a:schemeClr>
                </a:solidFill>
                <a:latin typeface="+mn-ea"/>
              </a:rPr>
              <a:t>向量进行</a:t>
            </a:r>
            <a:r>
              <a:rPr lang="en-US" altLang="zh-CN" sz="2000" dirty="0">
                <a:solidFill>
                  <a:schemeClr val="tx1">
                    <a:lumMod val="50000"/>
                  </a:schemeClr>
                </a:solidFill>
                <a:latin typeface="+mn-ea"/>
              </a:rPr>
              <a:t>attention </a:t>
            </a:r>
            <a:r>
              <a:rPr lang="zh-CN" altLang="en-US" sz="2000" dirty="0">
                <a:solidFill>
                  <a:schemeClr val="tx1">
                    <a:lumMod val="50000"/>
                  </a:schemeClr>
                </a:solidFill>
                <a:latin typeface="+mn-ea"/>
              </a:rPr>
              <a:t>计算；</a:t>
            </a:r>
            <a:endParaRPr lang="en-US" altLang="zh-CN" sz="2000" dirty="0">
              <a:solidFill>
                <a:schemeClr val="tx1">
                  <a:lumMod val="50000"/>
                </a:schemeClr>
              </a:solidFill>
              <a:latin typeface="+mn-ea"/>
            </a:endParaRPr>
          </a:p>
          <a:p>
            <a:pPr marL="457200" indent="-457200">
              <a:lnSpc>
                <a:spcPct val="200000"/>
              </a:lnSpc>
              <a:buAutoNum type="arabicParenR"/>
            </a:pPr>
            <a:r>
              <a:rPr lang="zh-CN" altLang="en-US" sz="2000" dirty="0">
                <a:solidFill>
                  <a:schemeClr val="tx1">
                    <a:lumMod val="50000"/>
                  </a:schemeClr>
                </a:solidFill>
                <a:latin typeface="+mn-ea"/>
              </a:rPr>
              <a:t>每个</a:t>
            </a:r>
            <a:r>
              <a:rPr lang="en-US" altLang="zh-CN" sz="2000" dirty="0">
                <a:solidFill>
                  <a:schemeClr val="tx1">
                    <a:lumMod val="50000"/>
                  </a:schemeClr>
                </a:solidFill>
                <a:latin typeface="+mn-ea"/>
              </a:rPr>
              <a:t>query</a:t>
            </a:r>
            <a:r>
              <a:rPr lang="zh-CN" altLang="en-US" sz="2000" dirty="0">
                <a:solidFill>
                  <a:schemeClr val="tx1">
                    <a:lumMod val="50000"/>
                  </a:schemeClr>
                </a:solidFill>
                <a:latin typeface="+mn-ea"/>
              </a:rPr>
              <a:t>向量与其左边</a:t>
            </a:r>
            <a:r>
              <a:rPr lang="en-US" altLang="zh-CN" sz="2000" dirty="0">
                <a:solidFill>
                  <a:schemeClr val="tx1">
                    <a:lumMod val="50000"/>
                  </a:schemeClr>
                </a:solidFill>
                <a:latin typeface="+mn-ea"/>
              </a:rPr>
              <a:t>w/2</a:t>
            </a:r>
            <a:r>
              <a:rPr lang="zh-CN" altLang="en-US" sz="2000" dirty="0">
                <a:solidFill>
                  <a:schemeClr val="tx1">
                    <a:lumMod val="50000"/>
                  </a:schemeClr>
                </a:solidFill>
                <a:latin typeface="+mn-ea"/>
              </a:rPr>
              <a:t>个邻居和右边</a:t>
            </a:r>
            <a:r>
              <a:rPr lang="en-US" altLang="zh-CN" sz="2000" dirty="0">
                <a:solidFill>
                  <a:schemeClr val="tx1">
                    <a:lumMod val="50000"/>
                  </a:schemeClr>
                </a:solidFill>
                <a:latin typeface="+mn-ea"/>
              </a:rPr>
              <a:t>w/2</a:t>
            </a:r>
            <a:r>
              <a:rPr lang="zh-CN" altLang="en-US" sz="2000" dirty="0">
                <a:solidFill>
                  <a:schemeClr val="tx1">
                    <a:lumMod val="50000"/>
                  </a:schemeClr>
                </a:solidFill>
                <a:latin typeface="+mn-ea"/>
              </a:rPr>
              <a:t>个邻居进行</a:t>
            </a:r>
            <a:r>
              <a:rPr lang="en-US" altLang="zh-CN" sz="2000" dirty="0">
                <a:solidFill>
                  <a:schemeClr val="tx1">
                    <a:lumMod val="50000"/>
                  </a:schemeClr>
                </a:solidFill>
                <a:latin typeface="+mn-ea"/>
              </a:rPr>
              <a:t>attention</a:t>
            </a:r>
            <a:r>
              <a:rPr lang="zh-CN" altLang="en-US" sz="2000" dirty="0">
                <a:solidFill>
                  <a:schemeClr val="tx1">
                    <a:lumMod val="50000"/>
                  </a:schemeClr>
                </a:solidFill>
                <a:latin typeface="+mn-ea"/>
              </a:rPr>
              <a:t>计算；</a:t>
            </a:r>
            <a:endParaRPr lang="en-US" altLang="zh-CN" sz="2000" dirty="0">
              <a:solidFill>
                <a:schemeClr val="tx1">
                  <a:lumMod val="50000"/>
                </a:schemeClr>
              </a:solidFill>
              <a:latin typeface="+mn-ea"/>
            </a:endParaRPr>
          </a:p>
          <a:p>
            <a:pPr marL="457200" indent="-457200">
              <a:lnSpc>
                <a:spcPct val="200000"/>
              </a:lnSpc>
              <a:buAutoNum type="arabicParenR"/>
            </a:pPr>
            <a:r>
              <a:rPr lang="zh-CN" altLang="en-US" sz="2000" dirty="0">
                <a:solidFill>
                  <a:schemeClr val="tx1">
                    <a:lumMod val="50000"/>
                  </a:schemeClr>
                </a:solidFill>
                <a:latin typeface="+mn-ea"/>
              </a:rPr>
              <a:t>包含</a:t>
            </a:r>
            <a:r>
              <a:rPr lang="en-US" altLang="zh-CN" sz="2000" dirty="0">
                <a:solidFill>
                  <a:schemeClr val="tx1">
                    <a:lumMod val="50000"/>
                  </a:schemeClr>
                </a:solidFill>
                <a:latin typeface="+mn-ea"/>
              </a:rPr>
              <a:t>g</a:t>
            </a:r>
            <a:r>
              <a:rPr lang="zh-CN" altLang="en-US" sz="2000" dirty="0">
                <a:solidFill>
                  <a:schemeClr val="tx1">
                    <a:lumMod val="50000"/>
                  </a:schemeClr>
                </a:solidFill>
                <a:latin typeface="+mn-ea"/>
              </a:rPr>
              <a:t>个全局</a:t>
            </a:r>
            <a:r>
              <a:rPr lang="en-US" altLang="zh-CN" sz="2000" dirty="0">
                <a:solidFill>
                  <a:schemeClr val="tx1">
                    <a:lumMod val="50000"/>
                  </a:schemeClr>
                </a:solidFill>
                <a:latin typeface="+mn-ea"/>
              </a:rPr>
              <a:t>token</a:t>
            </a:r>
            <a:r>
              <a:rPr lang="zh-CN" altLang="en-US" sz="2000" dirty="0">
                <a:solidFill>
                  <a:schemeClr val="tx1">
                    <a:lumMod val="50000"/>
                  </a:schemeClr>
                </a:solidFill>
                <a:latin typeface="+mn-ea"/>
              </a:rPr>
              <a:t>。</a:t>
            </a:r>
            <a:endParaRPr lang="zh-CN" altLang="en-US" sz="2000" dirty="0"/>
          </a:p>
        </p:txBody>
      </p:sp>
      <p:sp>
        <p:nvSpPr>
          <p:cNvPr id="15" name="Shape 3646"/>
          <p:cNvSpPr/>
          <p:nvPr/>
        </p:nvSpPr>
        <p:spPr>
          <a:xfrm>
            <a:off x="616701" y="1578510"/>
            <a:ext cx="434373" cy="362613"/>
          </a:xfrm>
          <a:custGeom>
            <a:avLst/>
            <a:gdLst/>
            <a:ahLst/>
            <a:cxnLst/>
            <a:rect l="0" t="0" r="0" b="0"/>
            <a:pathLst>
              <a:path w="120000" h="120000" extrusionOk="0">
                <a:moveTo>
                  <a:pt x="95223" y="15050"/>
                </a:moveTo>
                <a:lnTo>
                  <a:pt x="95223" y="15050"/>
                </a:lnTo>
                <a:cubicBezTo>
                  <a:pt x="95223" y="6101"/>
                  <a:pt x="89861" y="0"/>
                  <a:pt x="81725" y="0"/>
                </a:cubicBezTo>
                <a:cubicBezTo>
                  <a:pt x="38089" y="0"/>
                  <a:pt x="38089" y="0"/>
                  <a:pt x="38089" y="0"/>
                </a:cubicBezTo>
                <a:cubicBezTo>
                  <a:pt x="29953" y="0"/>
                  <a:pt x="24591" y="6101"/>
                  <a:pt x="24591" y="15050"/>
                </a:cubicBezTo>
                <a:cubicBezTo>
                  <a:pt x="0" y="15050"/>
                  <a:pt x="2773" y="15050"/>
                  <a:pt x="2773" y="32949"/>
                </a:cubicBezTo>
                <a:cubicBezTo>
                  <a:pt x="2773" y="44949"/>
                  <a:pt x="10909" y="56949"/>
                  <a:pt x="24591" y="56949"/>
                </a:cubicBezTo>
                <a:cubicBezTo>
                  <a:pt x="24591" y="56949"/>
                  <a:pt x="24591" y="56949"/>
                  <a:pt x="27180" y="56949"/>
                </a:cubicBezTo>
                <a:cubicBezTo>
                  <a:pt x="29953" y="71796"/>
                  <a:pt x="43636" y="86847"/>
                  <a:pt x="57134" y="86847"/>
                </a:cubicBezTo>
                <a:cubicBezTo>
                  <a:pt x="57134" y="110847"/>
                  <a:pt x="57134" y="110847"/>
                  <a:pt x="57134" y="110847"/>
                </a:cubicBezTo>
                <a:cubicBezTo>
                  <a:pt x="46224" y="110847"/>
                  <a:pt x="46224" y="110847"/>
                  <a:pt x="46224" y="110847"/>
                </a:cubicBezTo>
                <a:cubicBezTo>
                  <a:pt x="43636" y="110847"/>
                  <a:pt x="40862" y="113898"/>
                  <a:pt x="40862" y="116745"/>
                </a:cubicBezTo>
                <a:cubicBezTo>
                  <a:pt x="40862" y="116745"/>
                  <a:pt x="43636" y="119796"/>
                  <a:pt x="46224" y="119796"/>
                </a:cubicBezTo>
                <a:cubicBezTo>
                  <a:pt x="73405" y="119796"/>
                  <a:pt x="73405" y="119796"/>
                  <a:pt x="73405" y="119796"/>
                </a:cubicBezTo>
                <a:cubicBezTo>
                  <a:pt x="76363" y="119796"/>
                  <a:pt x="78952" y="116745"/>
                  <a:pt x="78952" y="116745"/>
                </a:cubicBezTo>
                <a:cubicBezTo>
                  <a:pt x="78952" y="113898"/>
                  <a:pt x="76363" y="110847"/>
                  <a:pt x="73405" y="110847"/>
                </a:cubicBezTo>
                <a:cubicBezTo>
                  <a:pt x="62681" y="110847"/>
                  <a:pt x="62681" y="110847"/>
                  <a:pt x="62681" y="110847"/>
                </a:cubicBezTo>
                <a:cubicBezTo>
                  <a:pt x="62681" y="86847"/>
                  <a:pt x="62681" y="86847"/>
                  <a:pt x="62681" y="86847"/>
                </a:cubicBezTo>
                <a:cubicBezTo>
                  <a:pt x="76363" y="86847"/>
                  <a:pt x="89861" y="71796"/>
                  <a:pt x="92634" y="56949"/>
                </a:cubicBezTo>
                <a:cubicBezTo>
                  <a:pt x="95223" y="56949"/>
                  <a:pt x="95223" y="56949"/>
                  <a:pt x="95223" y="56949"/>
                </a:cubicBezTo>
                <a:cubicBezTo>
                  <a:pt x="108906" y="56949"/>
                  <a:pt x="117041" y="44949"/>
                  <a:pt x="117041" y="32949"/>
                </a:cubicBezTo>
                <a:cubicBezTo>
                  <a:pt x="117041" y="15050"/>
                  <a:pt x="119815" y="15050"/>
                  <a:pt x="95223" y="15050"/>
                </a:cubicBezTo>
                <a:close/>
                <a:moveTo>
                  <a:pt x="24591" y="48000"/>
                </a:moveTo>
                <a:lnTo>
                  <a:pt x="24591" y="48000"/>
                </a:lnTo>
                <a:cubicBezTo>
                  <a:pt x="16271" y="48000"/>
                  <a:pt x="8135" y="41898"/>
                  <a:pt x="8135" y="32949"/>
                </a:cubicBezTo>
                <a:cubicBezTo>
                  <a:pt x="8135" y="24000"/>
                  <a:pt x="8135" y="24000"/>
                  <a:pt x="24591" y="24000"/>
                </a:cubicBezTo>
                <a:lnTo>
                  <a:pt x="24591" y="48000"/>
                </a:lnTo>
                <a:close/>
                <a:moveTo>
                  <a:pt x="89861" y="38847"/>
                </a:moveTo>
                <a:lnTo>
                  <a:pt x="89861" y="38847"/>
                </a:lnTo>
                <a:cubicBezTo>
                  <a:pt x="89861" y="56949"/>
                  <a:pt x="76363" y="80949"/>
                  <a:pt x="59907" y="80949"/>
                </a:cubicBezTo>
                <a:cubicBezTo>
                  <a:pt x="43636" y="80949"/>
                  <a:pt x="29953" y="56949"/>
                  <a:pt x="29953" y="38847"/>
                </a:cubicBezTo>
                <a:cubicBezTo>
                  <a:pt x="29953" y="15050"/>
                  <a:pt x="29953" y="15050"/>
                  <a:pt x="29953" y="15050"/>
                </a:cubicBezTo>
                <a:cubicBezTo>
                  <a:pt x="29953" y="12000"/>
                  <a:pt x="35500" y="8949"/>
                  <a:pt x="38089" y="8949"/>
                </a:cubicBezTo>
                <a:cubicBezTo>
                  <a:pt x="81725" y="8949"/>
                  <a:pt x="81725" y="8949"/>
                  <a:pt x="81725" y="8949"/>
                </a:cubicBezTo>
                <a:cubicBezTo>
                  <a:pt x="84314" y="8949"/>
                  <a:pt x="89861" y="12000"/>
                  <a:pt x="89861" y="15050"/>
                </a:cubicBezTo>
                <a:lnTo>
                  <a:pt x="89861" y="38847"/>
                </a:lnTo>
                <a:close/>
                <a:moveTo>
                  <a:pt x="95223" y="48000"/>
                </a:moveTo>
                <a:lnTo>
                  <a:pt x="95223" y="48000"/>
                </a:lnTo>
                <a:cubicBezTo>
                  <a:pt x="95223" y="24000"/>
                  <a:pt x="95223" y="24000"/>
                  <a:pt x="95223" y="24000"/>
                </a:cubicBezTo>
                <a:cubicBezTo>
                  <a:pt x="111679" y="24000"/>
                  <a:pt x="111679" y="24000"/>
                  <a:pt x="111679" y="32949"/>
                </a:cubicBezTo>
                <a:cubicBezTo>
                  <a:pt x="111679" y="41898"/>
                  <a:pt x="103543" y="48000"/>
                  <a:pt x="95223" y="48000"/>
                </a:cubicBezTo>
                <a:close/>
              </a:path>
            </a:pathLst>
          </a:custGeom>
          <a:solidFill>
            <a:srgbClr val="4D3F82"/>
          </a:solidFill>
          <a:ln>
            <a:noFill/>
          </a:ln>
        </p:spPr>
        <p:txBody>
          <a:bodyPr lIns="45713" tIns="22850" rIns="45713" bIns="22850"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Lato"/>
              <a:ea typeface="Lato"/>
              <a:cs typeface="Lato"/>
              <a:sym typeface="Lato"/>
            </a:endParaRPr>
          </a:p>
        </p:txBody>
      </p:sp>
    </p:spTree>
    <p:extLst>
      <p:ext uri="{BB962C8B-B14F-4D97-AF65-F5344CB8AC3E}">
        <p14:creationId xmlns:p14="http://schemas.microsoft.com/office/powerpoint/2010/main" val="93525392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arn(inVertical)">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文本框 19"/>
          <p:cNvSpPr txBox="1"/>
          <p:nvPr/>
        </p:nvSpPr>
        <p:spPr>
          <a:xfrm>
            <a:off x="1071199" y="457068"/>
            <a:ext cx="2132763" cy="523220"/>
          </a:xfrm>
          <a:prstGeom prst="rect">
            <a:avLst/>
          </a:prstGeom>
          <a:noFill/>
        </p:spPr>
        <p:txBody>
          <a:bodyPr wrap="none" rtlCol="0">
            <a:spAutoFit/>
          </a:bodyPr>
          <a:lstStyle/>
          <a:p>
            <a:pPr lvl="0">
              <a:defRPr/>
            </a:pPr>
            <a:r>
              <a:rPr lang="en-US" altLang="zh-CN" sz="2800" b="1" dirty="0">
                <a:solidFill>
                  <a:srgbClr val="4D3F82"/>
                </a:solidFill>
                <a:cs typeface="+mn-ea"/>
                <a:sym typeface="+mn-lt"/>
              </a:rPr>
              <a:t>Big Bird </a:t>
            </a:r>
            <a:r>
              <a:rPr lang="zh-CN" altLang="en-US" sz="2800" b="1" dirty="0">
                <a:solidFill>
                  <a:srgbClr val="4D3F82"/>
                </a:solidFill>
                <a:cs typeface="+mn-ea"/>
                <a:sym typeface="+mn-lt"/>
              </a:rPr>
              <a:t>简介</a:t>
            </a:r>
            <a:endParaRPr kumimoji="0" lang="zh-CN" altLang="en-US" sz="2800" b="1" i="0" u="none" strike="noStrike" kern="1200" cap="none" spc="0" normalizeH="0" baseline="0" noProof="0" dirty="0">
              <a:ln>
                <a:noFill/>
              </a:ln>
              <a:solidFill>
                <a:srgbClr val="4D3F82"/>
              </a:solidFill>
              <a:effectLst/>
              <a:uLnTx/>
              <a:uFillTx/>
              <a:latin typeface="Calibri"/>
              <a:ea typeface="微软雅黑"/>
              <a:cs typeface="+mn-ea"/>
              <a:sym typeface="+mn-lt"/>
            </a:endParaRPr>
          </a:p>
        </p:txBody>
      </p:sp>
      <p:sp>
        <p:nvSpPr>
          <p:cNvPr id="6" name="椭圆 5">
            <a:extLst>
              <a:ext uri="{FF2B5EF4-FFF2-40B4-BE49-F238E27FC236}">
                <a16:creationId xmlns:a16="http://schemas.microsoft.com/office/drawing/2014/main" id="{DF773A56-49AF-444E-AF6D-49DFDB041C2E}"/>
              </a:ext>
            </a:extLst>
          </p:cNvPr>
          <p:cNvSpPr/>
          <p:nvPr/>
        </p:nvSpPr>
        <p:spPr>
          <a:xfrm>
            <a:off x="11073997" y="5889631"/>
            <a:ext cx="872276" cy="872276"/>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9723BAD4-F047-4320-87A0-E95852694C3F}"/>
              </a:ext>
            </a:extLst>
          </p:cNvPr>
          <p:cNvSpPr/>
          <p:nvPr/>
        </p:nvSpPr>
        <p:spPr>
          <a:xfrm rot="9430845">
            <a:off x="11432508" y="5123846"/>
            <a:ext cx="344849" cy="344849"/>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D4E3EEDC-7C8A-43DB-BD42-E8947B413BB8}"/>
              </a:ext>
            </a:extLst>
          </p:cNvPr>
          <p:cNvSpPr/>
          <p:nvPr/>
        </p:nvSpPr>
        <p:spPr>
          <a:xfrm rot="9430845">
            <a:off x="10447956" y="6589483"/>
            <a:ext cx="344849" cy="344849"/>
          </a:xfrm>
          <a:prstGeom prst="ellipse">
            <a:avLst/>
          </a:prstGeom>
          <a:solidFill>
            <a:srgbClr val="4D3F82"/>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EF07DB3A-3E81-4DC1-8E47-D5A7AB5ABD16}"/>
              </a:ext>
            </a:extLst>
          </p:cNvPr>
          <p:cNvSpPr/>
          <p:nvPr/>
        </p:nvSpPr>
        <p:spPr>
          <a:xfrm rot="9430845">
            <a:off x="528920" y="441278"/>
            <a:ext cx="503796" cy="511184"/>
          </a:xfrm>
          <a:prstGeom prst="ellipse">
            <a:avLst/>
          </a:prstGeom>
          <a:solidFill>
            <a:srgbClr val="4D3F8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FB187FA8-C04C-4322-891C-A741CEA371EC}"/>
              </a:ext>
            </a:extLst>
          </p:cNvPr>
          <p:cNvSpPr txBox="1"/>
          <p:nvPr/>
        </p:nvSpPr>
        <p:spPr>
          <a:xfrm>
            <a:off x="524715" y="466029"/>
            <a:ext cx="561265" cy="461665"/>
          </a:xfrm>
          <a:prstGeom prst="rect">
            <a:avLst/>
          </a:prstGeom>
          <a:noFill/>
        </p:spPr>
        <p:txBody>
          <a:bodyPr wrap="square" rtlCol="0">
            <a:spAutoFit/>
          </a:bodyPr>
          <a:lstStyle/>
          <a:p>
            <a:r>
              <a:rPr lang="en-US" altLang="zh-CN" sz="2400" dirty="0">
                <a:solidFill>
                  <a:schemeClr val="bg1"/>
                </a:solidFill>
                <a:latin typeface="Bauhaus 93" panose="04030905020B02020C02" pitchFamily="82" charset="0"/>
              </a:rPr>
              <a:t>02</a:t>
            </a:r>
            <a:endParaRPr lang="zh-CN" altLang="en-US" sz="2400" dirty="0">
              <a:solidFill>
                <a:schemeClr val="bg1"/>
              </a:solidFill>
              <a:latin typeface="Bauhaus 93" panose="04030905020B02020C02" pitchFamily="82" charset="0"/>
            </a:endParaRPr>
          </a:p>
        </p:txBody>
      </p:sp>
      <p:sp>
        <p:nvSpPr>
          <p:cNvPr id="37" name="椭圆 36">
            <a:extLst>
              <a:ext uri="{FF2B5EF4-FFF2-40B4-BE49-F238E27FC236}">
                <a16:creationId xmlns:a16="http://schemas.microsoft.com/office/drawing/2014/main" id="{7A007603-F3D9-40C8-B984-92A6C591C1ED}"/>
              </a:ext>
            </a:extLst>
          </p:cNvPr>
          <p:cNvSpPr/>
          <p:nvPr/>
        </p:nvSpPr>
        <p:spPr>
          <a:xfrm rot="14219635">
            <a:off x="-422765" y="-198887"/>
            <a:ext cx="872276" cy="872276"/>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6E536261-448B-42D2-AA47-008BC8415B5E}"/>
              </a:ext>
            </a:extLst>
          </p:cNvPr>
          <p:cNvSpPr/>
          <p:nvPr/>
        </p:nvSpPr>
        <p:spPr>
          <a:xfrm rot="14219635">
            <a:off x="367756" y="1142977"/>
            <a:ext cx="163510" cy="163510"/>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0" name="图片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359445"/>
            <a:ext cx="3374582" cy="537824"/>
          </a:xfrm>
          <a:prstGeom prst="rect">
            <a:avLst/>
          </a:prstGeom>
        </p:spPr>
      </p:pic>
      <p:sp>
        <p:nvSpPr>
          <p:cNvPr id="3" name="矩形 2"/>
          <p:cNvSpPr/>
          <p:nvPr/>
        </p:nvSpPr>
        <p:spPr>
          <a:xfrm>
            <a:off x="1067580" y="1369964"/>
            <a:ext cx="8416053" cy="4739759"/>
          </a:xfrm>
          <a:prstGeom prst="rect">
            <a:avLst/>
          </a:prstGeom>
        </p:spPr>
        <p:txBody>
          <a:bodyPr wrap="square">
            <a:spAutoFit/>
          </a:bodyPr>
          <a:lstStyle/>
          <a:p>
            <a:pPr>
              <a:lnSpc>
                <a:spcPct val="200000"/>
              </a:lnSpc>
            </a:pPr>
            <a:r>
              <a:rPr lang="en-US" altLang="zh-CN" sz="2000" dirty="0">
                <a:solidFill>
                  <a:srgbClr val="4D3F82"/>
                </a:solidFill>
                <a:latin typeface="+mn-ea"/>
              </a:rPr>
              <a:t>BIG BIRD </a:t>
            </a:r>
            <a:r>
              <a:rPr lang="zh-CN" altLang="en-US" sz="2000" dirty="0">
                <a:solidFill>
                  <a:srgbClr val="4D3F82"/>
                </a:solidFill>
                <a:latin typeface="+mn-ea"/>
              </a:rPr>
              <a:t>采用稀疏注意力机制的理论结果解释</a:t>
            </a:r>
            <a:endParaRPr lang="en-US" altLang="zh-CN" sz="2000" dirty="0">
              <a:solidFill>
                <a:srgbClr val="4D3F82"/>
              </a:solidFill>
              <a:latin typeface="+mn-ea"/>
            </a:endParaRPr>
          </a:p>
          <a:p>
            <a:pPr>
              <a:lnSpc>
                <a:spcPct val="200000"/>
              </a:lnSpc>
            </a:pPr>
            <a:r>
              <a:rPr lang="zh-CN" altLang="en-US" sz="2000" dirty="0">
                <a:solidFill>
                  <a:schemeClr val="tx1">
                    <a:lumMod val="50000"/>
                  </a:schemeClr>
                </a:solidFill>
                <a:latin typeface="+mn-ea"/>
              </a:rPr>
              <a:t>文中通过以下</a:t>
            </a:r>
            <a:r>
              <a:rPr lang="en-US" altLang="zh-CN" sz="2000" dirty="0">
                <a:solidFill>
                  <a:schemeClr val="tx1">
                    <a:lumMod val="50000"/>
                  </a:schemeClr>
                </a:solidFill>
                <a:latin typeface="+mn-ea"/>
              </a:rPr>
              <a:t>2</a:t>
            </a:r>
            <a:r>
              <a:rPr lang="zh-CN" altLang="en-US" sz="2000" dirty="0">
                <a:solidFill>
                  <a:schemeClr val="tx1">
                    <a:lumMod val="50000"/>
                  </a:schemeClr>
                </a:solidFill>
                <a:latin typeface="+mn-ea"/>
              </a:rPr>
              <a:t>点证明了稀疏注意力具备全局注意力的表征性和有效性：</a:t>
            </a:r>
            <a:endParaRPr lang="en-US" altLang="zh-CN" sz="2000" dirty="0">
              <a:solidFill>
                <a:schemeClr val="tx1">
                  <a:lumMod val="50000"/>
                </a:schemeClr>
              </a:solidFill>
              <a:latin typeface="+mn-ea"/>
            </a:endParaRPr>
          </a:p>
          <a:p>
            <a:pPr marL="457200" indent="-457200">
              <a:lnSpc>
                <a:spcPct val="200000"/>
              </a:lnSpc>
              <a:buAutoNum type="arabicParenR"/>
            </a:pPr>
            <a:r>
              <a:rPr lang="zh-CN" altLang="en-US" sz="2000" dirty="0">
                <a:solidFill>
                  <a:schemeClr val="tx1">
                    <a:lumMod val="50000"/>
                  </a:schemeClr>
                </a:solidFill>
                <a:latin typeface="+mn-ea"/>
              </a:rPr>
              <a:t>在标准编码器（</a:t>
            </a:r>
            <a:r>
              <a:rPr lang="en-US" altLang="zh-CN" sz="2000" dirty="0">
                <a:solidFill>
                  <a:schemeClr val="tx1">
                    <a:lumMod val="50000"/>
                  </a:schemeClr>
                </a:solidFill>
                <a:latin typeface="+mn-ea"/>
              </a:rPr>
              <a:t>BERT</a:t>
            </a:r>
            <a:r>
              <a:rPr lang="zh-CN" altLang="en-US" sz="2000" dirty="0">
                <a:solidFill>
                  <a:schemeClr val="tx1">
                    <a:lumMod val="50000"/>
                  </a:schemeClr>
                </a:solidFill>
                <a:latin typeface="+mn-ea"/>
              </a:rPr>
              <a:t>）中稀疏注意力是序列的通用近似器；</a:t>
            </a:r>
            <a:endParaRPr lang="en-US" altLang="zh-CN" sz="2000" dirty="0">
              <a:solidFill>
                <a:schemeClr val="tx1">
                  <a:lumMod val="50000"/>
                </a:schemeClr>
              </a:solidFill>
              <a:latin typeface="+mn-ea"/>
            </a:endParaRPr>
          </a:p>
          <a:p>
            <a:pPr marL="457200" indent="-457200">
              <a:lnSpc>
                <a:spcPct val="200000"/>
              </a:lnSpc>
              <a:buAutoNum type="arabicParenR"/>
            </a:pPr>
            <a:r>
              <a:rPr lang="zh-CN" altLang="en-US" sz="2000" dirty="0">
                <a:solidFill>
                  <a:schemeClr val="tx1">
                    <a:lumMod val="50000"/>
                  </a:schemeClr>
                </a:solidFill>
                <a:latin typeface="+mn-ea"/>
              </a:rPr>
              <a:t>稀疏的编解码</a:t>
            </a:r>
            <a:r>
              <a:rPr lang="en-US" altLang="zh-CN" sz="2000" dirty="0">
                <a:solidFill>
                  <a:schemeClr val="tx1">
                    <a:lumMod val="50000"/>
                  </a:schemeClr>
                </a:solidFill>
                <a:latin typeface="+mn-ea"/>
              </a:rPr>
              <a:t>transformers</a:t>
            </a:r>
            <a:r>
              <a:rPr lang="zh-CN" altLang="en-US" sz="2000" dirty="0">
                <a:solidFill>
                  <a:schemeClr val="tx1">
                    <a:lumMod val="50000"/>
                  </a:schemeClr>
                </a:solidFill>
                <a:latin typeface="+mn-ea"/>
              </a:rPr>
              <a:t>是图灵完备的。</a:t>
            </a:r>
            <a:endParaRPr lang="en-US" altLang="zh-CN" sz="2000" dirty="0">
              <a:solidFill>
                <a:schemeClr val="tx1">
                  <a:lumMod val="50000"/>
                </a:schemeClr>
              </a:solidFill>
              <a:latin typeface="+mn-ea"/>
            </a:endParaRPr>
          </a:p>
          <a:p>
            <a:pPr>
              <a:lnSpc>
                <a:spcPct val="150000"/>
              </a:lnSpc>
            </a:pPr>
            <a:endParaRPr lang="en-US" altLang="zh-CN" sz="2000" dirty="0">
              <a:solidFill>
                <a:schemeClr val="tx1">
                  <a:lumMod val="50000"/>
                </a:schemeClr>
              </a:solidFill>
              <a:latin typeface="+mn-ea"/>
            </a:endParaRPr>
          </a:p>
          <a:p>
            <a:pPr>
              <a:lnSpc>
                <a:spcPct val="200000"/>
              </a:lnSpc>
            </a:pPr>
            <a:r>
              <a:rPr lang="zh-CN" altLang="en-US" sz="2000" dirty="0">
                <a:solidFill>
                  <a:schemeClr val="tx1">
                    <a:lumMod val="50000"/>
                  </a:schemeClr>
                </a:solidFill>
                <a:latin typeface="+mn-ea"/>
              </a:rPr>
              <a:t>局限性：一个可以通过</a:t>
            </a:r>
            <a:r>
              <a:rPr lang="en-US" altLang="zh-CN" sz="2000" dirty="0">
                <a:solidFill>
                  <a:schemeClr val="tx1">
                    <a:lumMod val="50000"/>
                  </a:schemeClr>
                </a:solidFill>
                <a:latin typeface="+mn-ea"/>
              </a:rPr>
              <a:t>O(1)-layers </a:t>
            </a:r>
            <a:r>
              <a:rPr lang="zh-CN" altLang="en-US" sz="2000" dirty="0">
                <a:solidFill>
                  <a:schemeClr val="tx1">
                    <a:lumMod val="50000"/>
                  </a:schemeClr>
                </a:solidFill>
                <a:latin typeface="+mn-ea"/>
              </a:rPr>
              <a:t>全局注意力解决的问题，需要                     带有        条边的稀疏注意力机制去实现。</a:t>
            </a:r>
            <a:endParaRPr lang="en-US" altLang="zh-CN" sz="2000" dirty="0">
              <a:solidFill>
                <a:schemeClr val="tx1">
                  <a:lumMod val="50000"/>
                </a:schemeClr>
              </a:solidFill>
              <a:latin typeface="+mn-ea"/>
            </a:endParaRPr>
          </a:p>
          <a:p>
            <a:pPr>
              <a:lnSpc>
                <a:spcPct val="200000"/>
              </a:lnSpc>
            </a:pPr>
            <a:r>
              <a:rPr lang="zh-CN" altLang="en-US" sz="1600" dirty="0">
                <a:latin typeface="+mn-ea"/>
              </a:rPr>
              <a:t>（注：详细解释可以参考补充材料</a:t>
            </a:r>
            <a:r>
              <a:rPr lang="en-US" altLang="zh-CN" sz="1600" dirty="0">
                <a:latin typeface="+mn-ea"/>
              </a:rPr>
              <a:t>ABC</a:t>
            </a:r>
            <a:r>
              <a:rPr lang="zh-CN" altLang="en-US" sz="1600" dirty="0">
                <a:latin typeface="+mn-ea"/>
              </a:rPr>
              <a:t>。）</a:t>
            </a:r>
            <a:endParaRPr lang="en-US" altLang="zh-CN" sz="1600" dirty="0">
              <a:latin typeface="+mn-ea"/>
            </a:endParaRPr>
          </a:p>
        </p:txBody>
      </p:sp>
      <p:sp>
        <p:nvSpPr>
          <p:cNvPr id="17" name="Shape 2911"/>
          <p:cNvSpPr/>
          <p:nvPr/>
        </p:nvSpPr>
        <p:spPr>
          <a:xfrm>
            <a:off x="745191" y="1601599"/>
            <a:ext cx="322389" cy="331703"/>
          </a:xfrm>
          <a:custGeom>
            <a:avLst/>
            <a:gdLst/>
            <a:ahLst/>
            <a:cxnLst>
              <a:cxn ang="0">
                <a:pos x="wd2" y="hd2"/>
              </a:cxn>
              <a:cxn ang="5400000">
                <a:pos x="wd2" y="hd2"/>
              </a:cxn>
              <a:cxn ang="10800000">
                <a:pos x="wd2" y="hd2"/>
              </a:cxn>
              <a:cxn ang="16200000">
                <a:pos x="wd2" y="hd2"/>
              </a:cxn>
            </a:cxnLst>
            <a:rect l="0" t="0" r="r" b="b"/>
            <a:pathLst>
              <a:path w="21600" h="21600" extrusionOk="0">
                <a:moveTo>
                  <a:pt x="1800" y="19962"/>
                </a:moveTo>
                <a:lnTo>
                  <a:pt x="1800" y="1638"/>
                </a:lnTo>
                <a:lnTo>
                  <a:pt x="19397" y="10800"/>
                </a:lnTo>
                <a:cubicBezTo>
                  <a:pt x="19397" y="10800"/>
                  <a:pt x="1800" y="19962"/>
                  <a:pt x="1800" y="19962"/>
                </a:cubicBezTo>
                <a:close/>
                <a:moveTo>
                  <a:pt x="21600" y="10800"/>
                </a:moveTo>
                <a:cubicBezTo>
                  <a:pt x="21600" y="10660"/>
                  <a:pt x="21491" y="10536"/>
                  <a:pt x="21318" y="10446"/>
                </a:cubicBezTo>
                <a:lnTo>
                  <a:pt x="21321" y="10445"/>
                </a:lnTo>
                <a:lnTo>
                  <a:pt x="1521" y="136"/>
                </a:lnTo>
                <a:lnTo>
                  <a:pt x="1519" y="137"/>
                </a:lnTo>
                <a:cubicBezTo>
                  <a:pt x="1357" y="53"/>
                  <a:pt x="1141" y="0"/>
                  <a:pt x="900" y="0"/>
                </a:cubicBezTo>
                <a:cubicBezTo>
                  <a:pt x="403" y="0"/>
                  <a:pt x="0" y="220"/>
                  <a:pt x="0" y="491"/>
                </a:cubicBezTo>
                <a:lnTo>
                  <a:pt x="0" y="21109"/>
                </a:lnTo>
                <a:cubicBezTo>
                  <a:pt x="0" y="21380"/>
                  <a:pt x="403" y="21600"/>
                  <a:pt x="900" y="21600"/>
                </a:cubicBezTo>
                <a:cubicBezTo>
                  <a:pt x="1141" y="21600"/>
                  <a:pt x="1357" y="21547"/>
                  <a:pt x="1519" y="21463"/>
                </a:cubicBezTo>
                <a:lnTo>
                  <a:pt x="1521" y="21465"/>
                </a:lnTo>
                <a:lnTo>
                  <a:pt x="21321" y="11155"/>
                </a:lnTo>
                <a:lnTo>
                  <a:pt x="21318" y="11154"/>
                </a:lnTo>
                <a:cubicBezTo>
                  <a:pt x="21491" y="11065"/>
                  <a:pt x="21600" y="10940"/>
                  <a:pt x="21600" y="10800"/>
                </a:cubicBezTo>
              </a:path>
            </a:pathLst>
          </a:custGeom>
          <a:solidFill>
            <a:srgbClr val="4D3F82"/>
          </a:solidFill>
          <a:ln w="12700">
            <a:miter lim="400000"/>
          </a:ln>
        </p:spPr>
        <p:txBody>
          <a:bodyPr lIns="38090" tIns="38090" rIns="38090" bIns="38090" anchor="ctr"/>
          <a:lstStyle/>
          <a:p>
            <a:pPr marL="0" marR="0" lvl="0" indent="0" defTabSz="457063" eaLnBrk="1" fontAlgn="auto" latinLnBrk="0" hangingPunct="1">
              <a:lnSpc>
                <a:spcPct val="100000"/>
              </a:lnSpc>
              <a:spcBef>
                <a:spcPts val="0"/>
              </a:spcBef>
              <a:spcAft>
                <a:spcPts val="0"/>
              </a:spcAft>
              <a:buClrTx/>
              <a:buSzTx/>
              <a:buFontTx/>
              <a:buNone/>
              <a:tabLst/>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2999"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Gill Sans"/>
              <a:sym typeface="Gill Sans"/>
            </a:endParaRPr>
          </a:p>
        </p:txBody>
      </p:sp>
      <p:sp>
        <p:nvSpPr>
          <p:cNvPr id="18" name="Shape 2924"/>
          <p:cNvSpPr/>
          <p:nvPr/>
        </p:nvSpPr>
        <p:spPr>
          <a:xfrm>
            <a:off x="650776" y="4446105"/>
            <a:ext cx="416804" cy="413277"/>
          </a:xfrm>
          <a:custGeom>
            <a:avLst/>
            <a:gdLst/>
            <a:ahLst/>
            <a:cxnLst>
              <a:cxn ang="0">
                <a:pos x="wd2" y="hd2"/>
              </a:cxn>
              <a:cxn ang="5400000">
                <a:pos x="wd2" y="hd2"/>
              </a:cxn>
              <a:cxn ang="10800000">
                <a:pos x="wd2" y="hd2"/>
              </a:cxn>
              <a:cxn ang="16200000">
                <a:pos x="wd2" y="hd2"/>
              </a:cxn>
            </a:cxnLst>
            <a:rect l="0" t="0" r="r" b="b"/>
            <a:pathLst>
              <a:path w="21600" h="21600" extrusionOk="0">
                <a:moveTo>
                  <a:pt x="21600" y="491"/>
                </a:moveTo>
                <a:cubicBezTo>
                  <a:pt x="21600" y="220"/>
                  <a:pt x="21380" y="0"/>
                  <a:pt x="21109" y="0"/>
                </a:cubicBezTo>
                <a:cubicBezTo>
                  <a:pt x="20974" y="0"/>
                  <a:pt x="20851" y="55"/>
                  <a:pt x="20762" y="144"/>
                </a:cubicBezTo>
                <a:lnTo>
                  <a:pt x="12764" y="8142"/>
                </a:lnTo>
                <a:lnTo>
                  <a:pt x="12764" y="2455"/>
                </a:lnTo>
                <a:cubicBezTo>
                  <a:pt x="12764" y="2184"/>
                  <a:pt x="12544" y="1964"/>
                  <a:pt x="12273" y="1964"/>
                </a:cubicBezTo>
                <a:cubicBezTo>
                  <a:pt x="12002" y="1964"/>
                  <a:pt x="11782" y="2184"/>
                  <a:pt x="11782" y="2455"/>
                </a:cubicBezTo>
                <a:lnTo>
                  <a:pt x="11782" y="9327"/>
                </a:lnTo>
                <a:cubicBezTo>
                  <a:pt x="11782" y="9599"/>
                  <a:pt x="12002" y="9818"/>
                  <a:pt x="12273" y="9818"/>
                </a:cubicBezTo>
                <a:lnTo>
                  <a:pt x="19145" y="9818"/>
                </a:lnTo>
                <a:cubicBezTo>
                  <a:pt x="19416" y="9818"/>
                  <a:pt x="19636" y="9599"/>
                  <a:pt x="19636" y="9327"/>
                </a:cubicBezTo>
                <a:cubicBezTo>
                  <a:pt x="19636" y="9056"/>
                  <a:pt x="19416" y="8836"/>
                  <a:pt x="19145" y="8836"/>
                </a:cubicBezTo>
                <a:lnTo>
                  <a:pt x="13458" y="8836"/>
                </a:lnTo>
                <a:lnTo>
                  <a:pt x="21456" y="838"/>
                </a:lnTo>
                <a:cubicBezTo>
                  <a:pt x="21545" y="750"/>
                  <a:pt x="21600" y="627"/>
                  <a:pt x="21600" y="491"/>
                </a:cubicBezTo>
                <a:moveTo>
                  <a:pt x="9327" y="11782"/>
                </a:moveTo>
                <a:lnTo>
                  <a:pt x="2455" y="11782"/>
                </a:lnTo>
                <a:cubicBezTo>
                  <a:pt x="2184" y="11782"/>
                  <a:pt x="1964" y="12002"/>
                  <a:pt x="1964" y="12273"/>
                </a:cubicBezTo>
                <a:cubicBezTo>
                  <a:pt x="1964" y="12544"/>
                  <a:pt x="2184" y="12764"/>
                  <a:pt x="2455" y="12764"/>
                </a:cubicBezTo>
                <a:lnTo>
                  <a:pt x="8142" y="12764"/>
                </a:lnTo>
                <a:lnTo>
                  <a:pt x="144" y="20762"/>
                </a:lnTo>
                <a:cubicBezTo>
                  <a:pt x="55" y="20851"/>
                  <a:pt x="0" y="20973"/>
                  <a:pt x="0" y="21109"/>
                </a:cubicBezTo>
                <a:cubicBezTo>
                  <a:pt x="0" y="21380"/>
                  <a:pt x="220" y="21600"/>
                  <a:pt x="491" y="21600"/>
                </a:cubicBezTo>
                <a:cubicBezTo>
                  <a:pt x="626" y="21600"/>
                  <a:pt x="749" y="21545"/>
                  <a:pt x="838" y="21456"/>
                </a:cubicBezTo>
                <a:lnTo>
                  <a:pt x="8836" y="13458"/>
                </a:lnTo>
                <a:lnTo>
                  <a:pt x="8836" y="19145"/>
                </a:lnTo>
                <a:cubicBezTo>
                  <a:pt x="8836" y="19417"/>
                  <a:pt x="9056" y="19636"/>
                  <a:pt x="9327" y="19636"/>
                </a:cubicBezTo>
                <a:cubicBezTo>
                  <a:pt x="9598" y="19636"/>
                  <a:pt x="9818" y="19417"/>
                  <a:pt x="9818" y="19145"/>
                </a:cubicBezTo>
                <a:lnTo>
                  <a:pt x="9818" y="12273"/>
                </a:lnTo>
                <a:cubicBezTo>
                  <a:pt x="9818" y="12002"/>
                  <a:pt x="9598" y="11782"/>
                  <a:pt x="9327" y="11782"/>
                </a:cubicBezTo>
              </a:path>
            </a:pathLst>
          </a:custGeom>
          <a:solidFill>
            <a:srgbClr val="4D3F82"/>
          </a:solidFill>
          <a:ln w="12700">
            <a:miter lim="400000"/>
          </a:ln>
        </p:spPr>
        <p:txBody>
          <a:bodyPr lIns="38090" tIns="38090" rIns="38090" bIns="38090" anchor="ctr"/>
          <a:lstStyle/>
          <a:p>
            <a:pPr marL="0" marR="0" lvl="0" indent="0" defTabSz="457063" eaLnBrk="1" fontAlgn="auto" latinLnBrk="0" hangingPunct="1">
              <a:lnSpc>
                <a:spcPct val="100000"/>
              </a:lnSpc>
              <a:spcBef>
                <a:spcPts val="0"/>
              </a:spcBef>
              <a:spcAft>
                <a:spcPts val="0"/>
              </a:spcAft>
              <a:buClrTx/>
              <a:buSzTx/>
              <a:buFontTx/>
              <a:buNone/>
              <a:tabLst/>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2999"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Gill Sans"/>
              <a:sym typeface="Gill Sans"/>
            </a:endParaRPr>
          </a:p>
        </p:txBody>
      </p:sp>
      <p:pic>
        <p:nvPicPr>
          <p:cNvPr id="4" name="图片 3"/>
          <p:cNvPicPr>
            <a:picLocks noChangeAspect="1"/>
          </p:cNvPicPr>
          <p:nvPr/>
        </p:nvPicPr>
        <p:blipFill>
          <a:blip r:embed="rId4"/>
          <a:stretch>
            <a:fillRect/>
          </a:stretch>
        </p:blipFill>
        <p:spPr>
          <a:xfrm>
            <a:off x="8401637" y="4517136"/>
            <a:ext cx="1498800" cy="342246"/>
          </a:xfrm>
          <a:prstGeom prst="rect">
            <a:avLst/>
          </a:prstGeom>
        </p:spPr>
      </p:pic>
      <p:pic>
        <p:nvPicPr>
          <p:cNvPr id="2" name="图片 1"/>
          <p:cNvPicPr>
            <a:picLocks noChangeAspect="1"/>
          </p:cNvPicPr>
          <p:nvPr/>
        </p:nvPicPr>
        <p:blipFill>
          <a:blip r:embed="rId5"/>
          <a:stretch>
            <a:fillRect/>
          </a:stretch>
        </p:blipFill>
        <p:spPr>
          <a:xfrm>
            <a:off x="1687291" y="5129582"/>
            <a:ext cx="581025" cy="333375"/>
          </a:xfrm>
          <a:prstGeom prst="rect">
            <a:avLst/>
          </a:prstGeom>
        </p:spPr>
      </p:pic>
    </p:spTree>
    <p:extLst>
      <p:ext uri="{BB962C8B-B14F-4D97-AF65-F5344CB8AC3E}">
        <p14:creationId xmlns:p14="http://schemas.microsoft.com/office/powerpoint/2010/main" val="3017610785"/>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a16="http://schemas.microsoft.com/office/drawing/2014/main" id="{55164F64-BEF1-41A1-A6DD-02DF11269F12}"/>
              </a:ext>
            </a:extLst>
          </p:cNvPr>
          <p:cNvSpPr/>
          <p:nvPr/>
        </p:nvSpPr>
        <p:spPr>
          <a:xfrm>
            <a:off x="0" y="-1"/>
            <a:ext cx="12192000" cy="6858000"/>
          </a:xfrm>
          <a:prstGeom prst="rect">
            <a:avLst/>
          </a:prstGeom>
          <a:solidFill>
            <a:srgbClr val="4D3F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a:extLst>
              <a:ext uri="{FF2B5EF4-FFF2-40B4-BE49-F238E27FC236}">
                <a16:creationId xmlns:a16="http://schemas.microsoft.com/office/drawing/2014/main" id="{E92A6508-C4C2-46DE-9B0C-E4518948436E}"/>
              </a:ext>
            </a:extLst>
          </p:cNvPr>
          <p:cNvGrpSpPr/>
          <p:nvPr/>
        </p:nvGrpSpPr>
        <p:grpSpPr>
          <a:xfrm>
            <a:off x="0" y="2097911"/>
            <a:ext cx="12192000" cy="2662177"/>
            <a:chOff x="0" y="0"/>
            <a:chExt cx="12192000" cy="2662177"/>
          </a:xfrm>
        </p:grpSpPr>
        <p:sp>
          <p:nvSpPr>
            <p:cNvPr id="3" name="矩形 2">
              <a:extLst>
                <a:ext uri="{FF2B5EF4-FFF2-40B4-BE49-F238E27FC236}">
                  <a16:creationId xmlns:a16="http://schemas.microsoft.com/office/drawing/2014/main" id="{8132A4A6-78E0-4DB7-BB5C-5BB9EA399CFB}"/>
                </a:ext>
              </a:extLst>
            </p:cNvPr>
            <p:cNvSpPr/>
            <p:nvPr/>
          </p:nvSpPr>
          <p:spPr>
            <a:xfrm>
              <a:off x="0" y="0"/>
              <a:ext cx="12192000" cy="2662177"/>
            </a:xfrm>
            <a:prstGeom prst="rect">
              <a:avLst/>
            </a:prstGeom>
            <a:solidFill>
              <a:srgbClr val="CE45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a:extLst>
                <a:ext uri="{FF2B5EF4-FFF2-40B4-BE49-F238E27FC236}">
                  <a16:creationId xmlns:a16="http://schemas.microsoft.com/office/drawing/2014/main" id="{7F2B08F7-2990-4E6D-8F1E-1B5943E1E76F}"/>
                </a:ext>
              </a:extLst>
            </p:cNvPr>
            <p:cNvCxnSpPr/>
            <p:nvPr/>
          </p:nvCxnSpPr>
          <p:spPr>
            <a:xfrm>
              <a:off x="0" y="428263"/>
              <a:ext cx="12192000" cy="0"/>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8E583180-A716-43A9-B855-9425078598B0}"/>
                </a:ext>
              </a:extLst>
            </p:cNvPr>
            <p:cNvCxnSpPr/>
            <p:nvPr/>
          </p:nvCxnSpPr>
          <p:spPr>
            <a:xfrm>
              <a:off x="0" y="939478"/>
              <a:ext cx="12192000" cy="0"/>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FDC324B6-918C-4E6F-8EFB-0278E6C3FA7C}"/>
                </a:ext>
              </a:extLst>
            </p:cNvPr>
            <p:cNvCxnSpPr/>
            <p:nvPr/>
          </p:nvCxnSpPr>
          <p:spPr>
            <a:xfrm>
              <a:off x="0" y="1450693"/>
              <a:ext cx="12192000" cy="0"/>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0EFF3A5C-D2DE-49B9-9027-C8C7C633A4DB}"/>
                </a:ext>
              </a:extLst>
            </p:cNvPr>
            <p:cNvCxnSpPr/>
            <p:nvPr/>
          </p:nvCxnSpPr>
          <p:spPr>
            <a:xfrm>
              <a:off x="0" y="1961908"/>
              <a:ext cx="12192000" cy="0"/>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61D76C6B-C0C1-41D0-881A-C1E9D8ED664C}"/>
                </a:ext>
              </a:extLst>
            </p:cNvPr>
            <p:cNvCxnSpPr/>
            <p:nvPr/>
          </p:nvCxnSpPr>
          <p:spPr>
            <a:xfrm>
              <a:off x="590309"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9A805BFF-524B-48F9-B47E-B94AB6AFB031}"/>
                </a:ext>
              </a:extLst>
            </p:cNvPr>
            <p:cNvCxnSpPr/>
            <p:nvPr/>
          </p:nvCxnSpPr>
          <p:spPr>
            <a:xfrm>
              <a:off x="1170972"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9BE2AA2F-8430-4DB9-AE3A-5FC1FC51807F}"/>
                </a:ext>
              </a:extLst>
            </p:cNvPr>
            <p:cNvCxnSpPr/>
            <p:nvPr/>
          </p:nvCxnSpPr>
          <p:spPr>
            <a:xfrm>
              <a:off x="1751635"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0ADC280E-A58D-4AB2-8545-ABD30653DE3A}"/>
                </a:ext>
              </a:extLst>
            </p:cNvPr>
            <p:cNvCxnSpPr/>
            <p:nvPr/>
          </p:nvCxnSpPr>
          <p:spPr>
            <a:xfrm>
              <a:off x="2332298"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43E2A3D7-72C6-43BE-AF7A-CD631D4FD3FF}"/>
                </a:ext>
              </a:extLst>
            </p:cNvPr>
            <p:cNvCxnSpPr/>
            <p:nvPr/>
          </p:nvCxnSpPr>
          <p:spPr>
            <a:xfrm>
              <a:off x="2912961"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416D857C-603E-46D4-9E3C-329BF93FA47F}"/>
                </a:ext>
              </a:extLst>
            </p:cNvPr>
            <p:cNvCxnSpPr/>
            <p:nvPr/>
          </p:nvCxnSpPr>
          <p:spPr>
            <a:xfrm>
              <a:off x="3493624"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448B7987-5E53-472E-B89C-7D3F40D34EAD}"/>
                </a:ext>
              </a:extLst>
            </p:cNvPr>
            <p:cNvCxnSpPr/>
            <p:nvPr/>
          </p:nvCxnSpPr>
          <p:spPr>
            <a:xfrm>
              <a:off x="4074287"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75407F92-E9FA-42C8-88B6-34D254B700E4}"/>
                </a:ext>
              </a:extLst>
            </p:cNvPr>
            <p:cNvCxnSpPr/>
            <p:nvPr/>
          </p:nvCxnSpPr>
          <p:spPr>
            <a:xfrm>
              <a:off x="4654950"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E2C2CB76-049F-4583-9F8C-3462CD54E821}"/>
                </a:ext>
              </a:extLst>
            </p:cNvPr>
            <p:cNvCxnSpPr/>
            <p:nvPr/>
          </p:nvCxnSpPr>
          <p:spPr>
            <a:xfrm>
              <a:off x="5235613"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054C728B-6510-4168-97C1-232AEC30CE3A}"/>
                </a:ext>
              </a:extLst>
            </p:cNvPr>
            <p:cNvCxnSpPr/>
            <p:nvPr/>
          </p:nvCxnSpPr>
          <p:spPr>
            <a:xfrm>
              <a:off x="5816276"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A0A3F8EB-EF69-4A3A-BF55-E98B8459CE09}"/>
                </a:ext>
              </a:extLst>
            </p:cNvPr>
            <p:cNvCxnSpPr/>
            <p:nvPr/>
          </p:nvCxnSpPr>
          <p:spPr>
            <a:xfrm>
              <a:off x="6396939"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5C88CF4F-98A9-4E94-A21A-787ECE2C3238}"/>
                </a:ext>
              </a:extLst>
            </p:cNvPr>
            <p:cNvCxnSpPr/>
            <p:nvPr/>
          </p:nvCxnSpPr>
          <p:spPr>
            <a:xfrm>
              <a:off x="6977602"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212753DC-2381-4531-A177-2293D0078626}"/>
                </a:ext>
              </a:extLst>
            </p:cNvPr>
            <p:cNvCxnSpPr/>
            <p:nvPr/>
          </p:nvCxnSpPr>
          <p:spPr>
            <a:xfrm>
              <a:off x="7558265"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1708E870-C5C3-434A-BFD1-D7A7793BDE48}"/>
                </a:ext>
              </a:extLst>
            </p:cNvPr>
            <p:cNvCxnSpPr/>
            <p:nvPr/>
          </p:nvCxnSpPr>
          <p:spPr>
            <a:xfrm>
              <a:off x="8138928"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CE3A6AF3-3FE4-4C58-82B0-3811BDEBBADF}"/>
                </a:ext>
              </a:extLst>
            </p:cNvPr>
            <p:cNvCxnSpPr/>
            <p:nvPr/>
          </p:nvCxnSpPr>
          <p:spPr>
            <a:xfrm>
              <a:off x="8719591"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77244BD5-43DD-4E23-BDDE-6DB84D67B88D}"/>
                </a:ext>
              </a:extLst>
            </p:cNvPr>
            <p:cNvCxnSpPr/>
            <p:nvPr/>
          </p:nvCxnSpPr>
          <p:spPr>
            <a:xfrm>
              <a:off x="9300254"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347F9664-D2F3-4775-989A-6E14ADD4356A}"/>
                </a:ext>
              </a:extLst>
            </p:cNvPr>
            <p:cNvCxnSpPr/>
            <p:nvPr/>
          </p:nvCxnSpPr>
          <p:spPr>
            <a:xfrm>
              <a:off x="9880917"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3120FA74-E9E3-4AE4-B8AF-6D8C29392C1E}"/>
                </a:ext>
              </a:extLst>
            </p:cNvPr>
            <p:cNvCxnSpPr/>
            <p:nvPr/>
          </p:nvCxnSpPr>
          <p:spPr>
            <a:xfrm>
              <a:off x="10461580"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AF693444-EB4D-42CF-AD2F-A47C04F4353C}"/>
                </a:ext>
              </a:extLst>
            </p:cNvPr>
            <p:cNvCxnSpPr/>
            <p:nvPr/>
          </p:nvCxnSpPr>
          <p:spPr>
            <a:xfrm>
              <a:off x="11042243"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2FDFE81F-E0DB-4238-A1CB-4EACD0EDD01B}"/>
                </a:ext>
              </a:extLst>
            </p:cNvPr>
            <p:cNvCxnSpPr/>
            <p:nvPr/>
          </p:nvCxnSpPr>
          <p:spPr>
            <a:xfrm>
              <a:off x="11622906"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grpSp>
      <p:sp>
        <p:nvSpPr>
          <p:cNvPr id="29" name="矩形 28">
            <a:extLst>
              <a:ext uri="{FF2B5EF4-FFF2-40B4-BE49-F238E27FC236}">
                <a16:creationId xmlns:a16="http://schemas.microsoft.com/office/drawing/2014/main" id="{6443A7B5-2534-4A93-8180-11DCF023065C}"/>
              </a:ext>
            </a:extLst>
          </p:cNvPr>
          <p:cNvSpPr/>
          <p:nvPr/>
        </p:nvSpPr>
        <p:spPr>
          <a:xfrm>
            <a:off x="2332301" y="1241385"/>
            <a:ext cx="7527399" cy="4375230"/>
          </a:xfrm>
          <a:prstGeom prst="rect">
            <a:avLst/>
          </a:prstGeom>
          <a:solidFill>
            <a:srgbClr val="4D3F82"/>
          </a:solidFill>
          <a:ln>
            <a:noFill/>
          </a:ln>
          <a:effectLst>
            <a:outerShdw blurRad="63500" sx="106000" sy="106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a:extLst>
              <a:ext uri="{FF2B5EF4-FFF2-40B4-BE49-F238E27FC236}">
                <a16:creationId xmlns:a16="http://schemas.microsoft.com/office/drawing/2014/main" id="{2C10FBED-D4ED-4A8F-9A64-839ABD83AE70}"/>
              </a:ext>
            </a:extLst>
          </p:cNvPr>
          <p:cNvSpPr txBox="1"/>
          <p:nvPr/>
        </p:nvSpPr>
        <p:spPr>
          <a:xfrm>
            <a:off x="4407055" y="2779163"/>
            <a:ext cx="2882097" cy="769441"/>
          </a:xfrm>
          <a:prstGeom prst="rect">
            <a:avLst/>
          </a:prstGeom>
          <a:noFill/>
        </p:spPr>
        <p:txBody>
          <a:bodyPr wrap="square" rtlCol="0">
            <a:spAutoFit/>
          </a:bodyPr>
          <a:lstStyle/>
          <a:p>
            <a:pPr algn="ctr"/>
            <a:r>
              <a:rPr lang="en-US" altLang="zh-CN" sz="4400" b="1">
                <a:solidFill>
                  <a:srgbClr val="4D3F82"/>
                </a:solidFill>
                <a:latin typeface="Century Gothic" panose="020B0502020202020204" pitchFamily="34" charset="0"/>
              </a:rPr>
              <a:t>PART  01</a:t>
            </a:r>
            <a:endParaRPr lang="zh-CN" altLang="en-US" sz="4400" b="1">
              <a:solidFill>
                <a:srgbClr val="4D3F82"/>
              </a:solidFill>
              <a:latin typeface="Century Gothic" panose="020B0502020202020204" pitchFamily="34" charset="0"/>
            </a:endParaRPr>
          </a:p>
        </p:txBody>
      </p:sp>
      <p:sp>
        <p:nvSpPr>
          <p:cNvPr id="32" name="文本框 31">
            <a:extLst>
              <a:ext uri="{FF2B5EF4-FFF2-40B4-BE49-F238E27FC236}">
                <a16:creationId xmlns:a16="http://schemas.microsoft.com/office/drawing/2014/main" id="{5104F2DC-C794-4550-9679-A4FDA2310F94}"/>
              </a:ext>
            </a:extLst>
          </p:cNvPr>
          <p:cNvSpPr txBox="1"/>
          <p:nvPr/>
        </p:nvSpPr>
        <p:spPr>
          <a:xfrm>
            <a:off x="4751612" y="892224"/>
            <a:ext cx="2688776" cy="2646878"/>
          </a:xfrm>
          <a:prstGeom prst="rect">
            <a:avLst/>
          </a:prstGeom>
          <a:noFill/>
        </p:spPr>
        <p:txBody>
          <a:bodyPr wrap="square" rtlCol="0">
            <a:spAutoFit/>
          </a:bodyPr>
          <a:lstStyle/>
          <a:p>
            <a:pPr algn="ctr"/>
            <a:r>
              <a:rPr lang="en-US" altLang="zh-CN" sz="16600" dirty="0">
                <a:solidFill>
                  <a:schemeClr val="bg1"/>
                </a:solidFill>
                <a:latin typeface="Bauhaus 93" panose="04030905020B02020C02" pitchFamily="82" charset="0"/>
              </a:rPr>
              <a:t>03</a:t>
            </a:r>
            <a:endParaRPr lang="zh-CN" altLang="en-US" sz="16600" dirty="0">
              <a:solidFill>
                <a:schemeClr val="bg1"/>
              </a:solidFill>
              <a:latin typeface="Bauhaus 93" panose="04030905020B02020C02" pitchFamily="82" charset="0"/>
            </a:endParaRPr>
          </a:p>
        </p:txBody>
      </p:sp>
      <p:sp>
        <p:nvSpPr>
          <p:cNvPr id="34" name="椭圆 33">
            <a:extLst>
              <a:ext uri="{FF2B5EF4-FFF2-40B4-BE49-F238E27FC236}">
                <a16:creationId xmlns:a16="http://schemas.microsoft.com/office/drawing/2014/main" id="{695E17C3-B4C6-4AB9-9EB5-BD6A63284E90}"/>
              </a:ext>
            </a:extLst>
          </p:cNvPr>
          <p:cNvSpPr/>
          <p:nvPr/>
        </p:nvSpPr>
        <p:spPr>
          <a:xfrm rot="2557811">
            <a:off x="9061044" y="5322088"/>
            <a:ext cx="478420" cy="478420"/>
          </a:xfrm>
          <a:prstGeom prst="ellipse">
            <a:avLst/>
          </a:prstGeom>
          <a:solidFill>
            <a:srgbClr val="CE4569"/>
          </a:solidFill>
          <a:ln>
            <a:noFill/>
          </a:ln>
          <a:effectLst>
            <a:outerShdw blurRad="50800" dist="1016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a:extLst>
              <a:ext uri="{FF2B5EF4-FFF2-40B4-BE49-F238E27FC236}">
                <a16:creationId xmlns:a16="http://schemas.microsoft.com/office/drawing/2014/main" id="{CC000E46-6AF4-4594-A9DF-80A429D9E045}"/>
              </a:ext>
            </a:extLst>
          </p:cNvPr>
          <p:cNvSpPr/>
          <p:nvPr/>
        </p:nvSpPr>
        <p:spPr>
          <a:xfrm rot="2557811">
            <a:off x="924600" y="231320"/>
            <a:ext cx="1073409" cy="1073409"/>
          </a:xfrm>
          <a:prstGeom prst="ellipse">
            <a:avLst/>
          </a:prstGeom>
          <a:solidFill>
            <a:srgbClr val="CE4569"/>
          </a:solidFill>
          <a:ln>
            <a:noFill/>
          </a:ln>
          <a:effectLst>
            <a:outerShdw blurRad="50800" dist="38100" sx="105000" sy="1050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 35">
            <a:extLst>
              <a:ext uri="{FF2B5EF4-FFF2-40B4-BE49-F238E27FC236}">
                <a16:creationId xmlns:a16="http://schemas.microsoft.com/office/drawing/2014/main" id="{23C69A77-F915-4361-82AE-DD0CD44CE947}"/>
              </a:ext>
            </a:extLst>
          </p:cNvPr>
          <p:cNvSpPr/>
          <p:nvPr/>
        </p:nvSpPr>
        <p:spPr>
          <a:xfrm rot="8799648">
            <a:off x="1840248" y="5850403"/>
            <a:ext cx="429104" cy="429104"/>
          </a:xfrm>
          <a:prstGeom prst="ellipse">
            <a:avLst/>
          </a:prstGeom>
          <a:solidFill>
            <a:srgbClr val="CE4569"/>
          </a:solidFill>
          <a:ln>
            <a:noFill/>
          </a:ln>
          <a:effectLst>
            <a:outerShdw blurRad="50800" dist="38100" sx="105000" sy="1050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a:extLst>
              <a:ext uri="{FF2B5EF4-FFF2-40B4-BE49-F238E27FC236}">
                <a16:creationId xmlns:a16="http://schemas.microsoft.com/office/drawing/2014/main" id="{D7EF4AA4-688F-47C9-9020-B357F4A30475}"/>
              </a:ext>
            </a:extLst>
          </p:cNvPr>
          <p:cNvSpPr/>
          <p:nvPr/>
        </p:nvSpPr>
        <p:spPr>
          <a:xfrm rot="2962617">
            <a:off x="8947701" y="1420155"/>
            <a:ext cx="429104" cy="429104"/>
          </a:xfrm>
          <a:prstGeom prst="ellipse">
            <a:avLst/>
          </a:prstGeom>
          <a:solidFill>
            <a:srgbClr val="CE4569"/>
          </a:solidFill>
          <a:ln>
            <a:noFill/>
          </a:ln>
          <a:effectLst>
            <a:outerShdw blurRad="38100" dist="63500" dir="10800000" sx="101000" sy="101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2CB25251-652D-46A8-B19B-6DE6EEDF3EB6}"/>
              </a:ext>
            </a:extLst>
          </p:cNvPr>
          <p:cNvSpPr/>
          <p:nvPr/>
        </p:nvSpPr>
        <p:spPr>
          <a:xfrm rot="2962617">
            <a:off x="10610130" y="3019329"/>
            <a:ext cx="351210" cy="351210"/>
          </a:xfrm>
          <a:prstGeom prst="ellipse">
            <a:avLst/>
          </a:prstGeom>
          <a:solidFill>
            <a:srgbClr val="4D3F82"/>
          </a:solidFill>
          <a:ln>
            <a:noFill/>
          </a:ln>
          <a:effectLst>
            <a:outerShdw blurRad="38100" dist="63500" dir="10800000" sx="101000" sy="101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a:extLst>
              <a:ext uri="{FF2B5EF4-FFF2-40B4-BE49-F238E27FC236}">
                <a16:creationId xmlns:a16="http://schemas.microsoft.com/office/drawing/2014/main" id="{4591EE37-3ADC-4ADC-A525-CC8E9AF29EAA}"/>
              </a:ext>
            </a:extLst>
          </p:cNvPr>
          <p:cNvSpPr/>
          <p:nvPr/>
        </p:nvSpPr>
        <p:spPr>
          <a:xfrm rot="2962617">
            <a:off x="1982806" y="3709369"/>
            <a:ext cx="351210" cy="351210"/>
          </a:xfrm>
          <a:prstGeom prst="ellipse">
            <a:avLst/>
          </a:prstGeom>
          <a:solidFill>
            <a:srgbClr val="4D3F82"/>
          </a:solidFill>
          <a:ln>
            <a:noFill/>
          </a:ln>
          <a:effectLst>
            <a:outerShdw blurRad="38100" dist="63500" dir="10800000" sx="101000" sy="101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a:extLst>
              <a:ext uri="{FF2B5EF4-FFF2-40B4-BE49-F238E27FC236}">
                <a16:creationId xmlns:a16="http://schemas.microsoft.com/office/drawing/2014/main" id="{6FE2F28D-601C-4A36-8EAC-F80E8828B650}"/>
              </a:ext>
            </a:extLst>
          </p:cNvPr>
          <p:cNvSpPr txBox="1"/>
          <p:nvPr/>
        </p:nvSpPr>
        <p:spPr>
          <a:xfrm>
            <a:off x="4182894" y="3558106"/>
            <a:ext cx="3956034" cy="707886"/>
          </a:xfrm>
          <a:prstGeom prst="rect">
            <a:avLst/>
          </a:prstGeom>
          <a:noFill/>
        </p:spPr>
        <p:txBody>
          <a:bodyPr wrap="square" rtlCol="0">
            <a:spAutoFit/>
          </a:bodyPr>
          <a:lstStyle/>
          <a:p>
            <a:pPr algn="ctr"/>
            <a:r>
              <a:rPr lang="zh-CN" altLang="en-US" sz="4000" spc="600" dirty="0">
                <a:solidFill>
                  <a:schemeClr val="bg1"/>
                </a:solidFill>
                <a:latin typeface="微软雅黑" panose="020B0503020204020204" pitchFamily="34" charset="-122"/>
                <a:ea typeface="微软雅黑" panose="020B0503020204020204" pitchFamily="34" charset="-122"/>
              </a:rPr>
              <a:t>实验结果</a:t>
            </a:r>
          </a:p>
        </p:txBody>
      </p:sp>
      <p:pic>
        <p:nvPicPr>
          <p:cNvPr id="41" name="图片 4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17418" y="6320176"/>
            <a:ext cx="3374582" cy="537824"/>
          </a:xfrm>
          <a:prstGeom prst="rect">
            <a:avLst/>
          </a:prstGeom>
        </p:spPr>
      </p:pic>
    </p:spTree>
    <p:extLst>
      <p:ext uri="{BB962C8B-B14F-4D97-AF65-F5344CB8AC3E}">
        <p14:creationId xmlns:p14="http://schemas.microsoft.com/office/powerpoint/2010/main" val="186321194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randombar(horizontal)">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1000"/>
                                        <p:tgtEl>
                                          <p:spTgt spid="40"/>
                                        </p:tgtEl>
                                      </p:cBhvr>
                                    </p:animEffect>
                                    <p:anim calcmode="lin" valueType="num">
                                      <p:cBhvr>
                                        <p:cTn id="13" dur="1000" fill="hold"/>
                                        <p:tgtEl>
                                          <p:spTgt spid="40"/>
                                        </p:tgtEl>
                                        <p:attrNameLst>
                                          <p:attrName>ppt_x</p:attrName>
                                        </p:attrNameLst>
                                      </p:cBhvr>
                                      <p:tavLst>
                                        <p:tav tm="0">
                                          <p:val>
                                            <p:strVal val="#ppt_x"/>
                                          </p:val>
                                        </p:tav>
                                        <p:tav tm="100000">
                                          <p:val>
                                            <p:strVal val="#ppt_x"/>
                                          </p:val>
                                        </p:tav>
                                      </p:tavLst>
                                    </p:anim>
                                    <p:anim calcmode="lin" valueType="num">
                                      <p:cBhvr>
                                        <p:cTn id="14"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4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文本框 19"/>
          <p:cNvSpPr txBox="1"/>
          <p:nvPr/>
        </p:nvSpPr>
        <p:spPr>
          <a:xfrm>
            <a:off x="1071199" y="457068"/>
            <a:ext cx="1620957" cy="523220"/>
          </a:xfrm>
          <a:prstGeom prst="rect">
            <a:avLst/>
          </a:prstGeom>
          <a:noFill/>
        </p:spPr>
        <p:txBody>
          <a:bodyPr wrap="none" rtlCol="0">
            <a:spAutoFit/>
          </a:bodyPr>
          <a:lstStyle/>
          <a:p>
            <a:pPr lvl="0">
              <a:defRPr/>
            </a:pPr>
            <a:r>
              <a:rPr kumimoji="0" lang="zh-CN" altLang="en-US" sz="2800" b="1" i="0" u="none" strike="noStrike" kern="1200" cap="none" spc="0" normalizeH="0" baseline="0" noProof="0" dirty="0">
                <a:ln>
                  <a:noFill/>
                </a:ln>
                <a:solidFill>
                  <a:srgbClr val="4D3F82"/>
                </a:solidFill>
                <a:effectLst/>
                <a:uLnTx/>
                <a:uFillTx/>
                <a:latin typeface="Calibri"/>
                <a:ea typeface="微软雅黑"/>
                <a:cs typeface="+mn-ea"/>
                <a:sym typeface="+mn-lt"/>
              </a:rPr>
              <a:t>实验结果</a:t>
            </a:r>
          </a:p>
        </p:txBody>
      </p:sp>
      <p:sp>
        <p:nvSpPr>
          <p:cNvPr id="6" name="椭圆 5">
            <a:extLst>
              <a:ext uri="{FF2B5EF4-FFF2-40B4-BE49-F238E27FC236}">
                <a16:creationId xmlns:a16="http://schemas.microsoft.com/office/drawing/2014/main" id="{DF773A56-49AF-444E-AF6D-49DFDB041C2E}"/>
              </a:ext>
            </a:extLst>
          </p:cNvPr>
          <p:cNvSpPr/>
          <p:nvPr/>
        </p:nvSpPr>
        <p:spPr>
          <a:xfrm>
            <a:off x="11073997" y="5889631"/>
            <a:ext cx="872276" cy="872276"/>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9723BAD4-F047-4320-87A0-E95852694C3F}"/>
              </a:ext>
            </a:extLst>
          </p:cNvPr>
          <p:cNvSpPr/>
          <p:nvPr/>
        </p:nvSpPr>
        <p:spPr>
          <a:xfrm rot="9430845">
            <a:off x="11432508" y="5123846"/>
            <a:ext cx="344849" cy="344849"/>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D4E3EEDC-7C8A-43DB-BD42-E8947B413BB8}"/>
              </a:ext>
            </a:extLst>
          </p:cNvPr>
          <p:cNvSpPr/>
          <p:nvPr/>
        </p:nvSpPr>
        <p:spPr>
          <a:xfrm rot="9430845">
            <a:off x="10447956" y="6589483"/>
            <a:ext cx="344849" cy="344849"/>
          </a:xfrm>
          <a:prstGeom prst="ellipse">
            <a:avLst/>
          </a:prstGeom>
          <a:solidFill>
            <a:srgbClr val="4D3F82"/>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EF07DB3A-3E81-4DC1-8E47-D5A7AB5ABD16}"/>
              </a:ext>
            </a:extLst>
          </p:cNvPr>
          <p:cNvSpPr/>
          <p:nvPr/>
        </p:nvSpPr>
        <p:spPr>
          <a:xfrm rot="9430845">
            <a:off x="528920" y="441278"/>
            <a:ext cx="503796" cy="511184"/>
          </a:xfrm>
          <a:prstGeom prst="ellipse">
            <a:avLst/>
          </a:prstGeom>
          <a:solidFill>
            <a:srgbClr val="4D3F8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FB187FA8-C04C-4322-891C-A741CEA371EC}"/>
              </a:ext>
            </a:extLst>
          </p:cNvPr>
          <p:cNvSpPr txBox="1"/>
          <p:nvPr/>
        </p:nvSpPr>
        <p:spPr>
          <a:xfrm>
            <a:off x="524715" y="466029"/>
            <a:ext cx="561265" cy="461665"/>
          </a:xfrm>
          <a:prstGeom prst="rect">
            <a:avLst/>
          </a:prstGeom>
          <a:noFill/>
        </p:spPr>
        <p:txBody>
          <a:bodyPr wrap="square" rtlCol="0">
            <a:spAutoFit/>
          </a:bodyPr>
          <a:lstStyle/>
          <a:p>
            <a:r>
              <a:rPr lang="en-US" altLang="zh-CN" sz="2400" dirty="0">
                <a:solidFill>
                  <a:schemeClr val="bg1"/>
                </a:solidFill>
                <a:latin typeface="Bauhaus 93" panose="04030905020B02020C02" pitchFamily="82" charset="0"/>
              </a:rPr>
              <a:t>03</a:t>
            </a:r>
            <a:endParaRPr lang="zh-CN" altLang="en-US" sz="2400" dirty="0">
              <a:solidFill>
                <a:schemeClr val="bg1"/>
              </a:solidFill>
              <a:latin typeface="Bauhaus 93" panose="04030905020B02020C02" pitchFamily="82" charset="0"/>
            </a:endParaRPr>
          </a:p>
        </p:txBody>
      </p:sp>
      <p:sp>
        <p:nvSpPr>
          <p:cNvPr id="37" name="椭圆 36">
            <a:extLst>
              <a:ext uri="{FF2B5EF4-FFF2-40B4-BE49-F238E27FC236}">
                <a16:creationId xmlns:a16="http://schemas.microsoft.com/office/drawing/2014/main" id="{7A007603-F3D9-40C8-B984-92A6C591C1ED}"/>
              </a:ext>
            </a:extLst>
          </p:cNvPr>
          <p:cNvSpPr/>
          <p:nvPr/>
        </p:nvSpPr>
        <p:spPr>
          <a:xfrm rot="14219635">
            <a:off x="-422765" y="-198887"/>
            <a:ext cx="872276" cy="872276"/>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6E536261-448B-42D2-AA47-008BC8415B5E}"/>
              </a:ext>
            </a:extLst>
          </p:cNvPr>
          <p:cNvSpPr/>
          <p:nvPr/>
        </p:nvSpPr>
        <p:spPr>
          <a:xfrm rot="14219635">
            <a:off x="367756" y="1142977"/>
            <a:ext cx="163510" cy="163510"/>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0" name="图片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359445"/>
            <a:ext cx="3374582" cy="537824"/>
          </a:xfrm>
          <a:prstGeom prst="rect">
            <a:avLst/>
          </a:prstGeom>
        </p:spPr>
      </p:pic>
      <p:sp>
        <p:nvSpPr>
          <p:cNvPr id="3" name="矩形 2"/>
          <p:cNvSpPr/>
          <p:nvPr/>
        </p:nvSpPr>
        <p:spPr>
          <a:xfrm>
            <a:off x="1055472" y="2085464"/>
            <a:ext cx="6184119" cy="1938992"/>
          </a:xfrm>
          <a:prstGeom prst="rect">
            <a:avLst/>
          </a:prstGeom>
        </p:spPr>
        <p:txBody>
          <a:bodyPr wrap="square">
            <a:spAutoFit/>
          </a:bodyPr>
          <a:lstStyle/>
          <a:p>
            <a:pPr>
              <a:lnSpc>
                <a:spcPct val="200000"/>
              </a:lnSpc>
            </a:pPr>
            <a:r>
              <a:rPr lang="zh-CN" altLang="en-US" sz="2000" dirty="0">
                <a:solidFill>
                  <a:schemeClr val="tx1">
                    <a:lumMod val="50000"/>
                  </a:schemeClr>
                </a:solidFill>
                <a:latin typeface="+mn-ea"/>
              </a:rPr>
              <a:t>以</a:t>
            </a:r>
            <a:r>
              <a:rPr lang="en-US" altLang="zh-CN" sz="2000" dirty="0">
                <a:solidFill>
                  <a:schemeClr val="tx1">
                    <a:lumMod val="50000"/>
                  </a:schemeClr>
                </a:solidFill>
                <a:latin typeface="+mn-ea"/>
              </a:rPr>
              <a:t>MLM</a:t>
            </a:r>
            <a:r>
              <a:rPr lang="zh-CN" altLang="en-US" sz="2000" dirty="0">
                <a:solidFill>
                  <a:schemeClr val="tx1">
                    <a:lumMod val="50000"/>
                  </a:schemeClr>
                </a:solidFill>
                <a:latin typeface="+mn-ea"/>
              </a:rPr>
              <a:t>（</a:t>
            </a:r>
            <a:r>
              <a:rPr lang="en-US" altLang="zh-CN" sz="2000" dirty="0">
                <a:solidFill>
                  <a:schemeClr val="tx1">
                    <a:lumMod val="50000"/>
                  </a:schemeClr>
                </a:solidFill>
                <a:latin typeface="+mn-ea"/>
              </a:rPr>
              <a:t>masked  language model</a:t>
            </a:r>
            <a:r>
              <a:rPr lang="zh-CN" altLang="en-US" sz="2000" dirty="0">
                <a:solidFill>
                  <a:schemeClr val="tx1">
                    <a:lumMod val="50000"/>
                  </a:schemeClr>
                </a:solidFill>
                <a:latin typeface="+mn-ea"/>
              </a:rPr>
              <a:t>）为预训练目标</a:t>
            </a:r>
            <a:endParaRPr lang="en-US" altLang="zh-CN" sz="2000" dirty="0">
              <a:solidFill>
                <a:schemeClr val="tx1">
                  <a:lumMod val="50000"/>
                </a:schemeClr>
              </a:solidFill>
              <a:latin typeface="+mn-ea"/>
            </a:endParaRPr>
          </a:p>
          <a:p>
            <a:pPr>
              <a:lnSpc>
                <a:spcPct val="200000"/>
              </a:lnSpc>
            </a:pPr>
            <a:r>
              <a:rPr lang="zh-CN" altLang="en-US" sz="2000" dirty="0">
                <a:solidFill>
                  <a:schemeClr val="tx1">
                    <a:lumMod val="50000"/>
                  </a:schemeClr>
                </a:solidFill>
                <a:latin typeface="+mn-ea"/>
              </a:rPr>
              <a:t>采用</a:t>
            </a:r>
            <a:r>
              <a:rPr lang="en-US" altLang="zh-CN" sz="2000" dirty="0" err="1">
                <a:solidFill>
                  <a:schemeClr val="tx1">
                    <a:lumMod val="50000"/>
                  </a:schemeClr>
                </a:solidFill>
                <a:latin typeface="+mn-ea"/>
              </a:rPr>
              <a:t>RoBERTa</a:t>
            </a:r>
            <a:r>
              <a:rPr lang="en-US" altLang="zh-CN" sz="2000" dirty="0">
                <a:solidFill>
                  <a:schemeClr val="tx1">
                    <a:lumMod val="50000"/>
                  </a:schemeClr>
                </a:solidFill>
                <a:latin typeface="+mn-ea"/>
              </a:rPr>
              <a:t> checkpoint </a:t>
            </a:r>
            <a:r>
              <a:rPr lang="zh-CN" altLang="en-US" sz="2000" dirty="0">
                <a:solidFill>
                  <a:schemeClr val="tx1">
                    <a:lumMod val="50000"/>
                  </a:schemeClr>
                </a:solidFill>
                <a:latin typeface="+mn-ea"/>
              </a:rPr>
              <a:t>进行热启动</a:t>
            </a:r>
            <a:endParaRPr lang="en-US" altLang="zh-CN" sz="2000" dirty="0">
              <a:solidFill>
                <a:schemeClr val="tx1">
                  <a:lumMod val="50000"/>
                </a:schemeClr>
              </a:solidFill>
              <a:latin typeface="+mn-ea"/>
            </a:endParaRPr>
          </a:p>
          <a:p>
            <a:pPr>
              <a:lnSpc>
                <a:spcPct val="200000"/>
              </a:lnSpc>
            </a:pPr>
            <a:r>
              <a:rPr lang="zh-CN" altLang="en-US" sz="2000" dirty="0">
                <a:solidFill>
                  <a:schemeClr val="tx1">
                    <a:lumMod val="50000"/>
                  </a:schemeClr>
                </a:solidFill>
                <a:latin typeface="+mn-ea"/>
              </a:rPr>
              <a:t>采用</a:t>
            </a:r>
            <a:r>
              <a:rPr lang="en-US" altLang="zh-CN" sz="2000" dirty="0">
                <a:solidFill>
                  <a:schemeClr val="tx1">
                    <a:lumMod val="50000"/>
                  </a:schemeClr>
                </a:solidFill>
                <a:latin typeface="+mn-ea"/>
              </a:rPr>
              <a:t>4</a:t>
            </a:r>
            <a:r>
              <a:rPr lang="zh-CN" altLang="en-US" sz="2000" dirty="0">
                <a:solidFill>
                  <a:schemeClr val="tx1">
                    <a:lumMod val="50000"/>
                  </a:schemeClr>
                </a:solidFill>
                <a:latin typeface="+mn-ea"/>
              </a:rPr>
              <a:t>个标准数据集（见下表）</a:t>
            </a:r>
            <a:endParaRPr lang="en-US" altLang="zh-CN" sz="2000" dirty="0">
              <a:solidFill>
                <a:schemeClr val="tx1">
                  <a:lumMod val="50000"/>
                </a:schemeClr>
              </a:solidFill>
              <a:latin typeface="+mn-ea"/>
            </a:endParaRPr>
          </a:p>
        </p:txBody>
      </p:sp>
      <p:sp>
        <p:nvSpPr>
          <p:cNvPr id="4" name="矩形 3"/>
          <p:cNvSpPr/>
          <p:nvPr/>
        </p:nvSpPr>
        <p:spPr>
          <a:xfrm>
            <a:off x="8324480" y="2957431"/>
            <a:ext cx="2038187" cy="461665"/>
          </a:xfrm>
          <a:prstGeom prst="rect">
            <a:avLst/>
          </a:prstGeom>
        </p:spPr>
        <p:txBody>
          <a:bodyPr wrap="none">
            <a:spAutoFit/>
          </a:bodyPr>
          <a:lstStyle/>
          <a:p>
            <a:r>
              <a:rPr lang="en-US" altLang="zh-CN" sz="2400" dirty="0">
                <a:solidFill>
                  <a:srgbClr val="4D3F82"/>
                </a:solidFill>
                <a:effectLst>
                  <a:outerShdw blurRad="38100" dist="38100" dir="2700000" algn="tl">
                    <a:srgbClr val="000000">
                      <a:alpha val="43137"/>
                    </a:srgbClr>
                  </a:outerShdw>
                </a:effectLst>
                <a:latin typeface="+mn-ea"/>
              </a:rPr>
              <a:t>Big Bird </a:t>
            </a:r>
            <a:r>
              <a:rPr lang="zh-CN" altLang="en-US" sz="2400" dirty="0">
                <a:solidFill>
                  <a:srgbClr val="4D3F82"/>
                </a:solidFill>
                <a:effectLst>
                  <a:outerShdw blurRad="38100" dist="38100" dir="2700000" algn="tl">
                    <a:srgbClr val="000000">
                      <a:alpha val="43137"/>
                    </a:srgbClr>
                  </a:outerShdw>
                </a:effectLst>
                <a:latin typeface="+mn-ea"/>
              </a:rPr>
              <a:t>模型</a:t>
            </a:r>
            <a:endParaRPr lang="zh-CN" altLang="en-US" sz="2400" dirty="0">
              <a:solidFill>
                <a:srgbClr val="4D3F82"/>
              </a:solidFill>
              <a:effectLst>
                <a:outerShdw blurRad="38100" dist="38100" dir="2700000" algn="tl">
                  <a:srgbClr val="000000">
                    <a:alpha val="43137"/>
                  </a:srgbClr>
                </a:outerShdw>
              </a:effectLst>
            </a:endParaRPr>
          </a:p>
        </p:txBody>
      </p:sp>
      <p:sp>
        <p:nvSpPr>
          <p:cNvPr id="5" name="矩形 4"/>
          <p:cNvSpPr/>
          <p:nvPr/>
        </p:nvSpPr>
        <p:spPr>
          <a:xfrm>
            <a:off x="8324480" y="3362805"/>
            <a:ext cx="2095500" cy="369332"/>
          </a:xfrm>
          <a:prstGeom prst="rect">
            <a:avLst/>
          </a:prstGeom>
        </p:spPr>
        <p:txBody>
          <a:bodyPr wrap="square">
            <a:spAutoFit/>
          </a:bodyPr>
          <a:lstStyle/>
          <a:p>
            <a:r>
              <a:rPr lang="en-US" altLang="zh-CN" dirty="0">
                <a:solidFill>
                  <a:schemeClr val="tx1">
                    <a:lumMod val="50000"/>
                  </a:schemeClr>
                </a:solidFill>
                <a:latin typeface="+mn-ea"/>
              </a:rPr>
              <a:t>(base</a:t>
            </a:r>
            <a:r>
              <a:rPr lang="zh-CN" altLang="en-US" dirty="0">
                <a:solidFill>
                  <a:schemeClr val="tx1">
                    <a:lumMod val="50000"/>
                  </a:schemeClr>
                </a:solidFill>
                <a:latin typeface="+mn-ea"/>
              </a:rPr>
              <a:t>版和</a:t>
            </a:r>
            <a:r>
              <a:rPr lang="en-US" altLang="zh-CN" dirty="0">
                <a:solidFill>
                  <a:schemeClr val="tx1">
                    <a:lumMod val="50000"/>
                  </a:schemeClr>
                </a:solidFill>
                <a:latin typeface="+mn-ea"/>
              </a:rPr>
              <a:t>large</a:t>
            </a:r>
            <a:r>
              <a:rPr lang="zh-CN" altLang="en-US" dirty="0">
                <a:solidFill>
                  <a:schemeClr val="tx1">
                    <a:lumMod val="50000"/>
                  </a:schemeClr>
                </a:solidFill>
                <a:latin typeface="+mn-ea"/>
              </a:rPr>
              <a:t>版</a:t>
            </a:r>
            <a:r>
              <a:rPr lang="en-US" altLang="zh-CN" dirty="0">
                <a:solidFill>
                  <a:schemeClr val="tx1">
                    <a:lumMod val="50000"/>
                  </a:schemeClr>
                </a:solidFill>
                <a:latin typeface="+mn-ea"/>
              </a:rPr>
              <a:t>)</a:t>
            </a:r>
            <a:endParaRPr lang="zh-CN" altLang="en-US" dirty="0"/>
          </a:p>
        </p:txBody>
      </p:sp>
      <p:sp>
        <p:nvSpPr>
          <p:cNvPr id="7" name="矩形 6"/>
          <p:cNvSpPr/>
          <p:nvPr/>
        </p:nvSpPr>
        <p:spPr>
          <a:xfrm>
            <a:off x="1085980" y="1413414"/>
            <a:ext cx="1606176" cy="707886"/>
          </a:xfrm>
          <a:prstGeom prst="rect">
            <a:avLst/>
          </a:prstGeom>
        </p:spPr>
        <p:txBody>
          <a:bodyPr wrap="square">
            <a:spAutoFit/>
          </a:bodyPr>
          <a:lstStyle/>
          <a:p>
            <a:pPr>
              <a:lnSpc>
                <a:spcPct val="200000"/>
              </a:lnSpc>
            </a:pPr>
            <a:r>
              <a:rPr lang="zh-CN" altLang="en-US" sz="2000" dirty="0">
                <a:solidFill>
                  <a:schemeClr val="tx1">
                    <a:lumMod val="50000"/>
                  </a:schemeClr>
                </a:solidFill>
                <a:latin typeface="+mn-ea"/>
              </a:rPr>
              <a:t>预训练模型</a:t>
            </a:r>
            <a:endParaRPr lang="en-US" altLang="zh-CN" sz="2000" dirty="0">
              <a:solidFill>
                <a:schemeClr val="tx1">
                  <a:lumMod val="50000"/>
                </a:schemeClr>
              </a:solidFill>
              <a:latin typeface="+mn-ea"/>
            </a:endParaRPr>
          </a:p>
        </p:txBody>
      </p:sp>
      <p:sp>
        <p:nvSpPr>
          <p:cNvPr id="19" name="Shape 3880"/>
          <p:cNvSpPr/>
          <p:nvPr/>
        </p:nvSpPr>
        <p:spPr>
          <a:xfrm>
            <a:off x="711200" y="1642661"/>
            <a:ext cx="359999" cy="325839"/>
          </a:xfrm>
          <a:custGeom>
            <a:avLst/>
            <a:gdLst/>
            <a:ahLst/>
            <a:cxnLst/>
            <a:rect l="0" t="0" r="0" b="0"/>
            <a:pathLst>
              <a:path w="120000" h="120000" extrusionOk="0">
                <a:moveTo>
                  <a:pt x="113446" y="61993"/>
                </a:moveTo>
                <a:lnTo>
                  <a:pt x="113446" y="61993"/>
                </a:lnTo>
                <a:cubicBezTo>
                  <a:pt x="100564" y="61993"/>
                  <a:pt x="100564" y="61993"/>
                  <a:pt x="100564" y="61993"/>
                </a:cubicBezTo>
                <a:cubicBezTo>
                  <a:pt x="95819" y="61993"/>
                  <a:pt x="94237" y="59202"/>
                  <a:pt x="94237" y="56411"/>
                </a:cubicBezTo>
                <a:cubicBezTo>
                  <a:pt x="94237" y="33887"/>
                  <a:pt x="94237" y="33887"/>
                  <a:pt x="94237" y="33887"/>
                </a:cubicBezTo>
                <a:cubicBezTo>
                  <a:pt x="94237" y="31096"/>
                  <a:pt x="95819" y="28305"/>
                  <a:pt x="100564" y="28305"/>
                </a:cubicBezTo>
                <a:cubicBezTo>
                  <a:pt x="113446" y="28305"/>
                  <a:pt x="113446" y="28305"/>
                  <a:pt x="113446" y="28305"/>
                </a:cubicBezTo>
                <a:cubicBezTo>
                  <a:pt x="116610" y="28305"/>
                  <a:pt x="119774" y="31096"/>
                  <a:pt x="119774" y="33887"/>
                </a:cubicBezTo>
                <a:cubicBezTo>
                  <a:pt x="119774" y="56411"/>
                  <a:pt x="119774" y="56411"/>
                  <a:pt x="119774" y="56411"/>
                </a:cubicBezTo>
                <a:cubicBezTo>
                  <a:pt x="119774" y="59202"/>
                  <a:pt x="116610" y="61993"/>
                  <a:pt x="113446" y="61993"/>
                </a:cubicBezTo>
                <a:close/>
                <a:moveTo>
                  <a:pt x="100564" y="5780"/>
                </a:moveTo>
                <a:lnTo>
                  <a:pt x="100564" y="5780"/>
                </a:lnTo>
                <a:cubicBezTo>
                  <a:pt x="100564" y="2990"/>
                  <a:pt x="102146" y="0"/>
                  <a:pt x="106892" y="0"/>
                </a:cubicBezTo>
                <a:cubicBezTo>
                  <a:pt x="110056" y="0"/>
                  <a:pt x="113446" y="2990"/>
                  <a:pt x="113446" y="5780"/>
                </a:cubicBezTo>
                <a:cubicBezTo>
                  <a:pt x="113446" y="22524"/>
                  <a:pt x="113446" y="22524"/>
                  <a:pt x="113446" y="22524"/>
                </a:cubicBezTo>
                <a:cubicBezTo>
                  <a:pt x="100564" y="22524"/>
                  <a:pt x="100564" y="22524"/>
                  <a:pt x="100564" y="22524"/>
                </a:cubicBezTo>
                <a:lnTo>
                  <a:pt x="100564" y="5780"/>
                </a:lnTo>
                <a:close/>
                <a:moveTo>
                  <a:pt x="65536" y="91694"/>
                </a:moveTo>
                <a:lnTo>
                  <a:pt x="65536" y="91694"/>
                </a:lnTo>
                <a:cubicBezTo>
                  <a:pt x="52655" y="91694"/>
                  <a:pt x="52655" y="91694"/>
                  <a:pt x="52655" y="91694"/>
                </a:cubicBezTo>
                <a:cubicBezTo>
                  <a:pt x="49491" y="91694"/>
                  <a:pt x="46327" y="90299"/>
                  <a:pt x="46327" y="85913"/>
                </a:cubicBezTo>
                <a:cubicBezTo>
                  <a:pt x="46327" y="63388"/>
                  <a:pt x="46327" y="63388"/>
                  <a:pt x="46327" y="63388"/>
                </a:cubicBezTo>
                <a:cubicBezTo>
                  <a:pt x="46327" y="60598"/>
                  <a:pt x="49491" y="57807"/>
                  <a:pt x="52655" y="57807"/>
                </a:cubicBezTo>
                <a:cubicBezTo>
                  <a:pt x="65536" y="57807"/>
                  <a:pt x="65536" y="57807"/>
                  <a:pt x="65536" y="57807"/>
                </a:cubicBezTo>
                <a:cubicBezTo>
                  <a:pt x="70282" y="57807"/>
                  <a:pt x="71864" y="60598"/>
                  <a:pt x="71864" y="63388"/>
                </a:cubicBezTo>
                <a:cubicBezTo>
                  <a:pt x="71864" y="85913"/>
                  <a:pt x="71864" y="85913"/>
                  <a:pt x="71864" y="85913"/>
                </a:cubicBezTo>
                <a:cubicBezTo>
                  <a:pt x="71864" y="90299"/>
                  <a:pt x="70282" y="91694"/>
                  <a:pt x="65536" y="91694"/>
                </a:cubicBezTo>
                <a:close/>
                <a:moveTo>
                  <a:pt x="52655" y="5780"/>
                </a:moveTo>
                <a:lnTo>
                  <a:pt x="52655" y="5780"/>
                </a:lnTo>
                <a:cubicBezTo>
                  <a:pt x="52655" y="2990"/>
                  <a:pt x="55819" y="0"/>
                  <a:pt x="58983" y="0"/>
                </a:cubicBezTo>
                <a:cubicBezTo>
                  <a:pt x="63954" y="0"/>
                  <a:pt x="65536" y="2990"/>
                  <a:pt x="65536" y="5780"/>
                </a:cubicBezTo>
                <a:cubicBezTo>
                  <a:pt x="65536" y="52225"/>
                  <a:pt x="65536" y="52225"/>
                  <a:pt x="65536" y="52225"/>
                </a:cubicBezTo>
                <a:cubicBezTo>
                  <a:pt x="52655" y="52225"/>
                  <a:pt x="52655" y="52225"/>
                  <a:pt x="52655" y="52225"/>
                </a:cubicBezTo>
                <a:lnTo>
                  <a:pt x="52655" y="5780"/>
                </a:lnTo>
                <a:close/>
                <a:moveTo>
                  <a:pt x="19209" y="77541"/>
                </a:moveTo>
                <a:lnTo>
                  <a:pt x="19209" y="77541"/>
                </a:lnTo>
                <a:cubicBezTo>
                  <a:pt x="6327" y="77541"/>
                  <a:pt x="6327" y="77541"/>
                  <a:pt x="6327" y="77541"/>
                </a:cubicBezTo>
                <a:cubicBezTo>
                  <a:pt x="3163" y="77541"/>
                  <a:pt x="0" y="74750"/>
                  <a:pt x="0" y="71960"/>
                </a:cubicBezTo>
                <a:cubicBezTo>
                  <a:pt x="0" y="49435"/>
                  <a:pt x="0" y="49435"/>
                  <a:pt x="0" y="49435"/>
                </a:cubicBezTo>
                <a:cubicBezTo>
                  <a:pt x="0" y="45049"/>
                  <a:pt x="3163" y="43654"/>
                  <a:pt x="6327" y="43654"/>
                </a:cubicBezTo>
                <a:cubicBezTo>
                  <a:pt x="19209" y="43654"/>
                  <a:pt x="19209" y="43654"/>
                  <a:pt x="19209" y="43654"/>
                </a:cubicBezTo>
                <a:cubicBezTo>
                  <a:pt x="22372" y="43654"/>
                  <a:pt x="25536" y="45049"/>
                  <a:pt x="25536" y="49435"/>
                </a:cubicBezTo>
                <a:cubicBezTo>
                  <a:pt x="25536" y="71960"/>
                  <a:pt x="25536" y="71960"/>
                  <a:pt x="25536" y="71960"/>
                </a:cubicBezTo>
                <a:cubicBezTo>
                  <a:pt x="25536" y="74750"/>
                  <a:pt x="22372" y="77541"/>
                  <a:pt x="19209" y="77541"/>
                </a:cubicBezTo>
                <a:close/>
                <a:moveTo>
                  <a:pt x="6327" y="5780"/>
                </a:moveTo>
                <a:lnTo>
                  <a:pt x="6327" y="5780"/>
                </a:lnTo>
                <a:cubicBezTo>
                  <a:pt x="6327" y="2990"/>
                  <a:pt x="9491" y="0"/>
                  <a:pt x="12655" y="0"/>
                </a:cubicBezTo>
                <a:cubicBezTo>
                  <a:pt x="16045" y="0"/>
                  <a:pt x="19209" y="2990"/>
                  <a:pt x="19209" y="5780"/>
                </a:cubicBezTo>
                <a:cubicBezTo>
                  <a:pt x="19209" y="38073"/>
                  <a:pt x="19209" y="38073"/>
                  <a:pt x="19209" y="38073"/>
                </a:cubicBezTo>
                <a:cubicBezTo>
                  <a:pt x="6327" y="38073"/>
                  <a:pt x="6327" y="38073"/>
                  <a:pt x="6327" y="38073"/>
                </a:cubicBezTo>
                <a:lnTo>
                  <a:pt x="6327" y="5780"/>
                </a:lnTo>
                <a:close/>
                <a:moveTo>
                  <a:pt x="19209" y="114219"/>
                </a:moveTo>
                <a:lnTo>
                  <a:pt x="19209" y="114219"/>
                </a:lnTo>
                <a:cubicBezTo>
                  <a:pt x="19209" y="118405"/>
                  <a:pt x="16045" y="119800"/>
                  <a:pt x="12655" y="119800"/>
                </a:cubicBezTo>
                <a:cubicBezTo>
                  <a:pt x="9491" y="119800"/>
                  <a:pt x="6327" y="118405"/>
                  <a:pt x="6327" y="114219"/>
                </a:cubicBezTo>
                <a:cubicBezTo>
                  <a:pt x="6327" y="83122"/>
                  <a:pt x="6327" y="83122"/>
                  <a:pt x="6327" y="83122"/>
                </a:cubicBezTo>
                <a:cubicBezTo>
                  <a:pt x="19209" y="83122"/>
                  <a:pt x="19209" y="83122"/>
                  <a:pt x="19209" y="83122"/>
                </a:cubicBezTo>
                <a:lnTo>
                  <a:pt x="19209" y="114219"/>
                </a:lnTo>
                <a:close/>
                <a:moveTo>
                  <a:pt x="65536" y="114219"/>
                </a:moveTo>
                <a:lnTo>
                  <a:pt x="65536" y="114219"/>
                </a:lnTo>
                <a:cubicBezTo>
                  <a:pt x="65536" y="118405"/>
                  <a:pt x="63954" y="119800"/>
                  <a:pt x="58983" y="119800"/>
                </a:cubicBezTo>
                <a:cubicBezTo>
                  <a:pt x="55819" y="119800"/>
                  <a:pt x="52655" y="118405"/>
                  <a:pt x="52655" y="114219"/>
                </a:cubicBezTo>
                <a:cubicBezTo>
                  <a:pt x="52655" y="97275"/>
                  <a:pt x="52655" y="97275"/>
                  <a:pt x="52655" y="97275"/>
                </a:cubicBezTo>
                <a:cubicBezTo>
                  <a:pt x="65536" y="97275"/>
                  <a:pt x="65536" y="97275"/>
                  <a:pt x="65536" y="97275"/>
                </a:cubicBezTo>
                <a:lnTo>
                  <a:pt x="65536" y="114219"/>
                </a:lnTo>
                <a:close/>
                <a:moveTo>
                  <a:pt x="113446" y="114219"/>
                </a:moveTo>
                <a:lnTo>
                  <a:pt x="113446" y="114219"/>
                </a:lnTo>
                <a:cubicBezTo>
                  <a:pt x="113446" y="118405"/>
                  <a:pt x="110056" y="119800"/>
                  <a:pt x="106892" y="119800"/>
                </a:cubicBezTo>
                <a:cubicBezTo>
                  <a:pt x="102146" y="119800"/>
                  <a:pt x="100564" y="118405"/>
                  <a:pt x="100564" y="114219"/>
                </a:cubicBezTo>
                <a:cubicBezTo>
                  <a:pt x="100564" y="67774"/>
                  <a:pt x="100564" y="67774"/>
                  <a:pt x="100564" y="67774"/>
                </a:cubicBezTo>
                <a:cubicBezTo>
                  <a:pt x="113446" y="67774"/>
                  <a:pt x="113446" y="67774"/>
                  <a:pt x="113446" y="67774"/>
                </a:cubicBezTo>
                <a:lnTo>
                  <a:pt x="113446" y="114219"/>
                </a:lnTo>
                <a:close/>
              </a:path>
            </a:pathLst>
          </a:custGeom>
          <a:solidFill>
            <a:srgbClr val="4D3F82"/>
          </a:solidFill>
          <a:ln>
            <a:noFill/>
          </a:ln>
        </p:spPr>
        <p:txBody>
          <a:bodyPr lIns="45713" tIns="22850" rIns="45713" bIns="22850"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Lato"/>
              <a:ea typeface="Lato"/>
              <a:cs typeface="Lato"/>
              <a:sym typeface="Lato"/>
            </a:endParaRPr>
          </a:p>
        </p:txBody>
      </p:sp>
      <p:sp>
        <p:nvSpPr>
          <p:cNvPr id="9" name="右箭头 8"/>
          <p:cNvSpPr/>
          <p:nvPr/>
        </p:nvSpPr>
        <p:spPr>
          <a:xfrm>
            <a:off x="6699841" y="2986399"/>
            <a:ext cx="1079500" cy="550685"/>
          </a:xfrm>
          <a:prstGeom prst="rightArrow">
            <a:avLst/>
          </a:prstGeom>
          <a:solidFill>
            <a:srgbClr val="4D3F8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Oval 20">
            <a:extLst>
              <a:ext uri="{FF2B5EF4-FFF2-40B4-BE49-F238E27FC236}">
                <a16:creationId xmlns:a16="http://schemas.microsoft.com/office/drawing/2014/main" id="{2638ECA5-2382-456A-BF1C-AFC7A7F8E9EF}"/>
              </a:ext>
            </a:extLst>
          </p:cNvPr>
          <p:cNvSpPr/>
          <p:nvPr/>
        </p:nvSpPr>
        <p:spPr>
          <a:xfrm>
            <a:off x="847298" y="2444435"/>
            <a:ext cx="138601" cy="133304"/>
          </a:xfrm>
          <a:prstGeom prst="ellipse">
            <a:avLst/>
          </a:prstGeom>
          <a:solidFill>
            <a:srgbClr val="4D3F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4D3F82"/>
              </a:solidFill>
              <a:effectLst/>
              <a:uLnTx/>
              <a:uFillTx/>
              <a:latin typeface="Century Gothic" panose="020B0502020202020204" pitchFamily="34" charset="0"/>
              <a:ea typeface="微软雅黑"/>
            </a:endParaRPr>
          </a:p>
        </p:txBody>
      </p:sp>
      <p:sp>
        <p:nvSpPr>
          <p:cNvPr id="22" name="Oval 20">
            <a:extLst>
              <a:ext uri="{FF2B5EF4-FFF2-40B4-BE49-F238E27FC236}">
                <a16:creationId xmlns:a16="http://schemas.microsoft.com/office/drawing/2014/main" id="{2638ECA5-2382-456A-BF1C-AFC7A7F8E9EF}"/>
              </a:ext>
            </a:extLst>
          </p:cNvPr>
          <p:cNvSpPr/>
          <p:nvPr/>
        </p:nvSpPr>
        <p:spPr>
          <a:xfrm>
            <a:off x="847298" y="3054960"/>
            <a:ext cx="138601" cy="133304"/>
          </a:xfrm>
          <a:prstGeom prst="ellipse">
            <a:avLst/>
          </a:prstGeom>
          <a:solidFill>
            <a:srgbClr val="4D3F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4D3F82"/>
              </a:solidFill>
              <a:effectLst/>
              <a:uLnTx/>
              <a:uFillTx/>
              <a:latin typeface="Century Gothic" panose="020B0502020202020204" pitchFamily="34" charset="0"/>
              <a:ea typeface="微软雅黑"/>
            </a:endParaRPr>
          </a:p>
        </p:txBody>
      </p:sp>
      <p:sp>
        <p:nvSpPr>
          <p:cNvPr id="23" name="Oval 20">
            <a:extLst>
              <a:ext uri="{FF2B5EF4-FFF2-40B4-BE49-F238E27FC236}">
                <a16:creationId xmlns:a16="http://schemas.microsoft.com/office/drawing/2014/main" id="{2638ECA5-2382-456A-BF1C-AFC7A7F8E9EF}"/>
              </a:ext>
            </a:extLst>
          </p:cNvPr>
          <p:cNvSpPr/>
          <p:nvPr/>
        </p:nvSpPr>
        <p:spPr>
          <a:xfrm>
            <a:off x="847297" y="3665485"/>
            <a:ext cx="138601" cy="133304"/>
          </a:xfrm>
          <a:prstGeom prst="ellipse">
            <a:avLst/>
          </a:prstGeom>
          <a:solidFill>
            <a:srgbClr val="4D3F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4D3F82"/>
              </a:solidFill>
              <a:effectLst/>
              <a:uLnTx/>
              <a:uFillTx/>
              <a:latin typeface="Century Gothic" panose="020B0502020202020204" pitchFamily="34" charset="0"/>
              <a:ea typeface="微软雅黑"/>
            </a:endParaRPr>
          </a:p>
        </p:txBody>
      </p:sp>
      <p:pic>
        <p:nvPicPr>
          <p:cNvPr id="10" name="图片 9"/>
          <p:cNvPicPr>
            <a:picLocks noChangeAspect="1"/>
          </p:cNvPicPr>
          <p:nvPr/>
        </p:nvPicPr>
        <p:blipFill>
          <a:blip r:embed="rId4"/>
          <a:stretch>
            <a:fillRect/>
          </a:stretch>
        </p:blipFill>
        <p:spPr>
          <a:xfrm>
            <a:off x="1045799" y="3940400"/>
            <a:ext cx="4943364" cy="2503102"/>
          </a:xfrm>
          <a:prstGeom prst="rect">
            <a:avLst/>
          </a:prstGeom>
        </p:spPr>
      </p:pic>
    </p:spTree>
    <p:extLst>
      <p:ext uri="{BB962C8B-B14F-4D97-AF65-F5344CB8AC3E}">
        <p14:creationId xmlns:p14="http://schemas.microsoft.com/office/powerpoint/2010/main" val="239362675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down)">
                                      <p:cBhvr>
                                        <p:cTn id="10" dur="500"/>
                                        <p:tgtEl>
                                          <p:spTgt spid="4"/>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down)">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文本框 19"/>
          <p:cNvSpPr txBox="1"/>
          <p:nvPr/>
        </p:nvSpPr>
        <p:spPr>
          <a:xfrm>
            <a:off x="1071199" y="457068"/>
            <a:ext cx="1620957" cy="523220"/>
          </a:xfrm>
          <a:prstGeom prst="rect">
            <a:avLst/>
          </a:prstGeom>
          <a:noFill/>
        </p:spPr>
        <p:txBody>
          <a:bodyPr wrap="none" rtlCol="0">
            <a:spAutoFit/>
          </a:bodyPr>
          <a:lstStyle/>
          <a:p>
            <a:pPr lvl="0">
              <a:defRPr/>
            </a:pPr>
            <a:r>
              <a:rPr kumimoji="0" lang="zh-CN" altLang="en-US" sz="2800" b="1" i="0" u="none" strike="noStrike" kern="1200" cap="none" spc="0" normalizeH="0" baseline="0" noProof="0" dirty="0">
                <a:ln>
                  <a:noFill/>
                </a:ln>
                <a:solidFill>
                  <a:srgbClr val="4D3F82"/>
                </a:solidFill>
                <a:effectLst/>
                <a:uLnTx/>
                <a:uFillTx/>
                <a:latin typeface="Calibri"/>
                <a:ea typeface="微软雅黑"/>
                <a:cs typeface="+mn-ea"/>
                <a:sym typeface="+mn-lt"/>
              </a:rPr>
              <a:t>实验结果</a:t>
            </a:r>
          </a:p>
        </p:txBody>
      </p:sp>
      <p:sp>
        <p:nvSpPr>
          <p:cNvPr id="6" name="椭圆 5">
            <a:extLst>
              <a:ext uri="{FF2B5EF4-FFF2-40B4-BE49-F238E27FC236}">
                <a16:creationId xmlns:a16="http://schemas.microsoft.com/office/drawing/2014/main" id="{DF773A56-49AF-444E-AF6D-49DFDB041C2E}"/>
              </a:ext>
            </a:extLst>
          </p:cNvPr>
          <p:cNvSpPr/>
          <p:nvPr/>
        </p:nvSpPr>
        <p:spPr>
          <a:xfrm>
            <a:off x="11073997" y="5889631"/>
            <a:ext cx="872276" cy="872276"/>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9723BAD4-F047-4320-87A0-E95852694C3F}"/>
              </a:ext>
            </a:extLst>
          </p:cNvPr>
          <p:cNvSpPr/>
          <p:nvPr/>
        </p:nvSpPr>
        <p:spPr>
          <a:xfrm rot="9430845">
            <a:off x="11432508" y="5123846"/>
            <a:ext cx="344849" cy="344849"/>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D4E3EEDC-7C8A-43DB-BD42-E8947B413BB8}"/>
              </a:ext>
            </a:extLst>
          </p:cNvPr>
          <p:cNvSpPr/>
          <p:nvPr/>
        </p:nvSpPr>
        <p:spPr>
          <a:xfrm rot="9430845">
            <a:off x="10447956" y="6589483"/>
            <a:ext cx="344849" cy="344849"/>
          </a:xfrm>
          <a:prstGeom prst="ellipse">
            <a:avLst/>
          </a:prstGeom>
          <a:solidFill>
            <a:srgbClr val="4D3F82"/>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EF07DB3A-3E81-4DC1-8E47-D5A7AB5ABD16}"/>
              </a:ext>
            </a:extLst>
          </p:cNvPr>
          <p:cNvSpPr/>
          <p:nvPr/>
        </p:nvSpPr>
        <p:spPr>
          <a:xfrm rot="9430845">
            <a:off x="528920" y="441278"/>
            <a:ext cx="503796" cy="511184"/>
          </a:xfrm>
          <a:prstGeom prst="ellipse">
            <a:avLst/>
          </a:prstGeom>
          <a:solidFill>
            <a:srgbClr val="4D3F8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FB187FA8-C04C-4322-891C-A741CEA371EC}"/>
              </a:ext>
            </a:extLst>
          </p:cNvPr>
          <p:cNvSpPr txBox="1"/>
          <p:nvPr/>
        </p:nvSpPr>
        <p:spPr>
          <a:xfrm>
            <a:off x="524715" y="466029"/>
            <a:ext cx="561265" cy="461665"/>
          </a:xfrm>
          <a:prstGeom prst="rect">
            <a:avLst/>
          </a:prstGeom>
          <a:noFill/>
        </p:spPr>
        <p:txBody>
          <a:bodyPr wrap="square" rtlCol="0">
            <a:spAutoFit/>
          </a:bodyPr>
          <a:lstStyle/>
          <a:p>
            <a:r>
              <a:rPr lang="en-US" altLang="zh-CN" sz="2400" dirty="0">
                <a:solidFill>
                  <a:schemeClr val="bg1"/>
                </a:solidFill>
                <a:latin typeface="Bauhaus 93" panose="04030905020B02020C02" pitchFamily="82" charset="0"/>
              </a:rPr>
              <a:t>03</a:t>
            </a:r>
            <a:endParaRPr lang="zh-CN" altLang="en-US" sz="2400" dirty="0">
              <a:solidFill>
                <a:schemeClr val="bg1"/>
              </a:solidFill>
              <a:latin typeface="Bauhaus 93" panose="04030905020B02020C02" pitchFamily="82" charset="0"/>
            </a:endParaRPr>
          </a:p>
        </p:txBody>
      </p:sp>
      <p:sp>
        <p:nvSpPr>
          <p:cNvPr id="37" name="椭圆 36">
            <a:extLst>
              <a:ext uri="{FF2B5EF4-FFF2-40B4-BE49-F238E27FC236}">
                <a16:creationId xmlns:a16="http://schemas.microsoft.com/office/drawing/2014/main" id="{7A007603-F3D9-40C8-B984-92A6C591C1ED}"/>
              </a:ext>
            </a:extLst>
          </p:cNvPr>
          <p:cNvSpPr/>
          <p:nvPr/>
        </p:nvSpPr>
        <p:spPr>
          <a:xfrm rot="14219635">
            <a:off x="-422765" y="-198887"/>
            <a:ext cx="872276" cy="872276"/>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6E536261-448B-42D2-AA47-008BC8415B5E}"/>
              </a:ext>
            </a:extLst>
          </p:cNvPr>
          <p:cNvSpPr/>
          <p:nvPr/>
        </p:nvSpPr>
        <p:spPr>
          <a:xfrm rot="14219635">
            <a:off x="367756" y="1142977"/>
            <a:ext cx="163510" cy="163510"/>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0" name="图片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359445"/>
            <a:ext cx="3374582" cy="537824"/>
          </a:xfrm>
          <a:prstGeom prst="rect">
            <a:avLst/>
          </a:prstGeom>
        </p:spPr>
      </p:pic>
      <p:sp>
        <p:nvSpPr>
          <p:cNvPr id="3" name="矩形 2"/>
          <p:cNvSpPr/>
          <p:nvPr/>
        </p:nvSpPr>
        <p:spPr>
          <a:xfrm>
            <a:off x="993190" y="1337828"/>
            <a:ext cx="9206720" cy="707886"/>
          </a:xfrm>
          <a:prstGeom prst="rect">
            <a:avLst/>
          </a:prstGeom>
        </p:spPr>
        <p:txBody>
          <a:bodyPr wrap="square">
            <a:spAutoFit/>
          </a:bodyPr>
          <a:lstStyle/>
          <a:p>
            <a:pPr>
              <a:lnSpc>
                <a:spcPct val="200000"/>
              </a:lnSpc>
            </a:pPr>
            <a:r>
              <a:rPr lang="en-US" altLang="zh-CN" sz="2000" dirty="0">
                <a:solidFill>
                  <a:schemeClr val="tx1">
                    <a:lumMod val="50000"/>
                  </a:schemeClr>
                </a:solidFill>
                <a:latin typeface="+mn-ea"/>
              </a:rPr>
              <a:t>1. </a:t>
            </a:r>
            <a:r>
              <a:rPr lang="zh-CN" altLang="en-US" sz="2000" dirty="0">
                <a:solidFill>
                  <a:schemeClr val="tx1">
                    <a:lumMod val="50000"/>
                  </a:schemeClr>
                </a:solidFill>
                <a:latin typeface="+mn-ea"/>
              </a:rPr>
              <a:t>测试随机</a:t>
            </a:r>
            <a:r>
              <a:rPr lang="en-US" altLang="zh-CN" sz="2000" dirty="0">
                <a:solidFill>
                  <a:schemeClr val="tx1">
                    <a:lumMod val="50000"/>
                  </a:schemeClr>
                </a:solidFill>
                <a:latin typeface="+mn-ea"/>
              </a:rPr>
              <a:t>attention</a:t>
            </a:r>
            <a:r>
              <a:rPr lang="zh-CN" altLang="en-US" sz="2000" dirty="0">
                <a:solidFill>
                  <a:schemeClr val="tx1">
                    <a:lumMod val="50000"/>
                  </a:schemeClr>
                </a:solidFill>
                <a:latin typeface="+mn-ea"/>
              </a:rPr>
              <a:t>（</a:t>
            </a:r>
            <a:r>
              <a:rPr lang="en-US" altLang="zh-CN" sz="2000" dirty="0">
                <a:solidFill>
                  <a:schemeClr val="tx1">
                    <a:lumMod val="50000"/>
                  </a:schemeClr>
                </a:solidFill>
                <a:latin typeface="+mn-ea"/>
              </a:rPr>
              <a:t>R</a:t>
            </a:r>
            <a:r>
              <a:rPr lang="zh-CN" altLang="en-US" sz="2000" dirty="0">
                <a:solidFill>
                  <a:schemeClr val="tx1">
                    <a:lumMod val="50000"/>
                  </a:schemeClr>
                </a:solidFill>
                <a:latin typeface="+mn-ea"/>
              </a:rPr>
              <a:t>）和滑动窗</a:t>
            </a:r>
            <a:r>
              <a:rPr lang="en-US" altLang="zh-CN" sz="2000" dirty="0">
                <a:solidFill>
                  <a:schemeClr val="tx1">
                    <a:lumMod val="50000"/>
                  </a:schemeClr>
                </a:solidFill>
                <a:latin typeface="+mn-ea"/>
              </a:rPr>
              <a:t>attention</a:t>
            </a:r>
            <a:r>
              <a:rPr lang="zh-CN" altLang="en-US" sz="2000" dirty="0">
                <a:solidFill>
                  <a:schemeClr val="tx1">
                    <a:lumMod val="50000"/>
                  </a:schemeClr>
                </a:solidFill>
                <a:latin typeface="+mn-ea"/>
              </a:rPr>
              <a:t>（</a:t>
            </a:r>
            <a:r>
              <a:rPr lang="en-US" altLang="zh-CN" sz="2000" dirty="0">
                <a:solidFill>
                  <a:schemeClr val="tx1">
                    <a:lumMod val="50000"/>
                  </a:schemeClr>
                </a:solidFill>
                <a:latin typeface="+mn-ea"/>
              </a:rPr>
              <a:t>W</a:t>
            </a:r>
            <a:r>
              <a:rPr lang="zh-CN" altLang="en-US" sz="2000" dirty="0">
                <a:solidFill>
                  <a:schemeClr val="tx1">
                    <a:lumMod val="50000"/>
                  </a:schemeClr>
                </a:solidFill>
                <a:latin typeface="+mn-ea"/>
              </a:rPr>
              <a:t>）的性能是否接近</a:t>
            </a:r>
            <a:r>
              <a:rPr lang="en-US" altLang="zh-CN" sz="2000" dirty="0">
                <a:solidFill>
                  <a:schemeClr val="tx1">
                    <a:lumMod val="50000"/>
                  </a:schemeClr>
                </a:solidFill>
                <a:latin typeface="+mn-ea"/>
              </a:rPr>
              <a:t>BERT</a:t>
            </a:r>
          </a:p>
        </p:txBody>
      </p:sp>
      <p:pic>
        <p:nvPicPr>
          <p:cNvPr id="2" name="图片 1"/>
          <p:cNvPicPr>
            <a:picLocks noChangeAspect="1"/>
          </p:cNvPicPr>
          <p:nvPr/>
        </p:nvPicPr>
        <p:blipFill>
          <a:blip r:embed="rId4"/>
          <a:stretch>
            <a:fillRect/>
          </a:stretch>
        </p:blipFill>
        <p:spPr>
          <a:xfrm>
            <a:off x="3200109" y="2209746"/>
            <a:ext cx="5151226" cy="2641654"/>
          </a:xfrm>
          <a:prstGeom prst="rect">
            <a:avLst/>
          </a:prstGeom>
        </p:spPr>
      </p:pic>
      <p:sp>
        <p:nvSpPr>
          <p:cNvPr id="4" name="矩形 3"/>
          <p:cNvSpPr/>
          <p:nvPr/>
        </p:nvSpPr>
        <p:spPr>
          <a:xfrm>
            <a:off x="1490408" y="5026112"/>
            <a:ext cx="9583590" cy="923330"/>
          </a:xfrm>
          <a:prstGeom prst="rect">
            <a:avLst/>
          </a:prstGeom>
        </p:spPr>
        <p:txBody>
          <a:bodyPr wrap="square">
            <a:spAutoFit/>
          </a:bodyPr>
          <a:lstStyle/>
          <a:p>
            <a:pPr>
              <a:lnSpc>
                <a:spcPct val="150000"/>
              </a:lnSpc>
            </a:pPr>
            <a:r>
              <a:rPr lang="zh-CN" altLang="en-US" dirty="0">
                <a:solidFill>
                  <a:schemeClr val="tx1">
                    <a:lumMod val="50000"/>
                  </a:schemeClr>
                </a:solidFill>
                <a:latin typeface="+mn-ea"/>
              </a:rPr>
              <a:t>从表中可以看出，</a:t>
            </a:r>
            <a:r>
              <a:rPr lang="en-US" altLang="zh-CN" dirty="0">
                <a:solidFill>
                  <a:schemeClr val="tx1">
                    <a:lumMod val="50000"/>
                  </a:schemeClr>
                </a:solidFill>
                <a:latin typeface="+mn-ea"/>
              </a:rPr>
              <a:t>R </a:t>
            </a:r>
            <a:r>
              <a:rPr lang="zh-CN" altLang="en-US" dirty="0">
                <a:solidFill>
                  <a:schemeClr val="tx1">
                    <a:lumMod val="50000"/>
                  </a:schemeClr>
                </a:solidFill>
                <a:latin typeface="+mn-ea"/>
              </a:rPr>
              <a:t>和 </a:t>
            </a:r>
            <a:r>
              <a:rPr lang="en-US" altLang="zh-CN" dirty="0">
                <a:solidFill>
                  <a:schemeClr val="tx1">
                    <a:lumMod val="50000"/>
                  </a:schemeClr>
                </a:solidFill>
                <a:latin typeface="+mn-ea"/>
              </a:rPr>
              <a:t>W 2</a:t>
            </a:r>
            <a:r>
              <a:rPr lang="zh-CN" altLang="en-US" dirty="0">
                <a:solidFill>
                  <a:schemeClr val="tx1">
                    <a:lumMod val="50000"/>
                  </a:schemeClr>
                </a:solidFill>
                <a:latin typeface="+mn-ea"/>
              </a:rPr>
              <a:t>种</a:t>
            </a:r>
            <a:r>
              <a:rPr lang="en-US" altLang="zh-CN" dirty="0">
                <a:solidFill>
                  <a:schemeClr val="tx1">
                    <a:lumMod val="50000"/>
                  </a:schemeClr>
                </a:solidFill>
                <a:latin typeface="+mn-ea"/>
              </a:rPr>
              <a:t>attention</a:t>
            </a:r>
            <a:r>
              <a:rPr lang="zh-CN" altLang="en-US" dirty="0">
                <a:solidFill>
                  <a:schemeClr val="tx1">
                    <a:lumMod val="50000"/>
                  </a:schemeClr>
                </a:solidFill>
                <a:latin typeface="+mn-ea"/>
              </a:rPr>
              <a:t>方法在获取上下文信息上性能不如</a:t>
            </a:r>
            <a:r>
              <a:rPr lang="en-US" altLang="zh-CN" dirty="0">
                <a:solidFill>
                  <a:schemeClr val="tx1">
                    <a:lumMod val="50000"/>
                  </a:schemeClr>
                </a:solidFill>
                <a:latin typeface="+mn-ea"/>
              </a:rPr>
              <a:t>BERT</a:t>
            </a:r>
            <a:r>
              <a:rPr lang="zh-CN" altLang="en-US" dirty="0">
                <a:solidFill>
                  <a:schemeClr val="tx1">
                    <a:lumMod val="50000"/>
                  </a:schemeClr>
                </a:solidFill>
                <a:latin typeface="+mn-ea"/>
              </a:rPr>
              <a:t>，在加入全局</a:t>
            </a:r>
            <a:r>
              <a:rPr lang="en-US" altLang="zh-CN" dirty="0">
                <a:solidFill>
                  <a:schemeClr val="tx1">
                    <a:lumMod val="50000"/>
                  </a:schemeClr>
                </a:solidFill>
                <a:latin typeface="+mn-ea"/>
              </a:rPr>
              <a:t>token</a:t>
            </a:r>
            <a:r>
              <a:rPr lang="zh-CN" altLang="en-US" dirty="0">
                <a:solidFill>
                  <a:schemeClr val="tx1">
                    <a:lumMod val="50000"/>
                  </a:schemeClr>
                </a:solidFill>
                <a:latin typeface="+mn-ea"/>
              </a:rPr>
              <a:t>后性能相当。</a:t>
            </a:r>
            <a:endParaRPr lang="zh-CN" altLang="en-US" dirty="0"/>
          </a:p>
        </p:txBody>
      </p:sp>
    </p:spTree>
    <p:extLst>
      <p:ext uri="{BB962C8B-B14F-4D97-AF65-F5344CB8AC3E}">
        <p14:creationId xmlns:p14="http://schemas.microsoft.com/office/powerpoint/2010/main" val="1301783560"/>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文本框 19"/>
          <p:cNvSpPr txBox="1"/>
          <p:nvPr/>
        </p:nvSpPr>
        <p:spPr>
          <a:xfrm>
            <a:off x="1071199" y="457068"/>
            <a:ext cx="1620957" cy="523220"/>
          </a:xfrm>
          <a:prstGeom prst="rect">
            <a:avLst/>
          </a:prstGeom>
          <a:noFill/>
        </p:spPr>
        <p:txBody>
          <a:bodyPr wrap="none" rtlCol="0">
            <a:spAutoFit/>
          </a:bodyPr>
          <a:lstStyle/>
          <a:p>
            <a:pPr lvl="0">
              <a:defRPr/>
            </a:pPr>
            <a:r>
              <a:rPr kumimoji="0" lang="zh-CN" altLang="en-US" sz="2800" b="1" i="0" u="none" strike="noStrike" kern="1200" cap="none" spc="0" normalizeH="0" baseline="0" noProof="0" dirty="0">
                <a:ln>
                  <a:noFill/>
                </a:ln>
                <a:solidFill>
                  <a:srgbClr val="4D3F82"/>
                </a:solidFill>
                <a:effectLst/>
                <a:uLnTx/>
                <a:uFillTx/>
                <a:latin typeface="Calibri"/>
                <a:ea typeface="微软雅黑"/>
                <a:cs typeface="+mn-ea"/>
                <a:sym typeface="+mn-lt"/>
              </a:rPr>
              <a:t>实验结果</a:t>
            </a:r>
          </a:p>
        </p:txBody>
      </p:sp>
      <p:sp>
        <p:nvSpPr>
          <p:cNvPr id="6" name="椭圆 5">
            <a:extLst>
              <a:ext uri="{FF2B5EF4-FFF2-40B4-BE49-F238E27FC236}">
                <a16:creationId xmlns:a16="http://schemas.microsoft.com/office/drawing/2014/main" id="{DF773A56-49AF-444E-AF6D-49DFDB041C2E}"/>
              </a:ext>
            </a:extLst>
          </p:cNvPr>
          <p:cNvSpPr/>
          <p:nvPr/>
        </p:nvSpPr>
        <p:spPr>
          <a:xfrm>
            <a:off x="11073997" y="5889631"/>
            <a:ext cx="872276" cy="872276"/>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9723BAD4-F047-4320-87A0-E95852694C3F}"/>
              </a:ext>
            </a:extLst>
          </p:cNvPr>
          <p:cNvSpPr/>
          <p:nvPr/>
        </p:nvSpPr>
        <p:spPr>
          <a:xfrm rot="9430845">
            <a:off x="11432508" y="5123846"/>
            <a:ext cx="344849" cy="344849"/>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D4E3EEDC-7C8A-43DB-BD42-E8947B413BB8}"/>
              </a:ext>
            </a:extLst>
          </p:cNvPr>
          <p:cNvSpPr/>
          <p:nvPr/>
        </p:nvSpPr>
        <p:spPr>
          <a:xfrm rot="9430845">
            <a:off x="10447956" y="6589483"/>
            <a:ext cx="344849" cy="344849"/>
          </a:xfrm>
          <a:prstGeom prst="ellipse">
            <a:avLst/>
          </a:prstGeom>
          <a:solidFill>
            <a:srgbClr val="4D3F82"/>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EF07DB3A-3E81-4DC1-8E47-D5A7AB5ABD16}"/>
              </a:ext>
            </a:extLst>
          </p:cNvPr>
          <p:cNvSpPr/>
          <p:nvPr/>
        </p:nvSpPr>
        <p:spPr>
          <a:xfrm rot="9430845">
            <a:off x="528920" y="441278"/>
            <a:ext cx="503796" cy="511184"/>
          </a:xfrm>
          <a:prstGeom prst="ellipse">
            <a:avLst/>
          </a:prstGeom>
          <a:solidFill>
            <a:srgbClr val="4D3F8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FB187FA8-C04C-4322-891C-A741CEA371EC}"/>
              </a:ext>
            </a:extLst>
          </p:cNvPr>
          <p:cNvSpPr txBox="1"/>
          <p:nvPr/>
        </p:nvSpPr>
        <p:spPr>
          <a:xfrm>
            <a:off x="524715" y="466029"/>
            <a:ext cx="561265" cy="461665"/>
          </a:xfrm>
          <a:prstGeom prst="rect">
            <a:avLst/>
          </a:prstGeom>
          <a:noFill/>
        </p:spPr>
        <p:txBody>
          <a:bodyPr wrap="square" rtlCol="0">
            <a:spAutoFit/>
          </a:bodyPr>
          <a:lstStyle/>
          <a:p>
            <a:r>
              <a:rPr lang="en-US" altLang="zh-CN" sz="2400" dirty="0">
                <a:solidFill>
                  <a:schemeClr val="bg1"/>
                </a:solidFill>
                <a:latin typeface="Bauhaus 93" panose="04030905020B02020C02" pitchFamily="82" charset="0"/>
              </a:rPr>
              <a:t>03</a:t>
            </a:r>
            <a:endParaRPr lang="zh-CN" altLang="en-US" sz="2400" dirty="0">
              <a:solidFill>
                <a:schemeClr val="bg1"/>
              </a:solidFill>
              <a:latin typeface="Bauhaus 93" panose="04030905020B02020C02" pitchFamily="82" charset="0"/>
            </a:endParaRPr>
          </a:p>
        </p:txBody>
      </p:sp>
      <p:sp>
        <p:nvSpPr>
          <p:cNvPr id="37" name="椭圆 36">
            <a:extLst>
              <a:ext uri="{FF2B5EF4-FFF2-40B4-BE49-F238E27FC236}">
                <a16:creationId xmlns:a16="http://schemas.microsoft.com/office/drawing/2014/main" id="{7A007603-F3D9-40C8-B984-92A6C591C1ED}"/>
              </a:ext>
            </a:extLst>
          </p:cNvPr>
          <p:cNvSpPr/>
          <p:nvPr/>
        </p:nvSpPr>
        <p:spPr>
          <a:xfrm rot="14219635">
            <a:off x="-422765" y="-198887"/>
            <a:ext cx="872276" cy="872276"/>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6E536261-448B-42D2-AA47-008BC8415B5E}"/>
              </a:ext>
            </a:extLst>
          </p:cNvPr>
          <p:cNvSpPr/>
          <p:nvPr/>
        </p:nvSpPr>
        <p:spPr>
          <a:xfrm rot="14219635">
            <a:off x="367756" y="1142977"/>
            <a:ext cx="163510" cy="163510"/>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0" name="图片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359445"/>
            <a:ext cx="3374582" cy="537824"/>
          </a:xfrm>
          <a:prstGeom prst="rect">
            <a:avLst/>
          </a:prstGeom>
        </p:spPr>
      </p:pic>
      <p:sp>
        <p:nvSpPr>
          <p:cNvPr id="3" name="矩形 2"/>
          <p:cNvSpPr/>
          <p:nvPr/>
        </p:nvSpPr>
        <p:spPr>
          <a:xfrm>
            <a:off x="993190" y="1337828"/>
            <a:ext cx="9206720" cy="707886"/>
          </a:xfrm>
          <a:prstGeom prst="rect">
            <a:avLst/>
          </a:prstGeom>
        </p:spPr>
        <p:txBody>
          <a:bodyPr wrap="square">
            <a:spAutoFit/>
          </a:bodyPr>
          <a:lstStyle/>
          <a:p>
            <a:pPr>
              <a:lnSpc>
                <a:spcPct val="200000"/>
              </a:lnSpc>
            </a:pPr>
            <a:r>
              <a:rPr lang="en-US" altLang="zh-CN" sz="2000" dirty="0">
                <a:solidFill>
                  <a:schemeClr val="tx1">
                    <a:lumMod val="50000"/>
                  </a:schemeClr>
                </a:solidFill>
                <a:latin typeface="+mn-ea"/>
              </a:rPr>
              <a:t>2. </a:t>
            </a:r>
            <a:r>
              <a:rPr lang="zh-CN" altLang="en-US" sz="2000" dirty="0">
                <a:solidFill>
                  <a:schemeClr val="tx1">
                    <a:lumMod val="50000"/>
                  </a:schemeClr>
                </a:solidFill>
                <a:latin typeface="+mn-ea"/>
              </a:rPr>
              <a:t>预测被遮掩词语的随机子集（</a:t>
            </a:r>
            <a:r>
              <a:rPr lang="en-US" altLang="zh-CN" sz="2000" dirty="0">
                <a:solidFill>
                  <a:schemeClr val="tx1">
                    <a:lumMod val="50000"/>
                  </a:schemeClr>
                </a:solidFill>
                <a:latin typeface="+mn-ea"/>
              </a:rPr>
              <a:t>MLM</a:t>
            </a:r>
            <a:r>
              <a:rPr lang="zh-CN" altLang="en-US" sz="2000" dirty="0">
                <a:solidFill>
                  <a:schemeClr val="tx1">
                    <a:lumMod val="50000"/>
                  </a:schemeClr>
                </a:solidFill>
                <a:latin typeface="+mn-ea"/>
              </a:rPr>
              <a:t>）</a:t>
            </a:r>
            <a:endParaRPr lang="en-US" altLang="zh-CN" sz="2000" dirty="0">
              <a:solidFill>
                <a:schemeClr val="tx1">
                  <a:lumMod val="50000"/>
                </a:schemeClr>
              </a:solidFill>
              <a:latin typeface="+mn-ea"/>
            </a:endParaRPr>
          </a:p>
        </p:txBody>
      </p:sp>
      <p:pic>
        <p:nvPicPr>
          <p:cNvPr id="4" name="图片 3"/>
          <p:cNvPicPr>
            <a:picLocks noChangeAspect="1"/>
          </p:cNvPicPr>
          <p:nvPr/>
        </p:nvPicPr>
        <p:blipFill>
          <a:blip r:embed="rId4"/>
          <a:stretch>
            <a:fillRect/>
          </a:stretch>
        </p:blipFill>
        <p:spPr>
          <a:xfrm>
            <a:off x="3374582" y="2109214"/>
            <a:ext cx="4902643" cy="2419208"/>
          </a:xfrm>
          <a:prstGeom prst="rect">
            <a:avLst/>
          </a:prstGeom>
        </p:spPr>
      </p:pic>
      <p:sp>
        <p:nvSpPr>
          <p:cNvPr id="14" name="矩形 13"/>
          <p:cNvSpPr/>
          <p:nvPr/>
        </p:nvSpPr>
        <p:spPr>
          <a:xfrm>
            <a:off x="1122324" y="4671366"/>
            <a:ext cx="9951673" cy="1661993"/>
          </a:xfrm>
          <a:prstGeom prst="rect">
            <a:avLst/>
          </a:prstGeom>
        </p:spPr>
        <p:txBody>
          <a:bodyPr wrap="square">
            <a:spAutoFit/>
          </a:bodyPr>
          <a:lstStyle/>
          <a:p>
            <a:pPr>
              <a:lnSpc>
                <a:spcPct val="150000"/>
              </a:lnSpc>
            </a:pPr>
            <a:r>
              <a:rPr lang="en-US" altLang="zh-CN" dirty="0" err="1">
                <a:solidFill>
                  <a:schemeClr val="tx1">
                    <a:lumMod val="50000"/>
                  </a:schemeClr>
                </a:solidFill>
                <a:latin typeface="+mn-ea"/>
              </a:rPr>
              <a:t>Longformer</a:t>
            </a:r>
            <a:r>
              <a:rPr lang="zh-CN" altLang="en-US" dirty="0">
                <a:solidFill>
                  <a:schemeClr val="tx1">
                    <a:lumMod val="50000"/>
                  </a:schemeClr>
                </a:solidFill>
                <a:latin typeface="+mn-ea"/>
              </a:rPr>
              <a:t>的训练是在</a:t>
            </a:r>
            <a:r>
              <a:rPr lang="en-US" altLang="zh-CN" dirty="0">
                <a:solidFill>
                  <a:schemeClr val="tx1">
                    <a:lumMod val="50000"/>
                  </a:schemeClr>
                </a:solidFill>
                <a:latin typeface="+mn-ea"/>
              </a:rPr>
              <a:t>48G</a:t>
            </a:r>
            <a:r>
              <a:rPr lang="zh-CN" altLang="en-US" dirty="0">
                <a:solidFill>
                  <a:schemeClr val="tx1">
                    <a:lumMod val="50000"/>
                  </a:schemeClr>
                </a:solidFill>
                <a:latin typeface="+mn-ea"/>
              </a:rPr>
              <a:t>内存下</a:t>
            </a:r>
            <a:r>
              <a:rPr lang="en-US" altLang="zh-CN" dirty="0">
                <a:solidFill>
                  <a:schemeClr val="tx1">
                    <a:lumMod val="50000"/>
                  </a:schemeClr>
                </a:solidFill>
                <a:latin typeface="+mn-ea"/>
              </a:rPr>
              <a:t>batch size</a:t>
            </a:r>
            <a:r>
              <a:rPr lang="zh-CN" altLang="en-US" dirty="0">
                <a:solidFill>
                  <a:schemeClr val="tx1">
                    <a:lumMod val="50000"/>
                  </a:schemeClr>
                </a:solidFill>
                <a:latin typeface="+mn-ea"/>
              </a:rPr>
              <a:t>为</a:t>
            </a:r>
            <a:r>
              <a:rPr lang="en-US" altLang="zh-CN" dirty="0">
                <a:solidFill>
                  <a:schemeClr val="tx1">
                    <a:lumMod val="50000"/>
                  </a:schemeClr>
                </a:solidFill>
                <a:latin typeface="+mn-ea"/>
              </a:rPr>
              <a:t>16-32</a:t>
            </a:r>
            <a:r>
              <a:rPr lang="zh-CN" altLang="en-US" dirty="0">
                <a:solidFill>
                  <a:schemeClr val="tx1">
                    <a:lumMod val="50000"/>
                  </a:schemeClr>
                </a:solidFill>
                <a:latin typeface="+mn-ea"/>
              </a:rPr>
              <a:t>，而</a:t>
            </a:r>
            <a:r>
              <a:rPr lang="en-US" altLang="zh-CN" dirty="0">
                <a:solidFill>
                  <a:schemeClr val="tx1">
                    <a:lumMod val="50000"/>
                  </a:schemeClr>
                </a:solidFill>
                <a:latin typeface="+mn-ea"/>
              </a:rPr>
              <a:t>BIG BIRD</a:t>
            </a:r>
            <a:r>
              <a:rPr lang="zh-CN" altLang="en-US" dirty="0">
                <a:solidFill>
                  <a:schemeClr val="tx1">
                    <a:lumMod val="50000"/>
                  </a:schemeClr>
                </a:solidFill>
                <a:latin typeface="+mn-ea"/>
              </a:rPr>
              <a:t>是在</a:t>
            </a:r>
            <a:r>
              <a:rPr lang="en-US" altLang="zh-CN" dirty="0">
                <a:solidFill>
                  <a:schemeClr val="tx1">
                    <a:lumMod val="50000"/>
                  </a:schemeClr>
                </a:solidFill>
                <a:latin typeface="+mn-ea"/>
              </a:rPr>
              <a:t>16G</a:t>
            </a:r>
            <a:r>
              <a:rPr lang="zh-CN" altLang="en-US" dirty="0">
                <a:solidFill>
                  <a:schemeClr val="tx1">
                    <a:lumMod val="50000"/>
                  </a:schemeClr>
                </a:solidFill>
                <a:latin typeface="+mn-ea"/>
              </a:rPr>
              <a:t>内存下</a:t>
            </a:r>
            <a:r>
              <a:rPr lang="en-US" altLang="zh-CN" dirty="0">
                <a:solidFill>
                  <a:schemeClr val="tx1">
                    <a:lumMod val="50000"/>
                  </a:schemeClr>
                </a:solidFill>
                <a:latin typeface="+mn-ea"/>
              </a:rPr>
              <a:t>batch size</a:t>
            </a:r>
            <a:r>
              <a:rPr lang="zh-CN" altLang="en-US" dirty="0">
                <a:solidFill>
                  <a:schemeClr val="tx1">
                    <a:lumMod val="50000"/>
                  </a:schemeClr>
                </a:solidFill>
                <a:latin typeface="+mn-ea"/>
              </a:rPr>
              <a:t>为</a:t>
            </a:r>
            <a:r>
              <a:rPr lang="en-US" altLang="zh-CN" dirty="0">
                <a:solidFill>
                  <a:schemeClr val="tx1">
                    <a:lumMod val="50000"/>
                  </a:schemeClr>
                </a:solidFill>
                <a:latin typeface="+mn-ea"/>
              </a:rPr>
              <a:t>32-64</a:t>
            </a:r>
            <a:r>
              <a:rPr lang="zh-CN" altLang="en-US" dirty="0">
                <a:solidFill>
                  <a:schemeClr val="tx1">
                    <a:lumMod val="50000"/>
                  </a:schemeClr>
                </a:solidFill>
                <a:latin typeface="+mn-ea"/>
              </a:rPr>
              <a:t>，可见采用稀疏注意力可提高内存利用效率。</a:t>
            </a:r>
            <a:endParaRPr lang="en-US" altLang="zh-CN" dirty="0">
              <a:solidFill>
                <a:schemeClr val="tx1">
                  <a:lumMod val="50000"/>
                </a:schemeClr>
              </a:solidFill>
              <a:latin typeface="+mn-ea"/>
            </a:endParaRPr>
          </a:p>
          <a:p>
            <a:pPr>
              <a:lnSpc>
                <a:spcPct val="150000"/>
              </a:lnSpc>
            </a:pPr>
            <a:r>
              <a:rPr lang="zh-CN" altLang="en-US" sz="1600" dirty="0">
                <a:solidFill>
                  <a:schemeClr val="bg2">
                    <a:lumMod val="50000"/>
                  </a:schemeClr>
                </a:solidFill>
                <a:latin typeface="+mn-ea"/>
              </a:rPr>
              <a:t>（注：</a:t>
            </a:r>
            <a:r>
              <a:rPr lang="en-US" altLang="zh-CN" sz="1600" dirty="0">
                <a:solidFill>
                  <a:schemeClr val="bg2">
                    <a:lumMod val="50000"/>
                  </a:schemeClr>
                </a:solidFill>
                <a:latin typeface="+mn-ea"/>
              </a:rPr>
              <a:t>BPC</a:t>
            </a:r>
            <a:r>
              <a:rPr lang="zh-CN" altLang="en-US" sz="1600" dirty="0">
                <a:solidFill>
                  <a:schemeClr val="bg2">
                    <a:lumMod val="50000"/>
                  </a:schemeClr>
                </a:solidFill>
                <a:latin typeface="+mn-ea"/>
              </a:rPr>
              <a:t>是以字符长度为单位计算混淆度，混淆度越低语言模型越好。混淆度是用来衡量语言模型在未见过字符串上的表现。）</a:t>
            </a:r>
            <a:endParaRPr lang="en-US" altLang="zh-CN" sz="1600" dirty="0">
              <a:solidFill>
                <a:schemeClr val="bg2">
                  <a:lumMod val="50000"/>
                </a:schemeClr>
              </a:solidFill>
              <a:latin typeface="+mn-ea"/>
            </a:endParaRPr>
          </a:p>
        </p:txBody>
      </p:sp>
    </p:spTree>
    <p:extLst>
      <p:ext uri="{BB962C8B-B14F-4D97-AF65-F5344CB8AC3E}">
        <p14:creationId xmlns:p14="http://schemas.microsoft.com/office/powerpoint/2010/main" val="4153447096"/>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文本框 19"/>
          <p:cNvSpPr txBox="1"/>
          <p:nvPr/>
        </p:nvSpPr>
        <p:spPr>
          <a:xfrm>
            <a:off x="1071199" y="457068"/>
            <a:ext cx="1620957" cy="523220"/>
          </a:xfrm>
          <a:prstGeom prst="rect">
            <a:avLst/>
          </a:prstGeom>
          <a:noFill/>
        </p:spPr>
        <p:txBody>
          <a:bodyPr wrap="none" rtlCol="0">
            <a:spAutoFit/>
          </a:bodyPr>
          <a:lstStyle/>
          <a:p>
            <a:pPr lvl="0">
              <a:defRPr/>
            </a:pPr>
            <a:r>
              <a:rPr kumimoji="0" lang="zh-CN" altLang="en-US" sz="2800" b="1" i="0" u="none" strike="noStrike" kern="1200" cap="none" spc="0" normalizeH="0" baseline="0" noProof="0" dirty="0">
                <a:ln>
                  <a:noFill/>
                </a:ln>
                <a:solidFill>
                  <a:srgbClr val="4D3F82"/>
                </a:solidFill>
                <a:effectLst/>
                <a:uLnTx/>
                <a:uFillTx/>
                <a:latin typeface="Calibri"/>
                <a:ea typeface="微软雅黑"/>
                <a:cs typeface="+mn-ea"/>
                <a:sym typeface="+mn-lt"/>
              </a:rPr>
              <a:t>实验结果</a:t>
            </a:r>
          </a:p>
        </p:txBody>
      </p:sp>
      <p:sp>
        <p:nvSpPr>
          <p:cNvPr id="6" name="椭圆 5">
            <a:extLst>
              <a:ext uri="{FF2B5EF4-FFF2-40B4-BE49-F238E27FC236}">
                <a16:creationId xmlns:a16="http://schemas.microsoft.com/office/drawing/2014/main" id="{DF773A56-49AF-444E-AF6D-49DFDB041C2E}"/>
              </a:ext>
            </a:extLst>
          </p:cNvPr>
          <p:cNvSpPr/>
          <p:nvPr/>
        </p:nvSpPr>
        <p:spPr>
          <a:xfrm>
            <a:off x="11073997" y="5889631"/>
            <a:ext cx="872276" cy="872276"/>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9723BAD4-F047-4320-87A0-E95852694C3F}"/>
              </a:ext>
            </a:extLst>
          </p:cNvPr>
          <p:cNvSpPr/>
          <p:nvPr/>
        </p:nvSpPr>
        <p:spPr>
          <a:xfrm rot="9430845">
            <a:off x="11432508" y="5123846"/>
            <a:ext cx="344849" cy="344849"/>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D4E3EEDC-7C8A-43DB-BD42-E8947B413BB8}"/>
              </a:ext>
            </a:extLst>
          </p:cNvPr>
          <p:cNvSpPr/>
          <p:nvPr/>
        </p:nvSpPr>
        <p:spPr>
          <a:xfrm rot="9430845">
            <a:off x="10447956" y="6589483"/>
            <a:ext cx="344849" cy="344849"/>
          </a:xfrm>
          <a:prstGeom prst="ellipse">
            <a:avLst/>
          </a:prstGeom>
          <a:solidFill>
            <a:srgbClr val="4D3F82"/>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EF07DB3A-3E81-4DC1-8E47-D5A7AB5ABD16}"/>
              </a:ext>
            </a:extLst>
          </p:cNvPr>
          <p:cNvSpPr/>
          <p:nvPr/>
        </p:nvSpPr>
        <p:spPr>
          <a:xfrm rot="9430845">
            <a:off x="528920" y="441278"/>
            <a:ext cx="503796" cy="511184"/>
          </a:xfrm>
          <a:prstGeom prst="ellipse">
            <a:avLst/>
          </a:prstGeom>
          <a:solidFill>
            <a:srgbClr val="4D3F8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FB187FA8-C04C-4322-891C-A741CEA371EC}"/>
              </a:ext>
            </a:extLst>
          </p:cNvPr>
          <p:cNvSpPr txBox="1"/>
          <p:nvPr/>
        </p:nvSpPr>
        <p:spPr>
          <a:xfrm>
            <a:off x="524715" y="466029"/>
            <a:ext cx="561265" cy="461665"/>
          </a:xfrm>
          <a:prstGeom prst="rect">
            <a:avLst/>
          </a:prstGeom>
          <a:noFill/>
        </p:spPr>
        <p:txBody>
          <a:bodyPr wrap="square" rtlCol="0">
            <a:spAutoFit/>
          </a:bodyPr>
          <a:lstStyle/>
          <a:p>
            <a:r>
              <a:rPr lang="en-US" altLang="zh-CN" sz="2400" dirty="0">
                <a:solidFill>
                  <a:schemeClr val="bg1"/>
                </a:solidFill>
                <a:latin typeface="Bauhaus 93" panose="04030905020B02020C02" pitchFamily="82" charset="0"/>
              </a:rPr>
              <a:t>03</a:t>
            </a:r>
            <a:endParaRPr lang="zh-CN" altLang="en-US" sz="2400" dirty="0">
              <a:solidFill>
                <a:schemeClr val="bg1"/>
              </a:solidFill>
              <a:latin typeface="Bauhaus 93" panose="04030905020B02020C02" pitchFamily="82" charset="0"/>
            </a:endParaRPr>
          </a:p>
        </p:txBody>
      </p:sp>
      <p:sp>
        <p:nvSpPr>
          <p:cNvPr id="37" name="椭圆 36">
            <a:extLst>
              <a:ext uri="{FF2B5EF4-FFF2-40B4-BE49-F238E27FC236}">
                <a16:creationId xmlns:a16="http://schemas.microsoft.com/office/drawing/2014/main" id="{7A007603-F3D9-40C8-B984-92A6C591C1ED}"/>
              </a:ext>
            </a:extLst>
          </p:cNvPr>
          <p:cNvSpPr/>
          <p:nvPr/>
        </p:nvSpPr>
        <p:spPr>
          <a:xfrm rot="14219635">
            <a:off x="-422765" y="-198887"/>
            <a:ext cx="872276" cy="872276"/>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6E536261-448B-42D2-AA47-008BC8415B5E}"/>
              </a:ext>
            </a:extLst>
          </p:cNvPr>
          <p:cNvSpPr/>
          <p:nvPr/>
        </p:nvSpPr>
        <p:spPr>
          <a:xfrm rot="14219635">
            <a:off x="367756" y="1142977"/>
            <a:ext cx="163510" cy="163510"/>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0" name="图片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359445"/>
            <a:ext cx="3374582" cy="537824"/>
          </a:xfrm>
          <a:prstGeom prst="rect">
            <a:avLst/>
          </a:prstGeom>
        </p:spPr>
      </p:pic>
      <p:sp>
        <p:nvSpPr>
          <p:cNvPr id="3" name="矩形 2"/>
          <p:cNvSpPr/>
          <p:nvPr/>
        </p:nvSpPr>
        <p:spPr>
          <a:xfrm>
            <a:off x="993190" y="1337828"/>
            <a:ext cx="9206720" cy="615040"/>
          </a:xfrm>
          <a:prstGeom prst="rect">
            <a:avLst/>
          </a:prstGeom>
        </p:spPr>
        <p:txBody>
          <a:bodyPr wrap="square">
            <a:spAutoFit/>
          </a:bodyPr>
          <a:lstStyle/>
          <a:p>
            <a:pPr>
              <a:lnSpc>
                <a:spcPct val="200000"/>
              </a:lnSpc>
            </a:pPr>
            <a:r>
              <a:rPr lang="en-US" altLang="zh-CN" sz="2000" dirty="0">
                <a:solidFill>
                  <a:schemeClr val="tx1">
                    <a:lumMod val="50000"/>
                  </a:schemeClr>
                </a:solidFill>
                <a:latin typeface="+mn-ea"/>
              </a:rPr>
              <a:t>3. </a:t>
            </a:r>
            <a:r>
              <a:rPr lang="zh-CN" altLang="en-US" sz="2000" dirty="0">
                <a:solidFill>
                  <a:schemeClr val="tx1">
                    <a:lumMod val="50000"/>
                  </a:schemeClr>
                </a:solidFill>
                <a:latin typeface="+mn-ea"/>
              </a:rPr>
              <a:t>问答任务</a:t>
            </a:r>
            <a:endParaRPr lang="en-US" altLang="zh-CN" sz="2000" dirty="0">
              <a:solidFill>
                <a:schemeClr val="tx1">
                  <a:lumMod val="50000"/>
                </a:schemeClr>
              </a:solidFill>
              <a:latin typeface="+mn-ea"/>
            </a:endParaRPr>
          </a:p>
        </p:txBody>
      </p:sp>
      <p:pic>
        <p:nvPicPr>
          <p:cNvPr id="2" name="图片 1"/>
          <p:cNvPicPr>
            <a:picLocks noChangeAspect="1"/>
          </p:cNvPicPr>
          <p:nvPr/>
        </p:nvPicPr>
        <p:blipFill>
          <a:blip r:embed="rId4"/>
          <a:stretch>
            <a:fillRect/>
          </a:stretch>
        </p:blipFill>
        <p:spPr>
          <a:xfrm>
            <a:off x="1370862" y="2050600"/>
            <a:ext cx="9475319" cy="2835923"/>
          </a:xfrm>
          <a:prstGeom prst="rect">
            <a:avLst/>
          </a:prstGeom>
        </p:spPr>
      </p:pic>
      <p:sp>
        <p:nvSpPr>
          <p:cNvPr id="13" name="矩形 12"/>
          <p:cNvSpPr/>
          <p:nvPr/>
        </p:nvSpPr>
        <p:spPr>
          <a:xfrm>
            <a:off x="1376108" y="5026112"/>
            <a:ext cx="9583590" cy="1253292"/>
          </a:xfrm>
          <a:prstGeom prst="rect">
            <a:avLst/>
          </a:prstGeom>
        </p:spPr>
        <p:txBody>
          <a:bodyPr wrap="square">
            <a:spAutoFit/>
          </a:bodyPr>
          <a:lstStyle/>
          <a:p>
            <a:pPr>
              <a:lnSpc>
                <a:spcPct val="150000"/>
              </a:lnSpc>
            </a:pPr>
            <a:r>
              <a:rPr lang="zh-CN" altLang="en-US" dirty="0">
                <a:solidFill>
                  <a:schemeClr val="tx1">
                    <a:lumMod val="50000"/>
                  </a:schemeClr>
                </a:solidFill>
                <a:latin typeface="+mn-ea"/>
              </a:rPr>
              <a:t>实验选取了</a:t>
            </a:r>
            <a:r>
              <a:rPr lang="en-US" altLang="zh-CN" dirty="0">
                <a:solidFill>
                  <a:schemeClr val="tx1">
                    <a:lumMod val="50000"/>
                  </a:schemeClr>
                </a:solidFill>
                <a:latin typeface="+mn-ea"/>
              </a:rPr>
              <a:t>4</a:t>
            </a:r>
            <a:r>
              <a:rPr lang="zh-CN" altLang="en-US" dirty="0">
                <a:solidFill>
                  <a:schemeClr val="tx1">
                    <a:lumMod val="50000"/>
                  </a:schemeClr>
                </a:solidFill>
                <a:latin typeface="+mn-ea"/>
              </a:rPr>
              <a:t>个颇具挑战性的数据集，从表中可以看出，</a:t>
            </a:r>
            <a:r>
              <a:rPr lang="en-US" altLang="zh-CN" dirty="0">
                <a:solidFill>
                  <a:schemeClr val="tx1">
                    <a:lumMod val="50000"/>
                  </a:schemeClr>
                </a:solidFill>
                <a:latin typeface="+mn-ea"/>
              </a:rPr>
              <a:t>BIG BIRD-ETC</a:t>
            </a:r>
            <a:r>
              <a:rPr lang="zh-CN" altLang="en-US" dirty="0">
                <a:solidFill>
                  <a:schemeClr val="tx1">
                    <a:lumMod val="50000"/>
                  </a:schemeClr>
                </a:solidFill>
                <a:latin typeface="+mn-ea"/>
              </a:rPr>
              <a:t>表现最好，在问答任务中对长文本建模可取得更好的结果。</a:t>
            </a:r>
            <a:endParaRPr lang="en-US" altLang="zh-CN" dirty="0">
              <a:solidFill>
                <a:schemeClr val="tx1">
                  <a:lumMod val="50000"/>
                </a:schemeClr>
              </a:solidFill>
              <a:latin typeface="+mn-ea"/>
            </a:endParaRPr>
          </a:p>
          <a:p>
            <a:pPr>
              <a:lnSpc>
                <a:spcPct val="150000"/>
              </a:lnSpc>
            </a:pPr>
            <a:r>
              <a:rPr lang="zh-CN" altLang="en-US" sz="1600" dirty="0">
                <a:solidFill>
                  <a:schemeClr val="bg2">
                    <a:lumMod val="50000"/>
                  </a:schemeClr>
                </a:solidFill>
                <a:latin typeface="+mn-ea"/>
              </a:rPr>
              <a:t>（注：模型训练细节见补充材料</a:t>
            </a:r>
            <a:r>
              <a:rPr lang="en-US" altLang="zh-CN" sz="1600" dirty="0">
                <a:solidFill>
                  <a:schemeClr val="bg2">
                    <a:lumMod val="50000"/>
                  </a:schemeClr>
                </a:solidFill>
                <a:latin typeface="+mn-ea"/>
              </a:rPr>
              <a:t>E</a:t>
            </a:r>
            <a:r>
              <a:rPr lang="zh-CN" altLang="en-US" sz="1600" dirty="0">
                <a:solidFill>
                  <a:schemeClr val="bg2">
                    <a:lumMod val="50000"/>
                  </a:schemeClr>
                </a:solidFill>
                <a:latin typeface="+mn-ea"/>
              </a:rPr>
              <a:t>）</a:t>
            </a:r>
            <a:endParaRPr lang="zh-CN" altLang="en-US" sz="1600" dirty="0">
              <a:solidFill>
                <a:schemeClr val="bg2">
                  <a:lumMod val="50000"/>
                </a:schemeClr>
              </a:solidFill>
            </a:endParaRPr>
          </a:p>
        </p:txBody>
      </p:sp>
    </p:spTree>
    <p:extLst>
      <p:ext uri="{BB962C8B-B14F-4D97-AF65-F5344CB8AC3E}">
        <p14:creationId xmlns:p14="http://schemas.microsoft.com/office/powerpoint/2010/main" val="3881383016"/>
      </p:ext>
    </p:ext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文本框 19"/>
          <p:cNvSpPr txBox="1"/>
          <p:nvPr/>
        </p:nvSpPr>
        <p:spPr>
          <a:xfrm>
            <a:off x="1071199" y="457068"/>
            <a:ext cx="1620957" cy="523220"/>
          </a:xfrm>
          <a:prstGeom prst="rect">
            <a:avLst/>
          </a:prstGeom>
          <a:noFill/>
        </p:spPr>
        <p:txBody>
          <a:bodyPr wrap="none" rtlCol="0">
            <a:spAutoFit/>
          </a:bodyPr>
          <a:lstStyle/>
          <a:p>
            <a:pPr lvl="0">
              <a:defRPr/>
            </a:pPr>
            <a:r>
              <a:rPr kumimoji="0" lang="zh-CN" altLang="en-US" sz="2800" b="1" i="0" u="none" strike="noStrike" kern="1200" cap="none" spc="0" normalizeH="0" baseline="0" noProof="0" dirty="0">
                <a:ln>
                  <a:noFill/>
                </a:ln>
                <a:solidFill>
                  <a:srgbClr val="4D3F82"/>
                </a:solidFill>
                <a:effectLst/>
                <a:uLnTx/>
                <a:uFillTx/>
                <a:latin typeface="Calibri"/>
                <a:ea typeface="微软雅黑"/>
                <a:cs typeface="+mn-ea"/>
                <a:sym typeface="+mn-lt"/>
              </a:rPr>
              <a:t>实验结果</a:t>
            </a:r>
          </a:p>
        </p:txBody>
      </p:sp>
      <p:sp>
        <p:nvSpPr>
          <p:cNvPr id="6" name="椭圆 5">
            <a:extLst>
              <a:ext uri="{FF2B5EF4-FFF2-40B4-BE49-F238E27FC236}">
                <a16:creationId xmlns:a16="http://schemas.microsoft.com/office/drawing/2014/main" id="{DF773A56-49AF-444E-AF6D-49DFDB041C2E}"/>
              </a:ext>
            </a:extLst>
          </p:cNvPr>
          <p:cNvSpPr/>
          <p:nvPr/>
        </p:nvSpPr>
        <p:spPr>
          <a:xfrm>
            <a:off x="11073997" y="5889631"/>
            <a:ext cx="872276" cy="872276"/>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9723BAD4-F047-4320-87A0-E95852694C3F}"/>
              </a:ext>
            </a:extLst>
          </p:cNvPr>
          <p:cNvSpPr/>
          <p:nvPr/>
        </p:nvSpPr>
        <p:spPr>
          <a:xfrm rot="9430845">
            <a:off x="11432508" y="5123846"/>
            <a:ext cx="344849" cy="344849"/>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D4E3EEDC-7C8A-43DB-BD42-E8947B413BB8}"/>
              </a:ext>
            </a:extLst>
          </p:cNvPr>
          <p:cNvSpPr/>
          <p:nvPr/>
        </p:nvSpPr>
        <p:spPr>
          <a:xfrm rot="9430845">
            <a:off x="10447956" y="6589483"/>
            <a:ext cx="344849" cy="344849"/>
          </a:xfrm>
          <a:prstGeom prst="ellipse">
            <a:avLst/>
          </a:prstGeom>
          <a:solidFill>
            <a:srgbClr val="4D3F82"/>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EF07DB3A-3E81-4DC1-8E47-D5A7AB5ABD16}"/>
              </a:ext>
            </a:extLst>
          </p:cNvPr>
          <p:cNvSpPr/>
          <p:nvPr/>
        </p:nvSpPr>
        <p:spPr>
          <a:xfrm rot="9430845">
            <a:off x="528920" y="441278"/>
            <a:ext cx="503796" cy="511184"/>
          </a:xfrm>
          <a:prstGeom prst="ellipse">
            <a:avLst/>
          </a:prstGeom>
          <a:solidFill>
            <a:srgbClr val="4D3F8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FB187FA8-C04C-4322-891C-A741CEA371EC}"/>
              </a:ext>
            </a:extLst>
          </p:cNvPr>
          <p:cNvSpPr txBox="1"/>
          <p:nvPr/>
        </p:nvSpPr>
        <p:spPr>
          <a:xfrm>
            <a:off x="524715" y="466029"/>
            <a:ext cx="561265" cy="461665"/>
          </a:xfrm>
          <a:prstGeom prst="rect">
            <a:avLst/>
          </a:prstGeom>
          <a:noFill/>
        </p:spPr>
        <p:txBody>
          <a:bodyPr wrap="square" rtlCol="0">
            <a:spAutoFit/>
          </a:bodyPr>
          <a:lstStyle/>
          <a:p>
            <a:r>
              <a:rPr lang="en-US" altLang="zh-CN" sz="2400" dirty="0">
                <a:solidFill>
                  <a:schemeClr val="bg1"/>
                </a:solidFill>
                <a:latin typeface="Bauhaus 93" panose="04030905020B02020C02" pitchFamily="82" charset="0"/>
              </a:rPr>
              <a:t>03</a:t>
            </a:r>
            <a:endParaRPr lang="zh-CN" altLang="en-US" sz="2400" dirty="0">
              <a:solidFill>
                <a:schemeClr val="bg1"/>
              </a:solidFill>
              <a:latin typeface="Bauhaus 93" panose="04030905020B02020C02" pitchFamily="82" charset="0"/>
            </a:endParaRPr>
          </a:p>
        </p:txBody>
      </p:sp>
      <p:sp>
        <p:nvSpPr>
          <p:cNvPr id="37" name="椭圆 36">
            <a:extLst>
              <a:ext uri="{FF2B5EF4-FFF2-40B4-BE49-F238E27FC236}">
                <a16:creationId xmlns:a16="http://schemas.microsoft.com/office/drawing/2014/main" id="{7A007603-F3D9-40C8-B984-92A6C591C1ED}"/>
              </a:ext>
            </a:extLst>
          </p:cNvPr>
          <p:cNvSpPr/>
          <p:nvPr/>
        </p:nvSpPr>
        <p:spPr>
          <a:xfrm rot="14219635">
            <a:off x="-422765" y="-198887"/>
            <a:ext cx="872276" cy="872276"/>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6E536261-448B-42D2-AA47-008BC8415B5E}"/>
              </a:ext>
            </a:extLst>
          </p:cNvPr>
          <p:cNvSpPr/>
          <p:nvPr/>
        </p:nvSpPr>
        <p:spPr>
          <a:xfrm rot="14219635">
            <a:off x="367756" y="1142977"/>
            <a:ext cx="163510" cy="163510"/>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0" name="图片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359445"/>
            <a:ext cx="3374582" cy="537824"/>
          </a:xfrm>
          <a:prstGeom prst="rect">
            <a:avLst/>
          </a:prstGeom>
        </p:spPr>
      </p:pic>
      <p:sp>
        <p:nvSpPr>
          <p:cNvPr id="3" name="矩形 2"/>
          <p:cNvSpPr/>
          <p:nvPr/>
        </p:nvSpPr>
        <p:spPr>
          <a:xfrm>
            <a:off x="993190" y="1037380"/>
            <a:ext cx="9206720" cy="707886"/>
          </a:xfrm>
          <a:prstGeom prst="rect">
            <a:avLst/>
          </a:prstGeom>
        </p:spPr>
        <p:txBody>
          <a:bodyPr wrap="square">
            <a:spAutoFit/>
          </a:bodyPr>
          <a:lstStyle/>
          <a:p>
            <a:pPr>
              <a:lnSpc>
                <a:spcPct val="200000"/>
              </a:lnSpc>
            </a:pPr>
            <a:r>
              <a:rPr lang="en-US" altLang="zh-CN" sz="2000" dirty="0">
                <a:solidFill>
                  <a:schemeClr val="tx1">
                    <a:lumMod val="50000"/>
                  </a:schemeClr>
                </a:solidFill>
                <a:latin typeface="+mn-ea"/>
              </a:rPr>
              <a:t>4. </a:t>
            </a:r>
            <a:r>
              <a:rPr lang="zh-CN" altLang="en-US" sz="2000" dirty="0">
                <a:solidFill>
                  <a:schemeClr val="tx1">
                    <a:lumMod val="50000"/>
                  </a:schemeClr>
                </a:solidFill>
                <a:latin typeface="+mn-ea"/>
              </a:rPr>
              <a:t>在问答任务测试集上的微调结果</a:t>
            </a:r>
            <a:endParaRPr lang="en-US" altLang="zh-CN" sz="2000" dirty="0">
              <a:solidFill>
                <a:schemeClr val="tx1">
                  <a:lumMod val="50000"/>
                </a:schemeClr>
              </a:solidFill>
              <a:latin typeface="+mn-ea"/>
            </a:endParaRPr>
          </a:p>
        </p:txBody>
      </p:sp>
      <p:pic>
        <p:nvPicPr>
          <p:cNvPr id="5" name="图片 4"/>
          <p:cNvPicPr>
            <a:picLocks noChangeAspect="1"/>
          </p:cNvPicPr>
          <p:nvPr/>
        </p:nvPicPr>
        <p:blipFill>
          <a:blip r:embed="rId4"/>
          <a:stretch>
            <a:fillRect/>
          </a:stretch>
        </p:blipFill>
        <p:spPr>
          <a:xfrm>
            <a:off x="1870155" y="1677820"/>
            <a:ext cx="8760338" cy="3859959"/>
          </a:xfrm>
          <a:prstGeom prst="rect">
            <a:avLst/>
          </a:prstGeom>
        </p:spPr>
      </p:pic>
      <p:sp>
        <p:nvSpPr>
          <p:cNvPr id="2" name="矩形 1"/>
          <p:cNvSpPr/>
          <p:nvPr/>
        </p:nvSpPr>
        <p:spPr>
          <a:xfrm>
            <a:off x="1262118" y="5540240"/>
            <a:ext cx="9584063" cy="923330"/>
          </a:xfrm>
          <a:prstGeom prst="rect">
            <a:avLst/>
          </a:prstGeom>
        </p:spPr>
        <p:txBody>
          <a:bodyPr wrap="square">
            <a:spAutoFit/>
          </a:bodyPr>
          <a:lstStyle/>
          <a:p>
            <a:pPr>
              <a:lnSpc>
                <a:spcPct val="150000"/>
              </a:lnSpc>
            </a:pPr>
            <a:r>
              <a:rPr lang="zh-CN" altLang="en-US" dirty="0">
                <a:solidFill>
                  <a:schemeClr val="tx1">
                    <a:lumMod val="50000"/>
                  </a:schemeClr>
                </a:solidFill>
              </a:rPr>
              <a:t>与排行榜上性能</a:t>
            </a:r>
            <a:r>
              <a:rPr lang="en-US" altLang="zh-CN" dirty="0">
                <a:solidFill>
                  <a:schemeClr val="tx1">
                    <a:lumMod val="50000"/>
                  </a:schemeClr>
                </a:solidFill>
              </a:rPr>
              <a:t>TOP3</a:t>
            </a:r>
            <a:r>
              <a:rPr lang="zh-CN" altLang="en-US" dirty="0">
                <a:solidFill>
                  <a:schemeClr val="tx1">
                    <a:lumMod val="50000"/>
                  </a:schemeClr>
                </a:solidFill>
              </a:rPr>
              <a:t>模型对比，其他方法采用的是融合模型，所以</a:t>
            </a:r>
            <a:r>
              <a:rPr lang="en-US" altLang="zh-CN" dirty="0">
                <a:solidFill>
                  <a:schemeClr val="tx1">
                    <a:lumMod val="50000"/>
                  </a:schemeClr>
                </a:solidFill>
              </a:rPr>
              <a:t>Big Bird</a:t>
            </a:r>
            <a:r>
              <a:rPr lang="zh-CN" altLang="en-US" dirty="0">
                <a:solidFill>
                  <a:schemeClr val="tx1">
                    <a:lumMod val="50000"/>
                  </a:schemeClr>
                </a:solidFill>
              </a:rPr>
              <a:t>在精确答案短语上的准确率稍低。</a:t>
            </a:r>
          </a:p>
        </p:txBody>
      </p:sp>
    </p:spTree>
    <p:extLst>
      <p:ext uri="{BB962C8B-B14F-4D97-AF65-F5344CB8AC3E}">
        <p14:creationId xmlns:p14="http://schemas.microsoft.com/office/powerpoint/2010/main" val="2875103133"/>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文本框 19"/>
          <p:cNvSpPr txBox="1"/>
          <p:nvPr/>
        </p:nvSpPr>
        <p:spPr>
          <a:xfrm>
            <a:off x="1071199" y="457068"/>
            <a:ext cx="1620957" cy="523220"/>
          </a:xfrm>
          <a:prstGeom prst="rect">
            <a:avLst/>
          </a:prstGeom>
          <a:noFill/>
        </p:spPr>
        <p:txBody>
          <a:bodyPr wrap="none" rtlCol="0">
            <a:spAutoFit/>
          </a:bodyPr>
          <a:lstStyle/>
          <a:p>
            <a:pPr lvl="0">
              <a:defRPr/>
            </a:pPr>
            <a:r>
              <a:rPr kumimoji="0" lang="zh-CN" altLang="en-US" sz="2800" b="1" i="0" u="none" strike="noStrike" kern="1200" cap="none" spc="0" normalizeH="0" baseline="0" noProof="0" dirty="0">
                <a:ln>
                  <a:noFill/>
                </a:ln>
                <a:solidFill>
                  <a:srgbClr val="4D3F82"/>
                </a:solidFill>
                <a:effectLst/>
                <a:uLnTx/>
                <a:uFillTx/>
                <a:latin typeface="Calibri"/>
                <a:ea typeface="微软雅黑"/>
                <a:cs typeface="+mn-ea"/>
                <a:sym typeface="+mn-lt"/>
              </a:rPr>
              <a:t>实验结果</a:t>
            </a:r>
          </a:p>
        </p:txBody>
      </p:sp>
      <p:sp>
        <p:nvSpPr>
          <p:cNvPr id="6" name="椭圆 5">
            <a:extLst>
              <a:ext uri="{FF2B5EF4-FFF2-40B4-BE49-F238E27FC236}">
                <a16:creationId xmlns:a16="http://schemas.microsoft.com/office/drawing/2014/main" id="{DF773A56-49AF-444E-AF6D-49DFDB041C2E}"/>
              </a:ext>
            </a:extLst>
          </p:cNvPr>
          <p:cNvSpPr/>
          <p:nvPr/>
        </p:nvSpPr>
        <p:spPr>
          <a:xfrm>
            <a:off x="11073997" y="5889631"/>
            <a:ext cx="872276" cy="872276"/>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9723BAD4-F047-4320-87A0-E95852694C3F}"/>
              </a:ext>
            </a:extLst>
          </p:cNvPr>
          <p:cNvSpPr/>
          <p:nvPr/>
        </p:nvSpPr>
        <p:spPr>
          <a:xfrm rot="9430845">
            <a:off x="11432508" y="5123846"/>
            <a:ext cx="344849" cy="344849"/>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D4E3EEDC-7C8A-43DB-BD42-E8947B413BB8}"/>
              </a:ext>
            </a:extLst>
          </p:cNvPr>
          <p:cNvSpPr/>
          <p:nvPr/>
        </p:nvSpPr>
        <p:spPr>
          <a:xfrm rot="9430845">
            <a:off x="10447956" y="6589483"/>
            <a:ext cx="344849" cy="344849"/>
          </a:xfrm>
          <a:prstGeom prst="ellipse">
            <a:avLst/>
          </a:prstGeom>
          <a:solidFill>
            <a:srgbClr val="4D3F82"/>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EF07DB3A-3E81-4DC1-8E47-D5A7AB5ABD16}"/>
              </a:ext>
            </a:extLst>
          </p:cNvPr>
          <p:cNvSpPr/>
          <p:nvPr/>
        </p:nvSpPr>
        <p:spPr>
          <a:xfrm rot="9430845">
            <a:off x="528920" y="441278"/>
            <a:ext cx="503796" cy="511184"/>
          </a:xfrm>
          <a:prstGeom prst="ellipse">
            <a:avLst/>
          </a:prstGeom>
          <a:solidFill>
            <a:srgbClr val="4D3F8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FB187FA8-C04C-4322-891C-A741CEA371EC}"/>
              </a:ext>
            </a:extLst>
          </p:cNvPr>
          <p:cNvSpPr txBox="1"/>
          <p:nvPr/>
        </p:nvSpPr>
        <p:spPr>
          <a:xfrm>
            <a:off x="524715" y="466029"/>
            <a:ext cx="561265" cy="461665"/>
          </a:xfrm>
          <a:prstGeom prst="rect">
            <a:avLst/>
          </a:prstGeom>
          <a:noFill/>
        </p:spPr>
        <p:txBody>
          <a:bodyPr wrap="square" rtlCol="0">
            <a:spAutoFit/>
          </a:bodyPr>
          <a:lstStyle/>
          <a:p>
            <a:r>
              <a:rPr lang="en-US" altLang="zh-CN" sz="2400" dirty="0">
                <a:solidFill>
                  <a:schemeClr val="bg1"/>
                </a:solidFill>
                <a:latin typeface="Bauhaus 93" panose="04030905020B02020C02" pitchFamily="82" charset="0"/>
              </a:rPr>
              <a:t>03</a:t>
            </a:r>
            <a:endParaRPr lang="zh-CN" altLang="en-US" sz="2400" dirty="0">
              <a:solidFill>
                <a:schemeClr val="bg1"/>
              </a:solidFill>
              <a:latin typeface="Bauhaus 93" panose="04030905020B02020C02" pitchFamily="82" charset="0"/>
            </a:endParaRPr>
          </a:p>
        </p:txBody>
      </p:sp>
      <p:sp>
        <p:nvSpPr>
          <p:cNvPr id="37" name="椭圆 36">
            <a:extLst>
              <a:ext uri="{FF2B5EF4-FFF2-40B4-BE49-F238E27FC236}">
                <a16:creationId xmlns:a16="http://schemas.microsoft.com/office/drawing/2014/main" id="{7A007603-F3D9-40C8-B984-92A6C591C1ED}"/>
              </a:ext>
            </a:extLst>
          </p:cNvPr>
          <p:cNvSpPr/>
          <p:nvPr/>
        </p:nvSpPr>
        <p:spPr>
          <a:xfrm rot="14219635">
            <a:off x="-422765" y="-198887"/>
            <a:ext cx="872276" cy="872276"/>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6E536261-448B-42D2-AA47-008BC8415B5E}"/>
              </a:ext>
            </a:extLst>
          </p:cNvPr>
          <p:cNvSpPr/>
          <p:nvPr/>
        </p:nvSpPr>
        <p:spPr>
          <a:xfrm rot="14219635">
            <a:off x="367756" y="1142977"/>
            <a:ext cx="163510" cy="163510"/>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0" name="图片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359445"/>
            <a:ext cx="3374582" cy="537824"/>
          </a:xfrm>
          <a:prstGeom prst="rect">
            <a:avLst/>
          </a:prstGeom>
        </p:spPr>
      </p:pic>
      <p:sp>
        <p:nvSpPr>
          <p:cNvPr id="3" name="矩形 2"/>
          <p:cNvSpPr/>
          <p:nvPr/>
        </p:nvSpPr>
        <p:spPr>
          <a:xfrm>
            <a:off x="993190" y="1337828"/>
            <a:ext cx="9206720" cy="707886"/>
          </a:xfrm>
          <a:prstGeom prst="rect">
            <a:avLst/>
          </a:prstGeom>
        </p:spPr>
        <p:txBody>
          <a:bodyPr wrap="square">
            <a:spAutoFit/>
          </a:bodyPr>
          <a:lstStyle/>
          <a:p>
            <a:pPr>
              <a:lnSpc>
                <a:spcPct val="200000"/>
              </a:lnSpc>
            </a:pPr>
            <a:r>
              <a:rPr lang="en-US" altLang="zh-CN" sz="2000" dirty="0">
                <a:solidFill>
                  <a:schemeClr val="tx1">
                    <a:lumMod val="50000"/>
                  </a:schemeClr>
                </a:solidFill>
                <a:latin typeface="+mn-ea"/>
              </a:rPr>
              <a:t>5. </a:t>
            </a:r>
            <a:r>
              <a:rPr lang="zh-CN" altLang="en-US" sz="2000" dirty="0">
                <a:solidFill>
                  <a:schemeClr val="tx1">
                    <a:lumMod val="50000"/>
                  </a:schemeClr>
                </a:solidFill>
                <a:latin typeface="+mn-ea"/>
              </a:rPr>
              <a:t>长文本分类</a:t>
            </a:r>
            <a:endParaRPr lang="en-US" altLang="zh-CN" sz="2000" dirty="0">
              <a:solidFill>
                <a:schemeClr val="tx1">
                  <a:lumMod val="50000"/>
                </a:schemeClr>
              </a:solidFill>
              <a:latin typeface="+mn-ea"/>
            </a:endParaRPr>
          </a:p>
        </p:txBody>
      </p:sp>
      <p:pic>
        <p:nvPicPr>
          <p:cNvPr id="2" name="图片 1"/>
          <p:cNvPicPr>
            <a:picLocks noChangeAspect="1"/>
          </p:cNvPicPr>
          <p:nvPr/>
        </p:nvPicPr>
        <p:blipFill>
          <a:blip r:embed="rId4"/>
          <a:stretch>
            <a:fillRect/>
          </a:stretch>
        </p:blipFill>
        <p:spPr>
          <a:xfrm>
            <a:off x="1595161" y="1955509"/>
            <a:ext cx="9251020" cy="3289007"/>
          </a:xfrm>
          <a:prstGeom prst="rect">
            <a:avLst/>
          </a:prstGeom>
        </p:spPr>
      </p:pic>
      <p:sp>
        <p:nvSpPr>
          <p:cNvPr id="14" name="矩形 13"/>
          <p:cNvSpPr/>
          <p:nvPr/>
        </p:nvSpPr>
        <p:spPr>
          <a:xfrm>
            <a:off x="1291115" y="5375158"/>
            <a:ext cx="9555066" cy="923330"/>
          </a:xfrm>
          <a:prstGeom prst="rect">
            <a:avLst/>
          </a:prstGeom>
        </p:spPr>
        <p:txBody>
          <a:bodyPr wrap="square">
            <a:spAutoFit/>
          </a:bodyPr>
          <a:lstStyle/>
          <a:p>
            <a:pPr>
              <a:lnSpc>
                <a:spcPct val="150000"/>
              </a:lnSpc>
            </a:pPr>
            <a:r>
              <a:rPr lang="zh-CN" altLang="en-US" dirty="0">
                <a:solidFill>
                  <a:schemeClr val="tx1">
                    <a:lumMod val="50000"/>
                  </a:schemeClr>
                </a:solidFill>
                <a:latin typeface="+mn-ea"/>
              </a:rPr>
              <a:t>分类任务中，重要的有效信息不一定分布于前</a:t>
            </a:r>
            <a:r>
              <a:rPr lang="en-US" altLang="zh-CN" dirty="0">
                <a:solidFill>
                  <a:schemeClr val="tx1">
                    <a:lumMod val="50000"/>
                  </a:schemeClr>
                </a:solidFill>
                <a:latin typeface="+mn-ea"/>
              </a:rPr>
              <a:t>512</a:t>
            </a:r>
            <a:r>
              <a:rPr lang="zh-CN" altLang="en-US" dirty="0">
                <a:solidFill>
                  <a:schemeClr val="tx1">
                    <a:lumMod val="50000"/>
                  </a:schemeClr>
                </a:solidFill>
                <a:latin typeface="+mn-ea"/>
              </a:rPr>
              <a:t>个词中，实验选取了超过</a:t>
            </a:r>
            <a:r>
              <a:rPr lang="en-US" altLang="zh-CN" dirty="0">
                <a:solidFill>
                  <a:schemeClr val="tx1">
                    <a:lumMod val="50000"/>
                  </a:schemeClr>
                </a:solidFill>
                <a:latin typeface="+mn-ea"/>
              </a:rPr>
              <a:t>512</a:t>
            </a:r>
            <a:r>
              <a:rPr lang="zh-CN" altLang="en-US" dirty="0">
                <a:solidFill>
                  <a:schemeClr val="tx1">
                    <a:lumMod val="50000"/>
                  </a:schemeClr>
                </a:solidFill>
                <a:latin typeface="+mn-ea"/>
              </a:rPr>
              <a:t>长度的数据。从表中可以看出，</a:t>
            </a:r>
            <a:r>
              <a:rPr lang="en-US" altLang="zh-CN" dirty="0">
                <a:solidFill>
                  <a:schemeClr val="tx1">
                    <a:lumMod val="50000"/>
                  </a:schemeClr>
                </a:solidFill>
                <a:latin typeface="+mn-ea"/>
              </a:rPr>
              <a:t>Big Bird </a:t>
            </a:r>
            <a:r>
              <a:rPr lang="zh-CN" altLang="en-US" dirty="0">
                <a:solidFill>
                  <a:schemeClr val="tx1">
                    <a:lumMod val="50000"/>
                  </a:schemeClr>
                </a:solidFill>
                <a:latin typeface="+mn-ea"/>
              </a:rPr>
              <a:t>在数据量较少的长文本数据集上性能优化更加明显。</a:t>
            </a:r>
            <a:endParaRPr lang="en-US" altLang="zh-CN" dirty="0">
              <a:solidFill>
                <a:schemeClr val="tx1">
                  <a:lumMod val="50000"/>
                </a:schemeClr>
              </a:solidFill>
              <a:latin typeface="+mn-ea"/>
            </a:endParaRPr>
          </a:p>
        </p:txBody>
      </p:sp>
    </p:spTree>
    <p:extLst>
      <p:ext uri="{BB962C8B-B14F-4D97-AF65-F5344CB8AC3E}">
        <p14:creationId xmlns:p14="http://schemas.microsoft.com/office/powerpoint/2010/main" val="1309147422"/>
      </p:ext>
    </p:ext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文本框 19"/>
          <p:cNvSpPr txBox="1"/>
          <p:nvPr/>
        </p:nvSpPr>
        <p:spPr>
          <a:xfrm>
            <a:off x="1071199" y="457068"/>
            <a:ext cx="1620957" cy="523220"/>
          </a:xfrm>
          <a:prstGeom prst="rect">
            <a:avLst/>
          </a:prstGeom>
          <a:noFill/>
        </p:spPr>
        <p:txBody>
          <a:bodyPr wrap="none" rtlCol="0">
            <a:spAutoFit/>
          </a:bodyPr>
          <a:lstStyle/>
          <a:p>
            <a:pPr lvl="0">
              <a:defRPr/>
            </a:pPr>
            <a:r>
              <a:rPr kumimoji="0" lang="zh-CN" altLang="en-US" sz="2800" b="1" i="0" u="none" strike="noStrike" kern="1200" cap="none" spc="0" normalizeH="0" baseline="0" noProof="0" dirty="0">
                <a:ln>
                  <a:noFill/>
                </a:ln>
                <a:solidFill>
                  <a:srgbClr val="4D3F82"/>
                </a:solidFill>
                <a:effectLst/>
                <a:uLnTx/>
                <a:uFillTx/>
                <a:latin typeface="Calibri"/>
                <a:ea typeface="微软雅黑"/>
                <a:cs typeface="+mn-ea"/>
                <a:sym typeface="+mn-lt"/>
              </a:rPr>
              <a:t>实验结果</a:t>
            </a:r>
          </a:p>
        </p:txBody>
      </p:sp>
      <p:sp>
        <p:nvSpPr>
          <p:cNvPr id="6" name="椭圆 5">
            <a:extLst>
              <a:ext uri="{FF2B5EF4-FFF2-40B4-BE49-F238E27FC236}">
                <a16:creationId xmlns:a16="http://schemas.microsoft.com/office/drawing/2014/main" id="{DF773A56-49AF-444E-AF6D-49DFDB041C2E}"/>
              </a:ext>
            </a:extLst>
          </p:cNvPr>
          <p:cNvSpPr/>
          <p:nvPr/>
        </p:nvSpPr>
        <p:spPr>
          <a:xfrm>
            <a:off x="11073997" y="5889631"/>
            <a:ext cx="872276" cy="872276"/>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9723BAD4-F047-4320-87A0-E95852694C3F}"/>
              </a:ext>
            </a:extLst>
          </p:cNvPr>
          <p:cNvSpPr/>
          <p:nvPr/>
        </p:nvSpPr>
        <p:spPr>
          <a:xfrm rot="9430845">
            <a:off x="11432508" y="5123846"/>
            <a:ext cx="344849" cy="344849"/>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D4E3EEDC-7C8A-43DB-BD42-E8947B413BB8}"/>
              </a:ext>
            </a:extLst>
          </p:cNvPr>
          <p:cNvSpPr/>
          <p:nvPr/>
        </p:nvSpPr>
        <p:spPr>
          <a:xfrm rot="9430845">
            <a:off x="10447956" y="6589483"/>
            <a:ext cx="344849" cy="344849"/>
          </a:xfrm>
          <a:prstGeom prst="ellipse">
            <a:avLst/>
          </a:prstGeom>
          <a:solidFill>
            <a:srgbClr val="4D3F82"/>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EF07DB3A-3E81-4DC1-8E47-D5A7AB5ABD16}"/>
              </a:ext>
            </a:extLst>
          </p:cNvPr>
          <p:cNvSpPr/>
          <p:nvPr/>
        </p:nvSpPr>
        <p:spPr>
          <a:xfrm rot="9430845">
            <a:off x="528920" y="441278"/>
            <a:ext cx="503796" cy="511184"/>
          </a:xfrm>
          <a:prstGeom prst="ellipse">
            <a:avLst/>
          </a:prstGeom>
          <a:solidFill>
            <a:srgbClr val="4D3F8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FB187FA8-C04C-4322-891C-A741CEA371EC}"/>
              </a:ext>
            </a:extLst>
          </p:cNvPr>
          <p:cNvSpPr txBox="1"/>
          <p:nvPr/>
        </p:nvSpPr>
        <p:spPr>
          <a:xfrm>
            <a:off x="524715" y="466029"/>
            <a:ext cx="561265" cy="461665"/>
          </a:xfrm>
          <a:prstGeom prst="rect">
            <a:avLst/>
          </a:prstGeom>
          <a:noFill/>
        </p:spPr>
        <p:txBody>
          <a:bodyPr wrap="square" rtlCol="0">
            <a:spAutoFit/>
          </a:bodyPr>
          <a:lstStyle/>
          <a:p>
            <a:r>
              <a:rPr lang="en-US" altLang="zh-CN" sz="2400" dirty="0">
                <a:solidFill>
                  <a:schemeClr val="bg1"/>
                </a:solidFill>
                <a:latin typeface="Bauhaus 93" panose="04030905020B02020C02" pitchFamily="82" charset="0"/>
              </a:rPr>
              <a:t>03</a:t>
            </a:r>
            <a:endParaRPr lang="zh-CN" altLang="en-US" sz="2400" dirty="0">
              <a:solidFill>
                <a:schemeClr val="bg1"/>
              </a:solidFill>
              <a:latin typeface="Bauhaus 93" panose="04030905020B02020C02" pitchFamily="82" charset="0"/>
            </a:endParaRPr>
          </a:p>
        </p:txBody>
      </p:sp>
      <p:sp>
        <p:nvSpPr>
          <p:cNvPr id="37" name="椭圆 36">
            <a:extLst>
              <a:ext uri="{FF2B5EF4-FFF2-40B4-BE49-F238E27FC236}">
                <a16:creationId xmlns:a16="http://schemas.microsoft.com/office/drawing/2014/main" id="{7A007603-F3D9-40C8-B984-92A6C591C1ED}"/>
              </a:ext>
            </a:extLst>
          </p:cNvPr>
          <p:cNvSpPr/>
          <p:nvPr/>
        </p:nvSpPr>
        <p:spPr>
          <a:xfrm rot="14219635">
            <a:off x="-422765" y="-198887"/>
            <a:ext cx="872276" cy="872276"/>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6E536261-448B-42D2-AA47-008BC8415B5E}"/>
              </a:ext>
            </a:extLst>
          </p:cNvPr>
          <p:cNvSpPr/>
          <p:nvPr/>
        </p:nvSpPr>
        <p:spPr>
          <a:xfrm rot="14219635">
            <a:off x="367756" y="1142977"/>
            <a:ext cx="163510" cy="163510"/>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0" name="图片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359445"/>
            <a:ext cx="3374582" cy="537824"/>
          </a:xfrm>
          <a:prstGeom prst="rect">
            <a:avLst/>
          </a:prstGeom>
        </p:spPr>
      </p:pic>
      <p:sp>
        <p:nvSpPr>
          <p:cNvPr id="3" name="矩形 2"/>
          <p:cNvSpPr/>
          <p:nvPr/>
        </p:nvSpPr>
        <p:spPr>
          <a:xfrm>
            <a:off x="993190" y="1337828"/>
            <a:ext cx="9206720" cy="707886"/>
          </a:xfrm>
          <a:prstGeom prst="rect">
            <a:avLst/>
          </a:prstGeom>
        </p:spPr>
        <p:txBody>
          <a:bodyPr wrap="square">
            <a:spAutoFit/>
          </a:bodyPr>
          <a:lstStyle/>
          <a:p>
            <a:pPr>
              <a:lnSpc>
                <a:spcPct val="200000"/>
              </a:lnSpc>
            </a:pPr>
            <a:r>
              <a:rPr lang="en-US" altLang="zh-CN" sz="2000" dirty="0">
                <a:solidFill>
                  <a:schemeClr val="tx1">
                    <a:lumMod val="50000"/>
                  </a:schemeClr>
                </a:solidFill>
                <a:latin typeface="+mn-ea"/>
              </a:rPr>
              <a:t>6. </a:t>
            </a:r>
            <a:r>
              <a:rPr lang="zh-CN" altLang="en-US" sz="2000" dirty="0">
                <a:solidFill>
                  <a:schemeClr val="tx1">
                    <a:lumMod val="50000"/>
                  </a:schemeClr>
                </a:solidFill>
                <a:latin typeface="+mn-ea"/>
              </a:rPr>
              <a:t>编码器</a:t>
            </a:r>
            <a:r>
              <a:rPr lang="en-US" altLang="zh-CN" sz="2000" dirty="0">
                <a:solidFill>
                  <a:schemeClr val="tx1">
                    <a:lumMod val="50000"/>
                  </a:schemeClr>
                </a:solidFill>
                <a:latin typeface="+mn-ea"/>
              </a:rPr>
              <a:t>-</a:t>
            </a:r>
            <a:r>
              <a:rPr lang="zh-CN" altLang="en-US" sz="2000" dirty="0">
                <a:solidFill>
                  <a:schemeClr val="tx1">
                    <a:lumMod val="50000"/>
                  </a:schemeClr>
                </a:solidFill>
                <a:latin typeface="+mn-ea"/>
              </a:rPr>
              <a:t>解码器 任务</a:t>
            </a:r>
            <a:endParaRPr lang="en-US" altLang="zh-CN" sz="2000" dirty="0">
              <a:solidFill>
                <a:schemeClr val="tx1">
                  <a:lumMod val="50000"/>
                </a:schemeClr>
              </a:solidFill>
              <a:latin typeface="+mn-ea"/>
            </a:endParaRPr>
          </a:p>
        </p:txBody>
      </p:sp>
      <p:sp>
        <p:nvSpPr>
          <p:cNvPr id="14" name="矩形 13"/>
          <p:cNvSpPr/>
          <p:nvPr/>
        </p:nvSpPr>
        <p:spPr>
          <a:xfrm>
            <a:off x="1435589" y="4701138"/>
            <a:ext cx="8764321" cy="874407"/>
          </a:xfrm>
          <a:prstGeom prst="rect">
            <a:avLst/>
          </a:prstGeom>
        </p:spPr>
        <p:txBody>
          <a:bodyPr wrap="square">
            <a:spAutoFit/>
          </a:bodyPr>
          <a:lstStyle/>
          <a:p>
            <a:pPr>
              <a:lnSpc>
                <a:spcPct val="150000"/>
              </a:lnSpc>
            </a:pPr>
            <a:r>
              <a:rPr lang="zh-CN" altLang="en-US" dirty="0">
                <a:solidFill>
                  <a:schemeClr val="tx1">
                    <a:lumMod val="50000"/>
                  </a:schemeClr>
                </a:solidFill>
                <a:latin typeface="+mn-ea"/>
              </a:rPr>
              <a:t>如上表所示，在文本摘要任务中，通常输出序列的长度远小于输入序列。这种情况下，采用稀疏注意力的编码器和全局自注意力的解码器更加高效。</a:t>
            </a:r>
          </a:p>
        </p:txBody>
      </p:sp>
      <p:pic>
        <p:nvPicPr>
          <p:cNvPr id="4" name="图片 3"/>
          <p:cNvPicPr>
            <a:picLocks noChangeAspect="1"/>
          </p:cNvPicPr>
          <p:nvPr/>
        </p:nvPicPr>
        <p:blipFill>
          <a:blip r:embed="rId4"/>
          <a:stretch>
            <a:fillRect/>
          </a:stretch>
        </p:blipFill>
        <p:spPr>
          <a:xfrm>
            <a:off x="1631218" y="2045714"/>
            <a:ext cx="8763362" cy="2274888"/>
          </a:xfrm>
          <a:prstGeom prst="rect">
            <a:avLst/>
          </a:prstGeom>
        </p:spPr>
      </p:pic>
    </p:spTree>
    <p:extLst>
      <p:ext uri="{BB962C8B-B14F-4D97-AF65-F5344CB8AC3E}">
        <p14:creationId xmlns:p14="http://schemas.microsoft.com/office/powerpoint/2010/main" val="2367593002"/>
      </p:ext>
    </p:extLst>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1026400" y="1710469"/>
            <a:ext cx="6773999" cy="3988155"/>
          </a:xfrm>
          <a:prstGeom prst="rect">
            <a:avLst/>
          </a:prstGeom>
        </p:spPr>
      </p:pic>
      <p:sp>
        <p:nvSpPr>
          <p:cNvPr id="20" name="文本框 19"/>
          <p:cNvSpPr txBox="1"/>
          <p:nvPr/>
        </p:nvSpPr>
        <p:spPr>
          <a:xfrm>
            <a:off x="1071199" y="457068"/>
            <a:ext cx="1620957" cy="523220"/>
          </a:xfrm>
          <a:prstGeom prst="rect">
            <a:avLst/>
          </a:prstGeom>
          <a:noFill/>
        </p:spPr>
        <p:txBody>
          <a:bodyPr wrap="none" rtlCol="0">
            <a:spAutoFit/>
          </a:bodyPr>
          <a:lstStyle/>
          <a:p>
            <a:pPr lvl="0">
              <a:defRPr/>
            </a:pPr>
            <a:r>
              <a:rPr kumimoji="0" lang="zh-CN" altLang="en-US" sz="2800" b="1" i="0" u="none" strike="noStrike" kern="1200" cap="none" spc="0" normalizeH="0" baseline="0" noProof="0" dirty="0">
                <a:ln>
                  <a:noFill/>
                </a:ln>
                <a:solidFill>
                  <a:srgbClr val="4D3F82"/>
                </a:solidFill>
                <a:effectLst/>
                <a:uLnTx/>
                <a:uFillTx/>
                <a:latin typeface="Calibri"/>
                <a:ea typeface="微软雅黑"/>
                <a:cs typeface="+mn-ea"/>
                <a:sym typeface="+mn-lt"/>
              </a:rPr>
              <a:t>实验结果</a:t>
            </a:r>
          </a:p>
        </p:txBody>
      </p:sp>
      <p:sp>
        <p:nvSpPr>
          <p:cNvPr id="6" name="椭圆 5">
            <a:extLst>
              <a:ext uri="{FF2B5EF4-FFF2-40B4-BE49-F238E27FC236}">
                <a16:creationId xmlns:a16="http://schemas.microsoft.com/office/drawing/2014/main" id="{DF773A56-49AF-444E-AF6D-49DFDB041C2E}"/>
              </a:ext>
            </a:extLst>
          </p:cNvPr>
          <p:cNvSpPr/>
          <p:nvPr/>
        </p:nvSpPr>
        <p:spPr>
          <a:xfrm>
            <a:off x="11073997" y="5889631"/>
            <a:ext cx="872276" cy="872276"/>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9723BAD4-F047-4320-87A0-E95852694C3F}"/>
              </a:ext>
            </a:extLst>
          </p:cNvPr>
          <p:cNvSpPr/>
          <p:nvPr/>
        </p:nvSpPr>
        <p:spPr>
          <a:xfrm rot="9430845">
            <a:off x="11432508" y="5123846"/>
            <a:ext cx="344849" cy="344849"/>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D4E3EEDC-7C8A-43DB-BD42-E8947B413BB8}"/>
              </a:ext>
            </a:extLst>
          </p:cNvPr>
          <p:cNvSpPr/>
          <p:nvPr/>
        </p:nvSpPr>
        <p:spPr>
          <a:xfrm rot="9430845">
            <a:off x="10447956" y="6589483"/>
            <a:ext cx="344849" cy="344849"/>
          </a:xfrm>
          <a:prstGeom prst="ellipse">
            <a:avLst/>
          </a:prstGeom>
          <a:solidFill>
            <a:srgbClr val="4D3F82"/>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EF07DB3A-3E81-4DC1-8E47-D5A7AB5ABD16}"/>
              </a:ext>
            </a:extLst>
          </p:cNvPr>
          <p:cNvSpPr/>
          <p:nvPr/>
        </p:nvSpPr>
        <p:spPr>
          <a:xfrm rot="9430845">
            <a:off x="528920" y="441278"/>
            <a:ext cx="503796" cy="511184"/>
          </a:xfrm>
          <a:prstGeom prst="ellipse">
            <a:avLst/>
          </a:prstGeom>
          <a:solidFill>
            <a:srgbClr val="4D3F8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FB187FA8-C04C-4322-891C-A741CEA371EC}"/>
              </a:ext>
            </a:extLst>
          </p:cNvPr>
          <p:cNvSpPr txBox="1"/>
          <p:nvPr/>
        </p:nvSpPr>
        <p:spPr>
          <a:xfrm>
            <a:off x="524715" y="466029"/>
            <a:ext cx="561265" cy="461665"/>
          </a:xfrm>
          <a:prstGeom prst="rect">
            <a:avLst/>
          </a:prstGeom>
          <a:noFill/>
        </p:spPr>
        <p:txBody>
          <a:bodyPr wrap="square" rtlCol="0">
            <a:spAutoFit/>
          </a:bodyPr>
          <a:lstStyle/>
          <a:p>
            <a:r>
              <a:rPr lang="en-US" altLang="zh-CN" sz="2400" dirty="0">
                <a:solidFill>
                  <a:schemeClr val="bg1"/>
                </a:solidFill>
                <a:latin typeface="Bauhaus 93" panose="04030905020B02020C02" pitchFamily="82" charset="0"/>
              </a:rPr>
              <a:t>03</a:t>
            </a:r>
            <a:endParaRPr lang="zh-CN" altLang="en-US" sz="2400" dirty="0">
              <a:solidFill>
                <a:schemeClr val="bg1"/>
              </a:solidFill>
              <a:latin typeface="Bauhaus 93" panose="04030905020B02020C02" pitchFamily="82" charset="0"/>
            </a:endParaRPr>
          </a:p>
        </p:txBody>
      </p:sp>
      <p:sp>
        <p:nvSpPr>
          <p:cNvPr id="37" name="椭圆 36">
            <a:extLst>
              <a:ext uri="{FF2B5EF4-FFF2-40B4-BE49-F238E27FC236}">
                <a16:creationId xmlns:a16="http://schemas.microsoft.com/office/drawing/2014/main" id="{7A007603-F3D9-40C8-B984-92A6C591C1ED}"/>
              </a:ext>
            </a:extLst>
          </p:cNvPr>
          <p:cNvSpPr/>
          <p:nvPr/>
        </p:nvSpPr>
        <p:spPr>
          <a:xfrm rot="14219635">
            <a:off x="-422765" y="-198887"/>
            <a:ext cx="872276" cy="872276"/>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6E536261-448B-42D2-AA47-008BC8415B5E}"/>
              </a:ext>
            </a:extLst>
          </p:cNvPr>
          <p:cNvSpPr/>
          <p:nvPr/>
        </p:nvSpPr>
        <p:spPr>
          <a:xfrm rot="14219635">
            <a:off x="367756" y="1142977"/>
            <a:ext cx="163510" cy="163510"/>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0" name="图片 3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6359445"/>
            <a:ext cx="3374582" cy="537824"/>
          </a:xfrm>
          <a:prstGeom prst="rect">
            <a:avLst/>
          </a:prstGeom>
        </p:spPr>
      </p:pic>
      <p:sp>
        <p:nvSpPr>
          <p:cNvPr id="3" name="矩形 2"/>
          <p:cNvSpPr/>
          <p:nvPr/>
        </p:nvSpPr>
        <p:spPr>
          <a:xfrm>
            <a:off x="993190" y="842528"/>
            <a:ext cx="9206720" cy="707886"/>
          </a:xfrm>
          <a:prstGeom prst="rect">
            <a:avLst/>
          </a:prstGeom>
        </p:spPr>
        <p:txBody>
          <a:bodyPr wrap="square">
            <a:spAutoFit/>
          </a:bodyPr>
          <a:lstStyle/>
          <a:p>
            <a:pPr>
              <a:lnSpc>
                <a:spcPct val="200000"/>
              </a:lnSpc>
            </a:pPr>
            <a:r>
              <a:rPr lang="en-US" altLang="zh-CN" sz="2000" dirty="0">
                <a:solidFill>
                  <a:schemeClr val="tx1">
                    <a:lumMod val="50000"/>
                  </a:schemeClr>
                </a:solidFill>
                <a:latin typeface="+mn-ea"/>
              </a:rPr>
              <a:t>7. </a:t>
            </a:r>
            <a:r>
              <a:rPr lang="zh-CN" altLang="en-US" sz="2000" dirty="0">
                <a:solidFill>
                  <a:schemeClr val="tx1">
                    <a:lumMod val="50000"/>
                  </a:schemeClr>
                </a:solidFill>
                <a:latin typeface="+mn-ea"/>
              </a:rPr>
              <a:t>文本摘要</a:t>
            </a:r>
            <a:endParaRPr lang="en-US" altLang="zh-CN" sz="2000" dirty="0">
              <a:solidFill>
                <a:schemeClr val="tx1">
                  <a:lumMod val="50000"/>
                </a:schemeClr>
              </a:solidFill>
              <a:latin typeface="+mn-ea"/>
            </a:endParaRPr>
          </a:p>
        </p:txBody>
      </p:sp>
      <p:sp>
        <p:nvSpPr>
          <p:cNvPr id="13" name="矩形 12"/>
          <p:cNvSpPr/>
          <p:nvPr/>
        </p:nvSpPr>
        <p:spPr>
          <a:xfrm>
            <a:off x="7833552" y="2725301"/>
            <a:ext cx="3498361" cy="1938992"/>
          </a:xfrm>
          <a:prstGeom prst="rect">
            <a:avLst/>
          </a:prstGeom>
        </p:spPr>
        <p:txBody>
          <a:bodyPr wrap="square">
            <a:spAutoFit/>
          </a:bodyPr>
          <a:lstStyle/>
          <a:p>
            <a:pPr>
              <a:lnSpc>
                <a:spcPct val="150000"/>
              </a:lnSpc>
            </a:pPr>
            <a:r>
              <a:rPr lang="zh-CN" altLang="en-US" sz="1600" dirty="0">
                <a:solidFill>
                  <a:schemeClr val="tx1">
                    <a:lumMod val="50000"/>
                  </a:schemeClr>
                </a:solidFill>
                <a:latin typeface="+mn-ea"/>
              </a:rPr>
              <a:t>文档的重要内容通常均匀分布在长文本中；而且</a:t>
            </a:r>
            <a:r>
              <a:rPr lang="zh-CN" altLang="en-US" sz="1600">
                <a:solidFill>
                  <a:schemeClr val="tx1">
                    <a:lumMod val="50000"/>
                  </a:schemeClr>
                </a:solidFill>
                <a:latin typeface="+mn-ea"/>
              </a:rPr>
              <a:t>长文本具有丰富</a:t>
            </a:r>
            <a:r>
              <a:rPr lang="zh-CN" altLang="en-US" sz="1600" dirty="0">
                <a:solidFill>
                  <a:schemeClr val="tx1">
                    <a:lumMod val="50000"/>
                  </a:schemeClr>
                </a:solidFill>
                <a:latin typeface="+mn-ea"/>
              </a:rPr>
              <a:t>的论述结构，有利于摘要抽取。因此，采用更长的上下文编码器可提升文本摘要任务性能。</a:t>
            </a:r>
          </a:p>
        </p:txBody>
      </p:sp>
    </p:spTree>
    <p:extLst>
      <p:ext uri="{BB962C8B-B14F-4D97-AF65-F5344CB8AC3E}">
        <p14:creationId xmlns:p14="http://schemas.microsoft.com/office/powerpoint/2010/main" val="4004191378"/>
      </p:ext>
    </p:extLst>
  </p:cSld>
  <p:clrMapOvr>
    <a:masterClrMapping/>
  </p:clrMapOvr>
  <p:transition spd="slow">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a16="http://schemas.microsoft.com/office/drawing/2014/main" id="{55164F64-BEF1-41A1-A6DD-02DF11269F12}"/>
              </a:ext>
            </a:extLst>
          </p:cNvPr>
          <p:cNvSpPr/>
          <p:nvPr/>
        </p:nvSpPr>
        <p:spPr>
          <a:xfrm>
            <a:off x="0" y="-1"/>
            <a:ext cx="12192000" cy="6858000"/>
          </a:xfrm>
          <a:prstGeom prst="rect">
            <a:avLst/>
          </a:prstGeom>
          <a:solidFill>
            <a:srgbClr val="4D3F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a:extLst>
              <a:ext uri="{FF2B5EF4-FFF2-40B4-BE49-F238E27FC236}">
                <a16:creationId xmlns:a16="http://schemas.microsoft.com/office/drawing/2014/main" id="{E92A6508-C4C2-46DE-9B0C-E4518948436E}"/>
              </a:ext>
            </a:extLst>
          </p:cNvPr>
          <p:cNvGrpSpPr/>
          <p:nvPr/>
        </p:nvGrpSpPr>
        <p:grpSpPr>
          <a:xfrm>
            <a:off x="0" y="2097911"/>
            <a:ext cx="12192000" cy="2662177"/>
            <a:chOff x="0" y="0"/>
            <a:chExt cx="12192000" cy="2662177"/>
          </a:xfrm>
        </p:grpSpPr>
        <p:sp>
          <p:nvSpPr>
            <p:cNvPr id="3" name="矩形 2">
              <a:extLst>
                <a:ext uri="{FF2B5EF4-FFF2-40B4-BE49-F238E27FC236}">
                  <a16:creationId xmlns:a16="http://schemas.microsoft.com/office/drawing/2014/main" id="{8132A4A6-78E0-4DB7-BB5C-5BB9EA399CFB}"/>
                </a:ext>
              </a:extLst>
            </p:cNvPr>
            <p:cNvSpPr/>
            <p:nvPr/>
          </p:nvSpPr>
          <p:spPr>
            <a:xfrm>
              <a:off x="0" y="0"/>
              <a:ext cx="12192000" cy="2662177"/>
            </a:xfrm>
            <a:prstGeom prst="rect">
              <a:avLst/>
            </a:prstGeom>
            <a:solidFill>
              <a:srgbClr val="CE45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a:extLst>
                <a:ext uri="{FF2B5EF4-FFF2-40B4-BE49-F238E27FC236}">
                  <a16:creationId xmlns:a16="http://schemas.microsoft.com/office/drawing/2014/main" id="{7F2B08F7-2990-4E6D-8F1E-1B5943E1E76F}"/>
                </a:ext>
              </a:extLst>
            </p:cNvPr>
            <p:cNvCxnSpPr/>
            <p:nvPr/>
          </p:nvCxnSpPr>
          <p:spPr>
            <a:xfrm>
              <a:off x="0" y="428263"/>
              <a:ext cx="12192000" cy="0"/>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8E583180-A716-43A9-B855-9425078598B0}"/>
                </a:ext>
              </a:extLst>
            </p:cNvPr>
            <p:cNvCxnSpPr/>
            <p:nvPr/>
          </p:nvCxnSpPr>
          <p:spPr>
            <a:xfrm>
              <a:off x="0" y="939478"/>
              <a:ext cx="12192000" cy="0"/>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FDC324B6-918C-4E6F-8EFB-0278E6C3FA7C}"/>
                </a:ext>
              </a:extLst>
            </p:cNvPr>
            <p:cNvCxnSpPr/>
            <p:nvPr/>
          </p:nvCxnSpPr>
          <p:spPr>
            <a:xfrm>
              <a:off x="0" y="1450693"/>
              <a:ext cx="12192000" cy="0"/>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0EFF3A5C-D2DE-49B9-9027-C8C7C633A4DB}"/>
                </a:ext>
              </a:extLst>
            </p:cNvPr>
            <p:cNvCxnSpPr/>
            <p:nvPr/>
          </p:nvCxnSpPr>
          <p:spPr>
            <a:xfrm>
              <a:off x="0" y="1961908"/>
              <a:ext cx="12192000" cy="0"/>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61D76C6B-C0C1-41D0-881A-C1E9D8ED664C}"/>
                </a:ext>
              </a:extLst>
            </p:cNvPr>
            <p:cNvCxnSpPr/>
            <p:nvPr/>
          </p:nvCxnSpPr>
          <p:spPr>
            <a:xfrm>
              <a:off x="590309"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9A805BFF-524B-48F9-B47E-B94AB6AFB031}"/>
                </a:ext>
              </a:extLst>
            </p:cNvPr>
            <p:cNvCxnSpPr/>
            <p:nvPr/>
          </p:nvCxnSpPr>
          <p:spPr>
            <a:xfrm>
              <a:off x="1170972"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9BE2AA2F-8430-4DB9-AE3A-5FC1FC51807F}"/>
                </a:ext>
              </a:extLst>
            </p:cNvPr>
            <p:cNvCxnSpPr/>
            <p:nvPr/>
          </p:nvCxnSpPr>
          <p:spPr>
            <a:xfrm>
              <a:off x="1751635"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0ADC280E-A58D-4AB2-8545-ABD30653DE3A}"/>
                </a:ext>
              </a:extLst>
            </p:cNvPr>
            <p:cNvCxnSpPr/>
            <p:nvPr/>
          </p:nvCxnSpPr>
          <p:spPr>
            <a:xfrm>
              <a:off x="2332298"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43E2A3D7-72C6-43BE-AF7A-CD631D4FD3FF}"/>
                </a:ext>
              </a:extLst>
            </p:cNvPr>
            <p:cNvCxnSpPr/>
            <p:nvPr/>
          </p:nvCxnSpPr>
          <p:spPr>
            <a:xfrm>
              <a:off x="2912961"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416D857C-603E-46D4-9E3C-329BF93FA47F}"/>
                </a:ext>
              </a:extLst>
            </p:cNvPr>
            <p:cNvCxnSpPr/>
            <p:nvPr/>
          </p:nvCxnSpPr>
          <p:spPr>
            <a:xfrm>
              <a:off x="3493624"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448B7987-5E53-472E-B89C-7D3F40D34EAD}"/>
                </a:ext>
              </a:extLst>
            </p:cNvPr>
            <p:cNvCxnSpPr/>
            <p:nvPr/>
          </p:nvCxnSpPr>
          <p:spPr>
            <a:xfrm>
              <a:off x="4074287"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75407F92-E9FA-42C8-88B6-34D254B700E4}"/>
                </a:ext>
              </a:extLst>
            </p:cNvPr>
            <p:cNvCxnSpPr/>
            <p:nvPr/>
          </p:nvCxnSpPr>
          <p:spPr>
            <a:xfrm>
              <a:off x="4654950"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E2C2CB76-049F-4583-9F8C-3462CD54E821}"/>
                </a:ext>
              </a:extLst>
            </p:cNvPr>
            <p:cNvCxnSpPr/>
            <p:nvPr/>
          </p:nvCxnSpPr>
          <p:spPr>
            <a:xfrm>
              <a:off x="5235613"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054C728B-6510-4168-97C1-232AEC30CE3A}"/>
                </a:ext>
              </a:extLst>
            </p:cNvPr>
            <p:cNvCxnSpPr/>
            <p:nvPr/>
          </p:nvCxnSpPr>
          <p:spPr>
            <a:xfrm>
              <a:off x="5816276"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A0A3F8EB-EF69-4A3A-BF55-E98B8459CE09}"/>
                </a:ext>
              </a:extLst>
            </p:cNvPr>
            <p:cNvCxnSpPr/>
            <p:nvPr/>
          </p:nvCxnSpPr>
          <p:spPr>
            <a:xfrm>
              <a:off x="6396939"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5C88CF4F-98A9-4E94-A21A-787ECE2C3238}"/>
                </a:ext>
              </a:extLst>
            </p:cNvPr>
            <p:cNvCxnSpPr/>
            <p:nvPr/>
          </p:nvCxnSpPr>
          <p:spPr>
            <a:xfrm>
              <a:off x="6977602"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212753DC-2381-4531-A177-2293D0078626}"/>
                </a:ext>
              </a:extLst>
            </p:cNvPr>
            <p:cNvCxnSpPr/>
            <p:nvPr/>
          </p:nvCxnSpPr>
          <p:spPr>
            <a:xfrm>
              <a:off x="7558265"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1708E870-C5C3-434A-BFD1-D7A7793BDE48}"/>
                </a:ext>
              </a:extLst>
            </p:cNvPr>
            <p:cNvCxnSpPr/>
            <p:nvPr/>
          </p:nvCxnSpPr>
          <p:spPr>
            <a:xfrm>
              <a:off x="8138928"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CE3A6AF3-3FE4-4C58-82B0-3811BDEBBADF}"/>
                </a:ext>
              </a:extLst>
            </p:cNvPr>
            <p:cNvCxnSpPr/>
            <p:nvPr/>
          </p:nvCxnSpPr>
          <p:spPr>
            <a:xfrm>
              <a:off x="8719591"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77244BD5-43DD-4E23-BDDE-6DB84D67B88D}"/>
                </a:ext>
              </a:extLst>
            </p:cNvPr>
            <p:cNvCxnSpPr/>
            <p:nvPr/>
          </p:nvCxnSpPr>
          <p:spPr>
            <a:xfrm>
              <a:off x="9300254"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347F9664-D2F3-4775-989A-6E14ADD4356A}"/>
                </a:ext>
              </a:extLst>
            </p:cNvPr>
            <p:cNvCxnSpPr/>
            <p:nvPr/>
          </p:nvCxnSpPr>
          <p:spPr>
            <a:xfrm>
              <a:off x="9880917"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3120FA74-E9E3-4AE4-B8AF-6D8C29392C1E}"/>
                </a:ext>
              </a:extLst>
            </p:cNvPr>
            <p:cNvCxnSpPr/>
            <p:nvPr/>
          </p:nvCxnSpPr>
          <p:spPr>
            <a:xfrm>
              <a:off x="10461580"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AF693444-EB4D-42CF-AD2F-A47C04F4353C}"/>
                </a:ext>
              </a:extLst>
            </p:cNvPr>
            <p:cNvCxnSpPr/>
            <p:nvPr/>
          </p:nvCxnSpPr>
          <p:spPr>
            <a:xfrm>
              <a:off x="11042243"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2FDFE81F-E0DB-4238-A1CB-4EACD0EDD01B}"/>
                </a:ext>
              </a:extLst>
            </p:cNvPr>
            <p:cNvCxnSpPr/>
            <p:nvPr/>
          </p:nvCxnSpPr>
          <p:spPr>
            <a:xfrm>
              <a:off x="11622906" y="0"/>
              <a:ext cx="0" cy="2662177"/>
            </a:xfrm>
            <a:prstGeom prst="line">
              <a:avLst/>
            </a:prstGeom>
            <a:ln w="3175">
              <a:solidFill>
                <a:srgbClr val="CFC4BF"/>
              </a:solidFill>
            </a:ln>
          </p:spPr>
          <p:style>
            <a:lnRef idx="1">
              <a:schemeClr val="accent1"/>
            </a:lnRef>
            <a:fillRef idx="0">
              <a:schemeClr val="accent1"/>
            </a:fillRef>
            <a:effectRef idx="0">
              <a:schemeClr val="accent1"/>
            </a:effectRef>
            <a:fontRef idx="minor">
              <a:schemeClr val="tx1"/>
            </a:fontRef>
          </p:style>
        </p:cxnSp>
      </p:grpSp>
      <p:sp>
        <p:nvSpPr>
          <p:cNvPr id="29" name="矩形 28">
            <a:extLst>
              <a:ext uri="{FF2B5EF4-FFF2-40B4-BE49-F238E27FC236}">
                <a16:creationId xmlns:a16="http://schemas.microsoft.com/office/drawing/2014/main" id="{6443A7B5-2534-4A93-8180-11DCF023065C}"/>
              </a:ext>
            </a:extLst>
          </p:cNvPr>
          <p:cNvSpPr/>
          <p:nvPr/>
        </p:nvSpPr>
        <p:spPr>
          <a:xfrm>
            <a:off x="2332301" y="1241385"/>
            <a:ext cx="7527399" cy="4375230"/>
          </a:xfrm>
          <a:prstGeom prst="rect">
            <a:avLst/>
          </a:prstGeom>
          <a:solidFill>
            <a:srgbClr val="4D3F82"/>
          </a:solidFill>
          <a:ln>
            <a:noFill/>
          </a:ln>
          <a:effectLst>
            <a:outerShdw blurRad="63500" sx="106000" sy="106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a:extLst>
              <a:ext uri="{FF2B5EF4-FFF2-40B4-BE49-F238E27FC236}">
                <a16:creationId xmlns:a16="http://schemas.microsoft.com/office/drawing/2014/main" id="{2C10FBED-D4ED-4A8F-9A64-839ABD83AE70}"/>
              </a:ext>
            </a:extLst>
          </p:cNvPr>
          <p:cNvSpPr txBox="1"/>
          <p:nvPr/>
        </p:nvSpPr>
        <p:spPr>
          <a:xfrm>
            <a:off x="4407055" y="2779163"/>
            <a:ext cx="2882097" cy="769441"/>
          </a:xfrm>
          <a:prstGeom prst="rect">
            <a:avLst/>
          </a:prstGeom>
          <a:noFill/>
        </p:spPr>
        <p:txBody>
          <a:bodyPr wrap="square" rtlCol="0">
            <a:spAutoFit/>
          </a:bodyPr>
          <a:lstStyle/>
          <a:p>
            <a:pPr algn="ctr"/>
            <a:r>
              <a:rPr lang="en-US" altLang="zh-CN" sz="4400" b="1">
                <a:solidFill>
                  <a:srgbClr val="4D3F82"/>
                </a:solidFill>
                <a:latin typeface="Century Gothic" panose="020B0502020202020204" pitchFamily="34" charset="0"/>
              </a:rPr>
              <a:t>PART  01</a:t>
            </a:r>
            <a:endParaRPr lang="zh-CN" altLang="en-US" sz="4400" b="1">
              <a:solidFill>
                <a:srgbClr val="4D3F82"/>
              </a:solidFill>
              <a:latin typeface="Century Gothic" panose="020B0502020202020204" pitchFamily="34" charset="0"/>
            </a:endParaRPr>
          </a:p>
        </p:txBody>
      </p:sp>
      <p:sp>
        <p:nvSpPr>
          <p:cNvPr id="32" name="文本框 31">
            <a:extLst>
              <a:ext uri="{FF2B5EF4-FFF2-40B4-BE49-F238E27FC236}">
                <a16:creationId xmlns:a16="http://schemas.microsoft.com/office/drawing/2014/main" id="{5104F2DC-C794-4550-9679-A4FDA2310F94}"/>
              </a:ext>
            </a:extLst>
          </p:cNvPr>
          <p:cNvSpPr txBox="1"/>
          <p:nvPr/>
        </p:nvSpPr>
        <p:spPr>
          <a:xfrm>
            <a:off x="4751612" y="892224"/>
            <a:ext cx="2688776" cy="2646878"/>
          </a:xfrm>
          <a:prstGeom prst="rect">
            <a:avLst/>
          </a:prstGeom>
          <a:noFill/>
        </p:spPr>
        <p:txBody>
          <a:bodyPr wrap="square" rtlCol="0">
            <a:spAutoFit/>
          </a:bodyPr>
          <a:lstStyle/>
          <a:p>
            <a:pPr algn="ctr"/>
            <a:r>
              <a:rPr lang="en-US" altLang="zh-CN" sz="16600" dirty="0">
                <a:solidFill>
                  <a:schemeClr val="bg1"/>
                </a:solidFill>
                <a:latin typeface="Bauhaus 93" panose="04030905020B02020C02" pitchFamily="82" charset="0"/>
              </a:rPr>
              <a:t>04</a:t>
            </a:r>
            <a:endParaRPr lang="zh-CN" altLang="en-US" sz="16600" dirty="0">
              <a:solidFill>
                <a:schemeClr val="bg1"/>
              </a:solidFill>
              <a:latin typeface="Bauhaus 93" panose="04030905020B02020C02" pitchFamily="82" charset="0"/>
            </a:endParaRPr>
          </a:p>
        </p:txBody>
      </p:sp>
      <p:sp>
        <p:nvSpPr>
          <p:cNvPr id="34" name="椭圆 33">
            <a:extLst>
              <a:ext uri="{FF2B5EF4-FFF2-40B4-BE49-F238E27FC236}">
                <a16:creationId xmlns:a16="http://schemas.microsoft.com/office/drawing/2014/main" id="{695E17C3-B4C6-4AB9-9EB5-BD6A63284E90}"/>
              </a:ext>
            </a:extLst>
          </p:cNvPr>
          <p:cNvSpPr/>
          <p:nvPr/>
        </p:nvSpPr>
        <p:spPr>
          <a:xfrm rot="2557811">
            <a:off x="9061044" y="5322088"/>
            <a:ext cx="478420" cy="478420"/>
          </a:xfrm>
          <a:prstGeom prst="ellipse">
            <a:avLst/>
          </a:prstGeom>
          <a:solidFill>
            <a:srgbClr val="CE4569"/>
          </a:solidFill>
          <a:ln>
            <a:noFill/>
          </a:ln>
          <a:effectLst>
            <a:outerShdw blurRad="50800" dist="1016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a:extLst>
              <a:ext uri="{FF2B5EF4-FFF2-40B4-BE49-F238E27FC236}">
                <a16:creationId xmlns:a16="http://schemas.microsoft.com/office/drawing/2014/main" id="{CC000E46-6AF4-4594-A9DF-80A429D9E045}"/>
              </a:ext>
            </a:extLst>
          </p:cNvPr>
          <p:cNvSpPr/>
          <p:nvPr/>
        </p:nvSpPr>
        <p:spPr>
          <a:xfrm rot="2557811">
            <a:off x="924600" y="231320"/>
            <a:ext cx="1073409" cy="1073409"/>
          </a:xfrm>
          <a:prstGeom prst="ellipse">
            <a:avLst/>
          </a:prstGeom>
          <a:solidFill>
            <a:srgbClr val="CE4569"/>
          </a:solidFill>
          <a:ln>
            <a:noFill/>
          </a:ln>
          <a:effectLst>
            <a:outerShdw blurRad="50800" dist="38100" sx="105000" sy="1050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 35">
            <a:extLst>
              <a:ext uri="{FF2B5EF4-FFF2-40B4-BE49-F238E27FC236}">
                <a16:creationId xmlns:a16="http://schemas.microsoft.com/office/drawing/2014/main" id="{23C69A77-F915-4361-82AE-DD0CD44CE947}"/>
              </a:ext>
            </a:extLst>
          </p:cNvPr>
          <p:cNvSpPr/>
          <p:nvPr/>
        </p:nvSpPr>
        <p:spPr>
          <a:xfrm rot="8799648">
            <a:off x="1840248" y="5850403"/>
            <a:ext cx="429104" cy="429104"/>
          </a:xfrm>
          <a:prstGeom prst="ellipse">
            <a:avLst/>
          </a:prstGeom>
          <a:solidFill>
            <a:srgbClr val="CE4569"/>
          </a:solidFill>
          <a:ln>
            <a:noFill/>
          </a:ln>
          <a:effectLst>
            <a:outerShdw blurRad="50800" dist="38100" sx="105000" sy="1050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a:extLst>
              <a:ext uri="{FF2B5EF4-FFF2-40B4-BE49-F238E27FC236}">
                <a16:creationId xmlns:a16="http://schemas.microsoft.com/office/drawing/2014/main" id="{D7EF4AA4-688F-47C9-9020-B357F4A30475}"/>
              </a:ext>
            </a:extLst>
          </p:cNvPr>
          <p:cNvSpPr/>
          <p:nvPr/>
        </p:nvSpPr>
        <p:spPr>
          <a:xfrm rot="2962617">
            <a:off x="8947701" y="1420155"/>
            <a:ext cx="429104" cy="429104"/>
          </a:xfrm>
          <a:prstGeom prst="ellipse">
            <a:avLst/>
          </a:prstGeom>
          <a:solidFill>
            <a:srgbClr val="CE4569"/>
          </a:solidFill>
          <a:ln>
            <a:noFill/>
          </a:ln>
          <a:effectLst>
            <a:outerShdw blurRad="38100" dist="63500" dir="10800000" sx="101000" sy="101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2CB25251-652D-46A8-B19B-6DE6EEDF3EB6}"/>
              </a:ext>
            </a:extLst>
          </p:cNvPr>
          <p:cNvSpPr/>
          <p:nvPr/>
        </p:nvSpPr>
        <p:spPr>
          <a:xfrm rot="2962617">
            <a:off x="10610130" y="3019329"/>
            <a:ext cx="351210" cy="351210"/>
          </a:xfrm>
          <a:prstGeom prst="ellipse">
            <a:avLst/>
          </a:prstGeom>
          <a:solidFill>
            <a:srgbClr val="4D3F82"/>
          </a:solidFill>
          <a:ln>
            <a:noFill/>
          </a:ln>
          <a:effectLst>
            <a:outerShdw blurRad="38100" dist="63500" dir="10800000" sx="101000" sy="101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a:extLst>
              <a:ext uri="{FF2B5EF4-FFF2-40B4-BE49-F238E27FC236}">
                <a16:creationId xmlns:a16="http://schemas.microsoft.com/office/drawing/2014/main" id="{4591EE37-3ADC-4ADC-A525-CC8E9AF29EAA}"/>
              </a:ext>
            </a:extLst>
          </p:cNvPr>
          <p:cNvSpPr/>
          <p:nvPr/>
        </p:nvSpPr>
        <p:spPr>
          <a:xfrm rot="2962617">
            <a:off x="1982806" y="3709369"/>
            <a:ext cx="351210" cy="351210"/>
          </a:xfrm>
          <a:prstGeom prst="ellipse">
            <a:avLst/>
          </a:prstGeom>
          <a:solidFill>
            <a:srgbClr val="4D3F82"/>
          </a:solidFill>
          <a:ln>
            <a:noFill/>
          </a:ln>
          <a:effectLst>
            <a:outerShdw blurRad="38100" dist="63500" dir="10800000" sx="101000" sy="101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a:extLst>
              <a:ext uri="{FF2B5EF4-FFF2-40B4-BE49-F238E27FC236}">
                <a16:creationId xmlns:a16="http://schemas.microsoft.com/office/drawing/2014/main" id="{6FE2F28D-601C-4A36-8EAC-F80E8828B650}"/>
              </a:ext>
            </a:extLst>
          </p:cNvPr>
          <p:cNvSpPr txBox="1"/>
          <p:nvPr/>
        </p:nvSpPr>
        <p:spPr>
          <a:xfrm>
            <a:off x="4182894" y="3558106"/>
            <a:ext cx="3956034" cy="707886"/>
          </a:xfrm>
          <a:prstGeom prst="rect">
            <a:avLst/>
          </a:prstGeom>
          <a:noFill/>
        </p:spPr>
        <p:txBody>
          <a:bodyPr wrap="square" rtlCol="0">
            <a:spAutoFit/>
          </a:bodyPr>
          <a:lstStyle/>
          <a:p>
            <a:pPr algn="ctr"/>
            <a:r>
              <a:rPr lang="zh-CN" altLang="en-US" sz="4000" spc="600" dirty="0">
                <a:solidFill>
                  <a:schemeClr val="bg1"/>
                </a:solidFill>
                <a:latin typeface="微软雅黑" panose="020B0503020204020204" pitchFamily="34" charset="-122"/>
                <a:ea typeface="微软雅黑" panose="020B0503020204020204" pitchFamily="34" charset="-122"/>
              </a:rPr>
              <a:t>总结</a:t>
            </a:r>
          </a:p>
        </p:txBody>
      </p:sp>
      <p:pic>
        <p:nvPicPr>
          <p:cNvPr id="41" name="图片 4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17418" y="6320176"/>
            <a:ext cx="3374582" cy="537824"/>
          </a:xfrm>
          <a:prstGeom prst="rect">
            <a:avLst/>
          </a:prstGeom>
        </p:spPr>
      </p:pic>
    </p:spTree>
    <p:extLst>
      <p:ext uri="{BB962C8B-B14F-4D97-AF65-F5344CB8AC3E}">
        <p14:creationId xmlns:p14="http://schemas.microsoft.com/office/powerpoint/2010/main" val="322552895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randombar(horizontal)">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1000"/>
                                        <p:tgtEl>
                                          <p:spTgt spid="40"/>
                                        </p:tgtEl>
                                      </p:cBhvr>
                                    </p:animEffect>
                                    <p:anim calcmode="lin" valueType="num">
                                      <p:cBhvr>
                                        <p:cTn id="13" dur="1000" fill="hold"/>
                                        <p:tgtEl>
                                          <p:spTgt spid="40"/>
                                        </p:tgtEl>
                                        <p:attrNameLst>
                                          <p:attrName>ppt_x</p:attrName>
                                        </p:attrNameLst>
                                      </p:cBhvr>
                                      <p:tavLst>
                                        <p:tav tm="0">
                                          <p:val>
                                            <p:strVal val="#ppt_x"/>
                                          </p:val>
                                        </p:tav>
                                        <p:tav tm="100000">
                                          <p:val>
                                            <p:strVal val="#ppt_x"/>
                                          </p:val>
                                        </p:tav>
                                      </p:tavLst>
                                    </p:anim>
                                    <p:anim calcmode="lin" valueType="num">
                                      <p:cBhvr>
                                        <p:cTn id="14"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4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4219998" y="1017455"/>
            <a:ext cx="1117177" cy="1180163"/>
            <a:chOff x="3249598" y="1293204"/>
            <a:chExt cx="1821526" cy="2010776"/>
          </a:xfrm>
        </p:grpSpPr>
        <p:pic>
          <p:nvPicPr>
            <p:cNvPr id="2" name="图片 1"/>
            <p:cNvPicPr>
              <a:picLocks noChangeAspect="1"/>
            </p:cNvPicPr>
            <p:nvPr/>
          </p:nvPicPr>
          <p:blipFill rotWithShape="1">
            <a:blip r:embed="rId3">
              <a:extLst>
                <a:ext uri="{28A0092B-C50C-407E-A947-70E740481C1C}">
                  <a14:useLocalDpi xmlns:a14="http://schemas.microsoft.com/office/drawing/2010/main" val="0"/>
                </a:ext>
              </a:extLst>
            </a:blip>
            <a:srcRect l="26184" t="65750" r="53553" b="2375"/>
            <a:stretch/>
          </p:blipFill>
          <p:spPr>
            <a:xfrm>
              <a:off x="3249598" y="1293204"/>
              <a:ext cx="1821526" cy="2010776"/>
            </a:xfrm>
            <a:prstGeom prst="rect">
              <a:avLst/>
            </a:prstGeom>
          </p:spPr>
        </p:pic>
        <p:sp>
          <p:nvSpPr>
            <p:cNvPr id="4" name="矩形 3"/>
            <p:cNvSpPr/>
            <p:nvPr/>
          </p:nvSpPr>
          <p:spPr>
            <a:xfrm>
              <a:off x="4606675" y="1297348"/>
              <a:ext cx="464449" cy="2921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2" name="Oval 26">
            <a:extLst>
              <a:ext uri="{FF2B5EF4-FFF2-40B4-BE49-F238E27FC236}">
                <a16:creationId xmlns:a16="http://schemas.microsoft.com/office/drawing/2014/main" id="{E41F29B8-2B36-49E3-A230-1FB4A4B11924}"/>
              </a:ext>
            </a:extLst>
          </p:cNvPr>
          <p:cNvSpPr/>
          <p:nvPr/>
        </p:nvSpPr>
        <p:spPr>
          <a:xfrm>
            <a:off x="6898788" y="2420581"/>
            <a:ext cx="1084731" cy="1084731"/>
          </a:xfrm>
          <a:prstGeom prst="ellipse">
            <a:avLst/>
          </a:prstGeom>
          <a:solidFill>
            <a:srgbClr val="CE45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Calibri"/>
              <a:ea typeface="微软雅黑"/>
              <a:cs typeface="+mn-cs"/>
            </a:endParaRPr>
          </a:p>
        </p:txBody>
      </p:sp>
      <p:sp>
        <p:nvSpPr>
          <p:cNvPr id="36" name="Oval 1">
            <a:extLst>
              <a:ext uri="{FF2B5EF4-FFF2-40B4-BE49-F238E27FC236}">
                <a16:creationId xmlns:a16="http://schemas.microsoft.com/office/drawing/2014/main" id="{56288EF1-188A-465F-A6EA-AF7F3BB29E70}"/>
              </a:ext>
            </a:extLst>
          </p:cNvPr>
          <p:cNvSpPr/>
          <p:nvPr/>
        </p:nvSpPr>
        <p:spPr>
          <a:xfrm>
            <a:off x="4235935" y="2420581"/>
            <a:ext cx="1084731" cy="1084731"/>
          </a:xfrm>
          <a:prstGeom prst="ellipse">
            <a:avLst/>
          </a:prstGeom>
          <a:solidFill>
            <a:srgbClr val="4D3F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Calibri"/>
              <a:ea typeface="微软雅黑"/>
              <a:cs typeface="+mn-cs"/>
            </a:endParaRPr>
          </a:p>
        </p:txBody>
      </p:sp>
      <p:sp>
        <p:nvSpPr>
          <p:cNvPr id="41" name="Oval 28">
            <a:extLst>
              <a:ext uri="{FF2B5EF4-FFF2-40B4-BE49-F238E27FC236}">
                <a16:creationId xmlns:a16="http://schemas.microsoft.com/office/drawing/2014/main" id="{7A426753-95BF-4E97-BF26-C93B83292748}"/>
              </a:ext>
            </a:extLst>
          </p:cNvPr>
          <p:cNvSpPr/>
          <p:nvPr/>
        </p:nvSpPr>
        <p:spPr>
          <a:xfrm>
            <a:off x="1477240" y="2420581"/>
            <a:ext cx="1084731" cy="1084731"/>
          </a:xfrm>
          <a:prstGeom prst="ellipse">
            <a:avLst/>
          </a:prstGeom>
          <a:solidFill>
            <a:srgbClr val="CE45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Calibri"/>
              <a:ea typeface="微软雅黑"/>
              <a:cs typeface="+mn-cs"/>
            </a:endParaRPr>
          </a:p>
        </p:txBody>
      </p:sp>
      <p:sp>
        <p:nvSpPr>
          <p:cNvPr id="20" name="文本框 19"/>
          <p:cNvSpPr txBox="1"/>
          <p:nvPr/>
        </p:nvSpPr>
        <p:spPr>
          <a:xfrm>
            <a:off x="1071199" y="457068"/>
            <a:ext cx="902811" cy="523220"/>
          </a:xfrm>
          <a:prstGeom prst="rect">
            <a:avLst/>
          </a:prstGeom>
          <a:noFill/>
        </p:spPr>
        <p:txBody>
          <a:bodyPr wrap="none" rtlCol="0">
            <a:spAutoFit/>
          </a:bodyPr>
          <a:lstStyle/>
          <a:p>
            <a:pPr lvl="0">
              <a:defRPr/>
            </a:pPr>
            <a:r>
              <a:rPr kumimoji="0" lang="zh-CN" altLang="en-US" sz="2800" b="1" i="0" u="none" strike="noStrike" kern="1200" cap="none" spc="0" normalizeH="0" baseline="0" noProof="0" dirty="0">
                <a:ln>
                  <a:noFill/>
                </a:ln>
                <a:solidFill>
                  <a:srgbClr val="4D3F82"/>
                </a:solidFill>
                <a:effectLst/>
                <a:uLnTx/>
                <a:uFillTx/>
                <a:latin typeface="Calibri"/>
                <a:ea typeface="微软雅黑"/>
                <a:cs typeface="+mn-ea"/>
                <a:sym typeface="+mn-lt"/>
              </a:rPr>
              <a:t>总结</a:t>
            </a:r>
          </a:p>
        </p:txBody>
      </p:sp>
      <p:sp>
        <p:nvSpPr>
          <p:cNvPr id="6" name="椭圆 5">
            <a:extLst>
              <a:ext uri="{FF2B5EF4-FFF2-40B4-BE49-F238E27FC236}">
                <a16:creationId xmlns:a16="http://schemas.microsoft.com/office/drawing/2014/main" id="{DF773A56-49AF-444E-AF6D-49DFDB041C2E}"/>
              </a:ext>
            </a:extLst>
          </p:cNvPr>
          <p:cNvSpPr/>
          <p:nvPr/>
        </p:nvSpPr>
        <p:spPr>
          <a:xfrm>
            <a:off x="11073997" y="5889631"/>
            <a:ext cx="872276" cy="872276"/>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9723BAD4-F047-4320-87A0-E95852694C3F}"/>
              </a:ext>
            </a:extLst>
          </p:cNvPr>
          <p:cNvSpPr/>
          <p:nvPr/>
        </p:nvSpPr>
        <p:spPr>
          <a:xfrm rot="9430845">
            <a:off x="11432508" y="5123846"/>
            <a:ext cx="344849" cy="344849"/>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D4E3EEDC-7C8A-43DB-BD42-E8947B413BB8}"/>
              </a:ext>
            </a:extLst>
          </p:cNvPr>
          <p:cNvSpPr/>
          <p:nvPr/>
        </p:nvSpPr>
        <p:spPr>
          <a:xfrm rot="9430845">
            <a:off x="10447956" y="6589483"/>
            <a:ext cx="344849" cy="344849"/>
          </a:xfrm>
          <a:prstGeom prst="ellipse">
            <a:avLst/>
          </a:prstGeom>
          <a:solidFill>
            <a:srgbClr val="4D3F82"/>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EF07DB3A-3E81-4DC1-8E47-D5A7AB5ABD16}"/>
              </a:ext>
            </a:extLst>
          </p:cNvPr>
          <p:cNvSpPr/>
          <p:nvPr/>
        </p:nvSpPr>
        <p:spPr>
          <a:xfrm rot="9430845">
            <a:off x="528920" y="441278"/>
            <a:ext cx="503796" cy="511184"/>
          </a:xfrm>
          <a:prstGeom prst="ellipse">
            <a:avLst/>
          </a:prstGeom>
          <a:solidFill>
            <a:srgbClr val="4D3F8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FB187FA8-C04C-4322-891C-A741CEA371EC}"/>
              </a:ext>
            </a:extLst>
          </p:cNvPr>
          <p:cNvSpPr txBox="1"/>
          <p:nvPr/>
        </p:nvSpPr>
        <p:spPr>
          <a:xfrm>
            <a:off x="524715" y="466029"/>
            <a:ext cx="561265" cy="461665"/>
          </a:xfrm>
          <a:prstGeom prst="rect">
            <a:avLst/>
          </a:prstGeom>
          <a:noFill/>
        </p:spPr>
        <p:txBody>
          <a:bodyPr wrap="square" rtlCol="0">
            <a:spAutoFit/>
          </a:bodyPr>
          <a:lstStyle/>
          <a:p>
            <a:r>
              <a:rPr lang="en-US" altLang="zh-CN" sz="2400" dirty="0">
                <a:solidFill>
                  <a:schemeClr val="bg1"/>
                </a:solidFill>
                <a:latin typeface="Bauhaus 93" panose="04030905020B02020C02" pitchFamily="82" charset="0"/>
              </a:rPr>
              <a:t>04</a:t>
            </a:r>
            <a:endParaRPr lang="zh-CN" altLang="en-US" sz="2400" dirty="0">
              <a:solidFill>
                <a:schemeClr val="bg1"/>
              </a:solidFill>
              <a:latin typeface="Bauhaus 93" panose="04030905020B02020C02" pitchFamily="82" charset="0"/>
            </a:endParaRPr>
          </a:p>
        </p:txBody>
      </p:sp>
      <p:sp>
        <p:nvSpPr>
          <p:cNvPr id="37" name="椭圆 36">
            <a:extLst>
              <a:ext uri="{FF2B5EF4-FFF2-40B4-BE49-F238E27FC236}">
                <a16:creationId xmlns:a16="http://schemas.microsoft.com/office/drawing/2014/main" id="{7A007603-F3D9-40C8-B984-92A6C591C1ED}"/>
              </a:ext>
            </a:extLst>
          </p:cNvPr>
          <p:cNvSpPr/>
          <p:nvPr/>
        </p:nvSpPr>
        <p:spPr>
          <a:xfrm rot="14219635">
            <a:off x="-422765" y="-198887"/>
            <a:ext cx="872276" cy="872276"/>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6E536261-448B-42D2-AA47-008BC8415B5E}"/>
              </a:ext>
            </a:extLst>
          </p:cNvPr>
          <p:cNvSpPr/>
          <p:nvPr/>
        </p:nvSpPr>
        <p:spPr>
          <a:xfrm rot="14219635">
            <a:off x="367756" y="1142977"/>
            <a:ext cx="163510" cy="163510"/>
          </a:xfrm>
          <a:prstGeom prst="ellipse">
            <a:avLst/>
          </a:prstGeom>
          <a:solidFill>
            <a:srgbClr val="CE4569"/>
          </a:solidFill>
          <a:ln>
            <a:noFill/>
          </a:ln>
          <a:effectLst>
            <a:outerShdw blurRad="254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0" name="图片 3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6359445"/>
            <a:ext cx="3374582" cy="537824"/>
          </a:xfrm>
          <a:prstGeom prst="rect">
            <a:avLst/>
          </a:prstGeom>
        </p:spPr>
      </p:pic>
      <p:sp>
        <p:nvSpPr>
          <p:cNvPr id="3" name="矩形 2"/>
          <p:cNvSpPr/>
          <p:nvPr/>
        </p:nvSpPr>
        <p:spPr>
          <a:xfrm>
            <a:off x="1937972" y="1181109"/>
            <a:ext cx="9206720" cy="719556"/>
          </a:xfrm>
          <a:prstGeom prst="rect">
            <a:avLst/>
          </a:prstGeom>
        </p:spPr>
        <p:txBody>
          <a:bodyPr wrap="square">
            <a:spAutoFit/>
          </a:bodyPr>
          <a:lstStyle/>
          <a:p>
            <a:pPr algn="ctr">
              <a:lnSpc>
                <a:spcPct val="200000"/>
              </a:lnSpc>
            </a:pPr>
            <a:r>
              <a:rPr lang="en-US" altLang="zh-CN" sz="2400" dirty="0">
                <a:solidFill>
                  <a:schemeClr val="tx1">
                    <a:lumMod val="50000"/>
                  </a:schemeClr>
                </a:solidFill>
                <a:latin typeface="+mn-ea"/>
              </a:rPr>
              <a:t>BIG BIRD </a:t>
            </a:r>
            <a:r>
              <a:rPr lang="zh-CN" altLang="en-US" sz="2400" dirty="0">
                <a:solidFill>
                  <a:schemeClr val="tx1">
                    <a:lumMod val="50000"/>
                  </a:schemeClr>
                </a:solidFill>
                <a:latin typeface="+mn-ea"/>
              </a:rPr>
              <a:t>模型</a:t>
            </a:r>
            <a:endParaRPr lang="en-US" altLang="zh-CN" sz="2400" dirty="0">
              <a:solidFill>
                <a:schemeClr val="tx1">
                  <a:lumMod val="50000"/>
                </a:schemeClr>
              </a:solidFill>
              <a:latin typeface="+mn-ea"/>
            </a:endParaRPr>
          </a:p>
        </p:txBody>
      </p:sp>
      <p:sp>
        <p:nvSpPr>
          <p:cNvPr id="39" name="Oval 27">
            <a:extLst>
              <a:ext uri="{FF2B5EF4-FFF2-40B4-BE49-F238E27FC236}">
                <a16:creationId xmlns:a16="http://schemas.microsoft.com/office/drawing/2014/main" id="{45A5AB93-4D1B-4792-ADDC-4724580F8730}"/>
              </a:ext>
            </a:extLst>
          </p:cNvPr>
          <p:cNvSpPr/>
          <p:nvPr/>
        </p:nvSpPr>
        <p:spPr>
          <a:xfrm>
            <a:off x="9661708" y="2420581"/>
            <a:ext cx="1084731" cy="1084731"/>
          </a:xfrm>
          <a:prstGeom prst="ellipse">
            <a:avLst/>
          </a:prstGeom>
          <a:solidFill>
            <a:srgbClr val="4D3F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Calibri"/>
              <a:ea typeface="微软雅黑"/>
              <a:cs typeface="+mn-cs"/>
            </a:endParaRPr>
          </a:p>
        </p:txBody>
      </p:sp>
      <p:sp>
        <p:nvSpPr>
          <p:cNvPr id="47" name="Subtitle 2">
            <a:extLst>
              <a:ext uri="{FF2B5EF4-FFF2-40B4-BE49-F238E27FC236}">
                <a16:creationId xmlns:a16="http://schemas.microsoft.com/office/drawing/2014/main" id="{A7E2E8E5-E411-444D-A241-A278001DF3A2}"/>
              </a:ext>
            </a:extLst>
          </p:cNvPr>
          <p:cNvSpPr txBox="1">
            <a:spLocks/>
          </p:cNvSpPr>
          <p:nvPr/>
        </p:nvSpPr>
        <p:spPr>
          <a:xfrm>
            <a:off x="623874" y="4184766"/>
            <a:ext cx="2706987" cy="622769"/>
          </a:xfrm>
          <a:prstGeom prst="rect">
            <a:avLst/>
          </a:prstGeom>
        </p:spPr>
        <p:txBody>
          <a:bodyPr vert="horz" wrap="square" lIns="108745" tIns="54373" rIns="108745" bIns="54373"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1087636" rtl="0" eaLnBrk="1" fontAlgn="auto" latinLnBrk="0" hangingPunct="1">
              <a:lnSpc>
                <a:spcPts val="2020"/>
              </a:lnSpc>
              <a:spcBef>
                <a:spcPct val="20000"/>
              </a:spcBef>
              <a:spcAft>
                <a:spcPts val="0"/>
              </a:spcAft>
              <a:buClrTx/>
              <a:buSzTx/>
              <a:buFont typeface="Arial"/>
              <a:buNone/>
              <a:tabLst/>
              <a:defRPr/>
            </a:pPr>
            <a:r>
              <a:rPr kumimoji="0" lang="zh-CN" altLang="en-US" sz="2000" b="0" i="0" u="none" strike="noStrike" kern="1200" cap="none" spc="0" normalizeH="0" baseline="0" noProof="0" dirty="0">
                <a:ln>
                  <a:noFill/>
                </a:ln>
                <a:solidFill>
                  <a:srgbClr val="7F7F7F"/>
                </a:solidFill>
                <a:effectLst/>
                <a:uLnTx/>
                <a:uFillTx/>
                <a:latin typeface="Century Gothic" panose="020B0502020202020204" pitchFamily="34" charset="0"/>
                <a:ea typeface="Poppins Light" charset="0"/>
                <a:cs typeface="Poppins Light" charset="0"/>
              </a:rPr>
              <a:t>将复杂度从二次依赖降为线性依赖</a:t>
            </a:r>
            <a:endParaRPr kumimoji="0" lang="en-US" sz="2000" b="0" i="0" u="none" strike="noStrike" kern="1200" cap="none" spc="0" normalizeH="0" baseline="0" noProof="0" dirty="0">
              <a:ln>
                <a:noFill/>
              </a:ln>
              <a:solidFill>
                <a:srgbClr val="7F7F7F"/>
              </a:solidFill>
              <a:effectLst/>
              <a:uLnTx/>
              <a:uFillTx/>
              <a:latin typeface="Century Gothic" panose="020B0502020202020204" pitchFamily="34" charset="0"/>
              <a:ea typeface="Poppins Light" charset="0"/>
              <a:cs typeface="Poppins Light" charset="0"/>
            </a:endParaRPr>
          </a:p>
        </p:txBody>
      </p:sp>
      <p:sp>
        <p:nvSpPr>
          <p:cNvPr id="48" name="TextBox 79">
            <a:extLst>
              <a:ext uri="{FF2B5EF4-FFF2-40B4-BE49-F238E27FC236}">
                <a16:creationId xmlns:a16="http://schemas.microsoft.com/office/drawing/2014/main" id="{0EA42674-F00D-476E-BB61-1D9BA398895B}"/>
              </a:ext>
            </a:extLst>
          </p:cNvPr>
          <p:cNvSpPr txBox="1"/>
          <p:nvPr/>
        </p:nvSpPr>
        <p:spPr>
          <a:xfrm>
            <a:off x="1288121" y="3669099"/>
            <a:ext cx="1467068" cy="400110"/>
          </a:xfrm>
          <a:prstGeom prst="rect">
            <a:avLst/>
          </a:prstGeom>
          <a:noFill/>
        </p:spPr>
        <p:txBody>
          <a:bodyPr wrap="none"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2C394C"/>
                </a:solidFill>
                <a:effectLst/>
                <a:uLnTx/>
                <a:uFillTx/>
                <a:latin typeface="Century Gothic" panose="020B0502020202020204" pitchFamily="34" charset="0"/>
                <a:ea typeface="Poppins SemiBold" charset="0"/>
                <a:cs typeface="Poppins SemiBold" charset="0"/>
              </a:rPr>
              <a:t>稀疏注意力</a:t>
            </a:r>
            <a:endParaRPr kumimoji="0" lang="en-US" sz="2000" b="1" i="0" u="none" strike="noStrike" kern="1200" cap="none" spc="0" normalizeH="0" baseline="0" noProof="0" dirty="0">
              <a:ln>
                <a:noFill/>
              </a:ln>
              <a:solidFill>
                <a:srgbClr val="2C394C"/>
              </a:solidFill>
              <a:effectLst/>
              <a:uLnTx/>
              <a:uFillTx/>
              <a:latin typeface="Century Gothic" panose="020B0502020202020204" pitchFamily="34" charset="0"/>
              <a:ea typeface="Poppins SemiBold" charset="0"/>
              <a:cs typeface="Poppins SemiBold" charset="0"/>
            </a:endParaRPr>
          </a:p>
        </p:txBody>
      </p:sp>
      <p:cxnSp>
        <p:nvCxnSpPr>
          <p:cNvPr id="55" name="Straight Connector 86">
            <a:extLst>
              <a:ext uri="{FF2B5EF4-FFF2-40B4-BE49-F238E27FC236}">
                <a16:creationId xmlns:a16="http://schemas.microsoft.com/office/drawing/2014/main" id="{AC275622-310A-45CA-8FE3-43E266BB160B}"/>
              </a:ext>
            </a:extLst>
          </p:cNvPr>
          <p:cNvCxnSpPr/>
          <p:nvPr/>
        </p:nvCxnSpPr>
        <p:spPr>
          <a:xfrm flipH="1">
            <a:off x="6135854" y="2715119"/>
            <a:ext cx="0" cy="2095533"/>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6" name="Straight Connector 87">
            <a:extLst>
              <a:ext uri="{FF2B5EF4-FFF2-40B4-BE49-F238E27FC236}">
                <a16:creationId xmlns:a16="http://schemas.microsoft.com/office/drawing/2014/main" id="{E72505C4-76BD-4C50-9C4D-05039647DAD7}"/>
              </a:ext>
            </a:extLst>
          </p:cNvPr>
          <p:cNvCxnSpPr/>
          <p:nvPr/>
        </p:nvCxnSpPr>
        <p:spPr>
          <a:xfrm flipH="1">
            <a:off x="8847337" y="2715119"/>
            <a:ext cx="0" cy="2095533"/>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7" name="Straight Connector 88">
            <a:extLst>
              <a:ext uri="{FF2B5EF4-FFF2-40B4-BE49-F238E27FC236}">
                <a16:creationId xmlns:a16="http://schemas.microsoft.com/office/drawing/2014/main" id="{C9A0C862-CD65-4228-8B63-465D77B1C936}"/>
              </a:ext>
            </a:extLst>
          </p:cNvPr>
          <p:cNvCxnSpPr/>
          <p:nvPr/>
        </p:nvCxnSpPr>
        <p:spPr>
          <a:xfrm flipH="1">
            <a:off x="3422559" y="2715119"/>
            <a:ext cx="0" cy="2095533"/>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58" name="Subtitle 2">
            <a:extLst>
              <a:ext uri="{FF2B5EF4-FFF2-40B4-BE49-F238E27FC236}">
                <a16:creationId xmlns:a16="http://schemas.microsoft.com/office/drawing/2014/main" id="{A7E2E8E5-E411-444D-A241-A278001DF3A2}"/>
              </a:ext>
            </a:extLst>
          </p:cNvPr>
          <p:cNvSpPr txBox="1">
            <a:spLocks/>
          </p:cNvSpPr>
          <p:nvPr/>
        </p:nvSpPr>
        <p:spPr>
          <a:xfrm>
            <a:off x="3494132" y="4187883"/>
            <a:ext cx="2568660" cy="622769"/>
          </a:xfrm>
          <a:prstGeom prst="rect">
            <a:avLst/>
          </a:prstGeom>
        </p:spPr>
        <p:txBody>
          <a:bodyPr vert="horz" wrap="square" lIns="108745" tIns="54373" rIns="108745" bIns="54373"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1087636" rtl="0" eaLnBrk="1" fontAlgn="auto" latinLnBrk="0" hangingPunct="1">
              <a:lnSpc>
                <a:spcPts val="2020"/>
              </a:lnSpc>
              <a:spcBef>
                <a:spcPct val="20000"/>
              </a:spcBef>
              <a:spcAft>
                <a:spcPts val="0"/>
              </a:spcAft>
              <a:buClrTx/>
              <a:buSzTx/>
              <a:buFont typeface="Arial"/>
              <a:buNone/>
              <a:tabLst/>
              <a:defRPr/>
            </a:pPr>
            <a:r>
              <a:rPr kumimoji="0" lang="zh-CN" altLang="en-US" sz="2000" b="0" i="0" u="none" strike="noStrike" kern="1200" cap="none" spc="0" normalizeH="0" baseline="0" noProof="0" dirty="0">
                <a:ln>
                  <a:noFill/>
                </a:ln>
                <a:solidFill>
                  <a:srgbClr val="7F7F7F"/>
                </a:solidFill>
                <a:effectLst/>
                <a:uLnTx/>
                <a:uFillTx/>
                <a:latin typeface="Century Gothic" panose="020B0502020202020204" pitchFamily="34" charset="0"/>
                <a:ea typeface="Poppins Light" charset="0"/>
                <a:cs typeface="Poppins Light" charset="0"/>
              </a:rPr>
              <a:t>序列函数通用近似器并且是图灵完备的</a:t>
            </a:r>
            <a:endParaRPr kumimoji="0" lang="en-US" sz="2000" b="0" i="0" u="none" strike="noStrike" kern="1200" cap="none" spc="0" normalizeH="0" baseline="0" noProof="0" dirty="0">
              <a:ln>
                <a:noFill/>
              </a:ln>
              <a:solidFill>
                <a:srgbClr val="7F7F7F"/>
              </a:solidFill>
              <a:effectLst/>
              <a:uLnTx/>
              <a:uFillTx/>
              <a:latin typeface="Century Gothic" panose="020B0502020202020204" pitchFamily="34" charset="0"/>
              <a:ea typeface="Poppins Light" charset="0"/>
              <a:cs typeface="Poppins Light" charset="0"/>
            </a:endParaRPr>
          </a:p>
        </p:txBody>
      </p:sp>
      <p:sp>
        <p:nvSpPr>
          <p:cNvPr id="59" name="TextBox 79">
            <a:extLst>
              <a:ext uri="{FF2B5EF4-FFF2-40B4-BE49-F238E27FC236}">
                <a16:creationId xmlns:a16="http://schemas.microsoft.com/office/drawing/2014/main" id="{0EA42674-F00D-476E-BB61-1D9BA398895B}"/>
              </a:ext>
            </a:extLst>
          </p:cNvPr>
          <p:cNvSpPr txBox="1"/>
          <p:nvPr/>
        </p:nvSpPr>
        <p:spPr>
          <a:xfrm>
            <a:off x="3746923" y="3669099"/>
            <a:ext cx="1980029" cy="400110"/>
          </a:xfrm>
          <a:prstGeom prst="rect">
            <a:avLst/>
          </a:prstGeom>
          <a:noFill/>
        </p:spPr>
        <p:txBody>
          <a:bodyPr wrap="none"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noProof="0" dirty="0">
                <a:solidFill>
                  <a:srgbClr val="2C394C"/>
                </a:solidFill>
                <a:latin typeface="Century Gothic" panose="020B0502020202020204" pitchFamily="34" charset="0"/>
                <a:ea typeface="Poppins SemiBold" charset="0"/>
                <a:cs typeface="Poppins SemiBold" charset="0"/>
              </a:rPr>
              <a:t>序列函数近似器</a:t>
            </a:r>
            <a:endParaRPr kumimoji="0" lang="en-US" sz="2000" b="1" i="0" u="none" strike="noStrike" kern="1200" cap="none" spc="0" normalizeH="0" baseline="0" noProof="0" dirty="0">
              <a:ln>
                <a:noFill/>
              </a:ln>
              <a:solidFill>
                <a:srgbClr val="2C394C"/>
              </a:solidFill>
              <a:effectLst/>
              <a:uLnTx/>
              <a:uFillTx/>
              <a:latin typeface="Century Gothic" panose="020B0502020202020204" pitchFamily="34" charset="0"/>
              <a:ea typeface="Poppins SemiBold" charset="0"/>
              <a:cs typeface="Poppins SemiBold" charset="0"/>
            </a:endParaRPr>
          </a:p>
        </p:txBody>
      </p:sp>
      <p:sp>
        <p:nvSpPr>
          <p:cNvPr id="60" name="Subtitle 2">
            <a:extLst>
              <a:ext uri="{FF2B5EF4-FFF2-40B4-BE49-F238E27FC236}">
                <a16:creationId xmlns:a16="http://schemas.microsoft.com/office/drawing/2014/main" id="{A7E2E8E5-E411-444D-A241-A278001DF3A2}"/>
              </a:ext>
            </a:extLst>
          </p:cNvPr>
          <p:cNvSpPr txBox="1">
            <a:spLocks/>
          </p:cNvSpPr>
          <p:nvPr/>
        </p:nvSpPr>
        <p:spPr>
          <a:xfrm>
            <a:off x="6351378" y="4187883"/>
            <a:ext cx="2125023" cy="622769"/>
          </a:xfrm>
          <a:prstGeom prst="rect">
            <a:avLst/>
          </a:prstGeom>
        </p:spPr>
        <p:txBody>
          <a:bodyPr vert="horz" wrap="square" lIns="108745" tIns="54373" rIns="108745" bIns="54373"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1087636" rtl="0" eaLnBrk="1" fontAlgn="auto" latinLnBrk="0" hangingPunct="1">
              <a:lnSpc>
                <a:spcPts val="2020"/>
              </a:lnSpc>
              <a:spcBef>
                <a:spcPct val="20000"/>
              </a:spcBef>
              <a:spcAft>
                <a:spcPts val="0"/>
              </a:spcAft>
              <a:buClrTx/>
              <a:buSzTx/>
              <a:buFont typeface="Arial"/>
              <a:buNone/>
              <a:tabLst/>
              <a:defRPr/>
            </a:pPr>
            <a:r>
              <a:rPr lang="zh-CN" altLang="en-US" sz="2000" dirty="0">
                <a:solidFill>
                  <a:srgbClr val="7F7F7F"/>
                </a:solidFill>
                <a:latin typeface="Century Gothic" panose="020B0502020202020204" pitchFamily="34" charset="0"/>
                <a:ea typeface="Poppins Light" charset="0"/>
                <a:cs typeface="Poppins Light" charset="0"/>
              </a:rPr>
              <a:t>保证模型的文本表征能力  </a:t>
            </a:r>
            <a:endParaRPr lang="en-US" altLang="zh-CN" sz="2000" dirty="0">
              <a:solidFill>
                <a:srgbClr val="7F7F7F"/>
              </a:solidFill>
              <a:latin typeface="Century Gothic" panose="020B0502020202020204" pitchFamily="34" charset="0"/>
              <a:ea typeface="Poppins Light" charset="0"/>
              <a:cs typeface="Poppins Light" charset="0"/>
            </a:endParaRPr>
          </a:p>
        </p:txBody>
      </p:sp>
      <p:sp>
        <p:nvSpPr>
          <p:cNvPr id="61" name="TextBox 79">
            <a:extLst>
              <a:ext uri="{FF2B5EF4-FFF2-40B4-BE49-F238E27FC236}">
                <a16:creationId xmlns:a16="http://schemas.microsoft.com/office/drawing/2014/main" id="{0EA42674-F00D-476E-BB61-1D9BA398895B}"/>
              </a:ext>
            </a:extLst>
          </p:cNvPr>
          <p:cNvSpPr txBox="1"/>
          <p:nvPr/>
        </p:nvSpPr>
        <p:spPr>
          <a:xfrm>
            <a:off x="6473163" y="3669099"/>
            <a:ext cx="1917513" cy="400110"/>
          </a:xfrm>
          <a:prstGeom prst="rect">
            <a:avLst/>
          </a:prstGeom>
          <a:noFill/>
        </p:spPr>
        <p:txBody>
          <a:bodyPr wrap="none"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solidFill>
                  <a:srgbClr val="2C394C"/>
                </a:solidFill>
                <a:latin typeface="Century Gothic" panose="020B0502020202020204" pitchFamily="34" charset="0"/>
                <a:ea typeface="Poppins SemiBold" charset="0"/>
                <a:cs typeface="Poppins SemiBold" charset="0"/>
              </a:rPr>
              <a:t>添加全局</a:t>
            </a:r>
            <a:r>
              <a:rPr lang="en-US" altLang="zh-CN" sz="2000" b="1" dirty="0">
                <a:solidFill>
                  <a:srgbClr val="2C394C"/>
                </a:solidFill>
                <a:latin typeface="Century Gothic" panose="020B0502020202020204" pitchFamily="34" charset="0"/>
                <a:ea typeface="Poppins SemiBold" charset="0"/>
                <a:cs typeface="Poppins SemiBold" charset="0"/>
              </a:rPr>
              <a:t>token</a:t>
            </a:r>
            <a:endParaRPr kumimoji="0" lang="en-US" sz="2000" b="1" i="0" u="none" strike="noStrike" kern="1200" cap="none" spc="0" normalizeH="0" baseline="0" noProof="0" dirty="0">
              <a:ln>
                <a:noFill/>
              </a:ln>
              <a:solidFill>
                <a:srgbClr val="2C394C"/>
              </a:solidFill>
              <a:effectLst/>
              <a:uLnTx/>
              <a:uFillTx/>
              <a:latin typeface="Century Gothic" panose="020B0502020202020204" pitchFamily="34" charset="0"/>
              <a:ea typeface="Poppins SemiBold" charset="0"/>
              <a:cs typeface="Poppins SemiBold" charset="0"/>
            </a:endParaRPr>
          </a:p>
        </p:txBody>
      </p:sp>
      <p:sp>
        <p:nvSpPr>
          <p:cNvPr id="62" name="Subtitle 2">
            <a:extLst>
              <a:ext uri="{FF2B5EF4-FFF2-40B4-BE49-F238E27FC236}">
                <a16:creationId xmlns:a16="http://schemas.microsoft.com/office/drawing/2014/main" id="{A7E2E8E5-E411-444D-A241-A278001DF3A2}"/>
              </a:ext>
            </a:extLst>
          </p:cNvPr>
          <p:cNvSpPr txBox="1">
            <a:spLocks/>
          </p:cNvSpPr>
          <p:nvPr/>
        </p:nvSpPr>
        <p:spPr>
          <a:xfrm>
            <a:off x="8960509" y="4192930"/>
            <a:ext cx="2791846" cy="622769"/>
          </a:xfrm>
          <a:prstGeom prst="rect">
            <a:avLst/>
          </a:prstGeom>
        </p:spPr>
        <p:txBody>
          <a:bodyPr vert="horz" wrap="square" lIns="108745" tIns="54373" rIns="108745" bIns="54373"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1087636" rtl="0" eaLnBrk="1" fontAlgn="auto" latinLnBrk="0" hangingPunct="1">
              <a:lnSpc>
                <a:spcPts val="2020"/>
              </a:lnSpc>
              <a:spcBef>
                <a:spcPct val="20000"/>
              </a:spcBef>
              <a:spcAft>
                <a:spcPts val="0"/>
              </a:spcAft>
              <a:buClrTx/>
              <a:buSzTx/>
              <a:buFont typeface="Arial"/>
              <a:buNone/>
              <a:tabLst/>
              <a:defRPr/>
            </a:pPr>
            <a:r>
              <a:rPr lang="zh-CN" altLang="en-US" sz="2000" dirty="0">
                <a:solidFill>
                  <a:srgbClr val="7F7F7F"/>
                </a:solidFill>
                <a:latin typeface="Century Gothic" panose="020B0502020202020204" pitchFamily="34" charset="0"/>
                <a:ea typeface="Poppins Light" charset="0"/>
                <a:cs typeface="Poppins Light" charset="0"/>
              </a:rPr>
              <a:t>在通用硬件条件下，提升长文本</a:t>
            </a:r>
            <a:r>
              <a:rPr lang="en-US" altLang="zh-CN" sz="2000" dirty="0">
                <a:solidFill>
                  <a:srgbClr val="7F7F7F"/>
                </a:solidFill>
                <a:latin typeface="Century Gothic" panose="020B0502020202020204" pitchFamily="34" charset="0"/>
                <a:ea typeface="Poppins Light" charset="0"/>
                <a:cs typeface="Poppins Light" charset="0"/>
              </a:rPr>
              <a:t>NLP</a:t>
            </a:r>
            <a:r>
              <a:rPr lang="zh-CN" altLang="en-US" sz="2000" dirty="0">
                <a:solidFill>
                  <a:srgbClr val="7F7F7F"/>
                </a:solidFill>
                <a:latin typeface="Century Gothic" panose="020B0502020202020204" pitchFamily="34" charset="0"/>
                <a:ea typeface="Poppins Light" charset="0"/>
                <a:cs typeface="Poppins Light" charset="0"/>
              </a:rPr>
              <a:t>任务性能</a:t>
            </a:r>
            <a:endParaRPr lang="en-US" altLang="zh-CN" sz="2000" dirty="0">
              <a:solidFill>
                <a:srgbClr val="7F7F7F"/>
              </a:solidFill>
              <a:latin typeface="Century Gothic" panose="020B0502020202020204" pitchFamily="34" charset="0"/>
              <a:ea typeface="Poppins Light" charset="0"/>
              <a:cs typeface="Poppins Light" charset="0"/>
            </a:endParaRPr>
          </a:p>
        </p:txBody>
      </p:sp>
      <p:sp>
        <p:nvSpPr>
          <p:cNvPr id="63" name="TextBox 79">
            <a:extLst>
              <a:ext uri="{FF2B5EF4-FFF2-40B4-BE49-F238E27FC236}">
                <a16:creationId xmlns:a16="http://schemas.microsoft.com/office/drawing/2014/main" id="{0EA42674-F00D-476E-BB61-1D9BA398895B}"/>
              </a:ext>
            </a:extLst>
          </p:cNvPr>
          <p:cNvSpPr txBox="1"/>
          <p:nvPr/>
        </p:nvSpPr>
        <p:spPr>
          <a:xfrm>
            <a:off x="9371955" y="3674146"/>
            <a:ext cx="1723549" cy="400110"/>
          </a:xfrm>
          <a:prstGeom prst="rect">
            <a:avLst/>
          </a:prstGeom>
          <a:noFill/>
        </p:spPr>
        <p:txBody>
          <a:bodyPr wrap="none"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2C394C"/>
                </a:solidFill>
                <a:effectLst/>
                <a:uLnTx/>
                <a:uFillTx/>
                <a:latin typeface="Century Gothic" panose="020B0502020202020204" pitchFamily="34" charset="0"/>
                <a:ea typeface="Poppins SemiBold" charset="0"/>
                <a:cs typeface="Poppins SemiBold" charset="0"/>
              </a:rPr>
              <a:t>处理更长文本</a:t>
            </a:r>
            <a:endParaRPr kumimoji="0" lang="en-US" sz="2000" b="1" i="0" u="none" strike="noStrike" kern="1200" cap="none" spc="0" normalizeH="0" baseline="0" noProof="0" dirty="0">
              <a:ln>
                <a:noFill/>
              </a:ln>
              <a:solidFill>
                <a:srgbClr val="2C394C"/>
              </a:solidFill>
              <a:effectLst/>
              <a:uLnTx/>
              <a:uFillTx/>
              <a:latin typeface="Century Gothic" panose="020B0502020202020204" pitchFamily="34" charset="0"/>
              <a:ea typeface="Poppins SemiBold" charset="0"/>
              <a:cs typeface="Poppins SemiBold" charset="0"/>
            </a:endParaRPr>
          </a:p>
        </p:txBody>
      </p:sp>
      <p:sp>
        <p:nvSpPr>
          <p:cNvPr id="64" name="Shape 2648"/>
          <p:cNvSpPr/>
          <p:nvPr/>
        </p:nvSpPr>
        <p:spPr>
          <a:xfrm>
            <a:off x="1751354" y="2724269"/>
            <a:ext cx="534646" cy="491190"/>
          </a:xfrm>
          <a:custGeom>
            <a:avLst/>
            <a:gdLst/>
            <a:ahLst/>
            <a:cxnLst>
              <a:cxn ang="0">
                <a:pos x="wd2" y="hd2"/>
              </a:cxn>
              <a:cxn ang="5400000">
                <a:pos x="wd2" y="hd2"/>
              </a:cxn>
              <a:cxn ang="10800000">
                <a:pos x="wd2" y="hd2"/>
              </a:cxn>
              <a:cxn ang="16200000">
                <a:pos x="wd2" y="hd2"/>
              </a:cxn>
            </a:cxnLst>
            <a:rect l="0" t="0" r="r" b="b"/>
            <a:pathLst>
              <a:path w="21600" h="21600" extrusionOk="0">
                <a:moveTo>
                  <a:pt x="20618" y="14727"/>
                </a:moveTo>
                <a:lnTo>
                  <a:pt x="982" y="14727"/>
                </a:lnTo>
                <a:lnTo>
                  <a:pt x="982" y="1964"/>
                </a:lnTo>
                <a:cubicBezTo>
                  <a:pt x="982" y="1422"/>
                  <a:pt x="1422" y="982"/>
                  <a:pt x="1964" y="982"/>
                </a:cubicBezTo>
                <a:lnTo>
                  <a:pt x="19636" y="982"/>
                </a:lnTo>
                <a:cubicBezTo>
                  <a:pt x="20178" y="982"/>
                  <a:pt x="20618" y="1422"/>
                  <a:pt x="20618" y="1964"/>
                </a:cubicBezTo>
                <a:cubicBezTo>
                  <a:pt x="20618" y="1964"/>
                  <a:pt x="20618" y="14727"/>
                  <a:pt x="20618" y="14727"/>
                </a:cubicBezTo>
                <a:close/>
                <a:moveTo>
                  <a:pt x="20618" y="16691"/>
                </a:moveTo>
                <a:cubicBezTo>
                  <a:pt x="20618" y="17233"/>
                  <a:pt x="20178" y="17673"/>
                  <a:pt x="19636" y="17673"/>
                </a:cubicBezTo>
                <a:lnTo>
                  <a:pt x="1964" y="17673"/>
                </a:lnTo>
                <a:cubicBezTo>
                  <a:pt x="1422" y="17673"/>
                  <a:pt x="982" y="17233"/>
                  <a:pt x="982" y="16691"/>
                </a:cubicBezTo>
                <a:lnTo>
                  <a:pt x="982" y="15709"/>
                </a:lnTo>
                <a:lnTo>
                  <a:pt x="20618" y="15709"/>
                </a:lnTo>
                <a:cubicBezTo>
                  <a:pt x="20618" y="15709"/>
                  <a:pt x="20618" y="16691"/>
                  <a:pt x="20618" y="16691"/>
                </a:cubicBezTo>
                <a:close/>
                <a:moveTo>
                  <a:pt x="11782" y="20618"/>
                </a:moveTo>
                <a:lnTo>
                  <a:pt x="9818" y="20618"/>
                </a:lnTo>
                <a:lnTo>
                  <a:pt x="9818" y="18655"/>
                </a:lnTo>
                <a:lnTo>
                  <a:pt x="11782" y="18655"/>
                </a:lnTo>
                <a:cubicBezTo>
                  <a:pt x="11782" y="18655"/>
                  <a:pt x="11782" y="20618"/>
                  <a:pt x="11782" y="20618"/>
                </a:cubicBezTo>
                <a:close/>
                <a:moveTo>
                  <a:pt x="19636" y="0"/>
                </a:moveTo>
                <a:lnTo>
                  <a:pt x="1964" y="0"/>
                </a:lnTo>
                <a:cubicBezTo>
                  <a:pt x="879" y="0"/>
                  <a:pt x="0" y="879"/>
                  <a:pt x="0" y="1964"/>
                </a:cubicBezTo>
                <a:lnTo>
                  <a:pt x="0" y="16691"/>
                </a:lnTo>
                <a:cubicBezTo>
                  <a:pt x="0" y="17775"/>
                  <a:pt x="879" y="18655"/>
                  <a:pt x="1964" y="18655"/>
                </a:cubicBezTo>
                <a:lnTo>
                  <a:pt x="8836" y="18655"/>
                </a:lnTo>
                <a:lnTo>
                  <a:pt x="8836" y="20618"/>
                </a:lnTo>
                <a:lnTo>
                  <a:pt x="7364" y="20618"/>
                </a:lnTo>
                <a:cubicBezTo>
                  <a:pt x="7093" y="20618"/>
                  <a:pt x="6873" y="20838"/>
                  <a:pt x="6873" y="21109"/>
                </a:cubicBezTo>
                <a:cubicBezTo>
                  <a:pt x="6873" y="21381"/>
                  <a:pt x="7093" y="21600"/>
                  <a:pt x="7364" y="21600"/>
                </a:cubicBezTo>
                <a:lnTo>
                  <a:pt x="14236" y="21600"/>
                </a:lnTo>
                <a:cubicBezTo>
                  <a:pt x="14507" y="21600"/>
                  <a:pt x="14727" y="21381"/>
                  <a:pt x="14727" y="21109"/>
                </a:cubicBezTo>
                <a:cubicBezTo>
                  <a:pt x="14727" y="20838"/>
                  <a:pt x="14507" y="20618"/>
                  <a:pt x="14236" y="20618"/>
                </a:cubicBezTo>
                <a:lnTo>
                  <a:pt x="12764" y="20618"/>
                </a:lnTo>
                <a:lnTo>
                  <a:pt x="12764" y="18655"/>
                </a:lnTo>
                <a:lnTo>
                  <a:pt x="19636" y="18655"/>
                </a:lnTo>
                <a:cubicBezTo>
                  <a:pt x="20721" y="18655"/>
                  <a:pt x="21600" y="17775"/>
                  <a:pt x="21600" y="16691"/>
                </a:cubicBezTo>
                <a:lnTo>
                  <a:pt x="21600" y="1964"/>
                </a:lnTo>
                <a:cubicBezTo>
                  <a:pt x="21600" y="879"/>
                  <a:pt x="20721" y="0"/>
                  <a:pt x="19636" y="0"/>
                </a:cubicBezTo>
                <a:moveTo>
                  <a:pt x="12764" y="8836"/>
                </a:moveTo>
                <a:cubicBezTo>
                  <a:pt x="12628" y="8836"/>
                  <a:pt x="12505" y="8891"/>
                  <a:pt x="12417" y="8980"/>
                </a:cubicBezTo>
                <a:lnTo>
                  <a:pt x="11291" y="10106"/>
                </a:lnTo>
                <a:lnTo>
                  <a:pt x="11291" y="4419"/>
                </a:lnTo>
                <a:lnTo>
                  <a:pt x="11291" y="4418"/>
                </a:lnTo>
                <a:cubicBezTo>
                  <a:pt x="11291" y="4147"/>
                  <a:pt x="11071" y="3927"/>
                  <a:pt x="10800" y="3927"/>
                </a:cubicBezTo>
                <a:cubicBezTo>
                  <a:pt x="10529" y="3927"/>
                  <a:pt x="10309" y="4147"/>
                  <a:pt x="10309" y="4418"/>
                </a:cubicBezTo>
                <a:lnTo>
                  <a:pt x="10309" y="10106"/>
                </a:lnTo>
                <a:lnTo>
                  <a:pt x="9183" y="8980"/>
                </a:lnTo>
                <a:cubicBezTo>
                  <a:pt x="9095" y="8891"/>
                  <a:pt x="8972" y="8836"/>
                  <a:pt x="8836" y="8836"/>
                </a:cubicBezTo>
                <a:cubicBezTo>
                  <a:pt x="8566" y="8836"/>
                  <a:pt x="8345" y="9056"/>
                  <a:pt x="8345" y="9327"/>
                </a:cubicBezTo>
                <a:cubicBezTo>
                  <a:pt x="8345" y="9463"/>
                  <a:pt x="8400" y="9586"/>
                  <a:pt x="8489" y="9674"/>
                </a:cubicBezTo>
                <a:lnTo>
                  <a:pt x="10453" y="11638"/>
                </a:lnTo>
                <a:cubicBezTo>
                  <a:pt x="10542" y="11727"/>
                  <a:pt x="10665" y="11782"/>
                  <a:pt x="10800" y="11782"/>
                </a:cubicBezTo>
                <a:cubicBezTo>
                  <a:pt x="10935" y="11782"/>
                  <a:pt x="11058" y="11727"/>
                  <a:pt x="11147" y="11638"/>
                </a:cubicBezTo>
                <a:lnTo>
                  <a:pt x="13111" y="9674"/>
                </a:lnTo>
                <a:cubicBezTo>
                  <a:pt x="13200" y="9586"/>
                  <a:pt x="13255" y="9463"/>
                  <a:pt x="13255" y="9327"/>
                </a:cubicBezTo>
                <a:cubicBezTo>
                  <a:pt x="13255" y="9056"/>
                  <a:pt x="13034" y="8836"/>
                  <a:pt x="12764" y="8836"/>
                </a:cubicBezTo>
              </a:path>
            </a:pathLst>
          </a:custGeom>
          <a:solidFill>
            <a:sysClr val="window" lastClr="FFFFFF"/>
          </a:solidFill>
          <a:ln w="12700">
            <a:miter lim="400000"/>
          </a:ln>
        </p:spPr>
        <p:txBody>
          <a:bodyPr lIns="38090" tIns="38090" rIns="38090" bIns="38090" anchor="ctr"/>
          <a:lstStyle/>
          <a:p>
            <a:pPr marL="0" marR="0" lvl="0" indent="0" defTabSz="457063" eaLnBrk="1" fontAlgn="auto" latinLnBrk="0" hangingPunct="1">
              <a:lnSpc>
                <a:spcPct val="100000"/>
              </a:lnSpc>
              <a:spcBef>
                <a:spcPts val="0"/>
              </a:spcBef>
              <a:spcAft>
                <a:spcPts val="0"/>
              </a:spcAft>
              <a:buClrTx/>
              <a:buSzTx/>
              <a:buFontTx/>
              <a:buNone/>
              <a:tabLst/>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2999"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Gill Sans"/>
              <a:sym typeface="Gill Sans"/>
            </a:endParaRPr>
          </a:p>
        </p:txBody>
      </p:sp>
      <p:sp>
        <p:nvSpPr>
          <p:cNvPr id="65" name="Shape 2649"/>
          <p:cNvSpPr/>
          <p:nvPr/>
        </p:nvSpPr>
        <p:spPr>
          <a:xfrm>
            <a:off x="4508149" y="2727820"/>
            <a:ext cx="562975" cy="500340"/>
          </a:xfrm>
          <a:custGeom>
            <a:avLst/>
            <a:gdLst/>
            <a:ahLst/>
            <a:cxnLst>
              <a:cxn ang="0">
                <a:pos x="wd2" y="hd2"/>
              </a:cxn>
              <a:cxn ang="5400000">
                <a:pos x="wd2" y="hd2"/>
              </a:cxn>
              <a:cxn ang="10800000">
                <a:pos x="wd2" y="hd2"/>
              </a:cxn>
              <a:cxn ang="16200000">
                <a:pos x="wd2" y="hd2"/>
              </a:cxn>
            </a:cxnLst>
            <a:rect l="0" t="0" r="r" b="b"/>
            <a:pathLst>
              <a:path w="21600" h="21600" extrusionOk="0">
                <a:moveTo>
                  <a:pt x="20618" y="14727"/>
                </a:moveTo>
                <a:lnTo>
                  <a:pt x="982" y="14727"/>
                </a:lnTo>
                <a:lnTo>
                  <a:pt x="982" y="1964"/>
                </a:lnTo>
                <a:cubicBezTo>
                  <a:pt x="982" y="1422"/>
                  <a:pt x="1422" y="982"/>
                  <a:pt x="1964" y="982"/>
                </a:cubicBezTo>
                <a:lnTo>
                  <a:pt x="19636" y="982"/>
                </a:lnTo>
                <a:cubicBezTo>
                  <a:pt x="20178" y="982"/>
                  <a:pt x="20618" y="1422"/>
                  <a:pt x="20618" y="1964"/>
                </a:cubicBezTo>
                <a:cubicBezTo>
                  <a:pt x="20618" y="1964"/>
                  <a:pt x="20618" y="14727"/>
                  <a:pt x="20618" y="14727"/>
                </a:cubicBezTo>
                <a:close/>
                <a:moveTo>
                  <a:pt x="20618" y="16691"/>
                </a:moveTo>
                <a:cubicBezTo>
                  <a:pt x="20618" y="17233"/>
                  <a:pt x="20178" y="17673"/>
                  <a:pt x="19636" y="17673"/>
                </a:cubicBezTo>
                <a:lnTo>
                  <a:pt x="1964" y="17673"/>
                </a:lnTo>
                <a:cubicBezTo>
                  <a:pt x="1422" y="17673"/>
                  <a:pt x="982" y="17233"/>
                  <a:pt x="982" y="16691"/>
                </a:cubicBezTo>
                <a:lnTo>
                  <a:pt x="982" y="15709"/>
                </a:lnTo>
                <a:lnTo>
                  <a:pt x="20618" y="15709"/>
                </a:lnTo>
                <a:cubicBezTo>
                  <a:pt x="20618" y="15709"/>
                  <a:pt x="20618" y="16691"/>
                  <a:pt x="20618" y="16691"/>
                </a:cubicBezTo>
                <a:close/>
                <a:moveTo>
                  <a:pt x="11782" y="20618"/>
                </a:moveTo>
                <a:lnTo>
                  <a:pt x="9818" y="20618"/>
                </a:lnTo>
                <a:lnTo>
                  <a:pt x="9818" y="18655"/>
                </a:lnTo>
                <a:lnTo>
                  <a:pt x="11782" y="18655"/>
                </a:lnTo>
                <a:cubicBezTo>
                  <a:pt x="11782" y="18655"/>
                  <a:pt x="11782" y="20618"/>
                  <a:pt x="11782" y="20618"/>
                </a:cubicBezTo>
                <a:close/>
                <a:moveTo>
                  <a:pt x="19636" y="0"/>
                </a:moveTo>
                <a:lnTo>
                  <a:pt x="1964" y="0"/>
                </a:lnTo>
                <a:cubicBezTo>
                  <a:pt x="879" y="0"/>
                  <a:pt x="0" y="879"/>
                  <a:pt x="0" y="1964"/>
                </a:cubicBezTo>
                <a:lnTo>
                  <a:pt x="0" y="16691"/>
                </a:lnTo>
                <a:cubicBezTo>
                  <a:pt x="0" y="17775"/>
                  <a:pt x="879" y="18655"/>
                  <a:pt x="1964" y="18655"/>
                </a:cubicBezTo>
                <a:lnTo>
                  <a:pt x="8836" y="18655"/>
                </a:lnTo>
                <a:lnTo>
                  <a:pt x="8836" y="20618"/>
                </a:lnTo>
                <a:lnTo>
                  <a:pt x="7364" y="20618"/>
                </a:lnTo>
                <a:cubicBezTo>
                  <a:pt x="7093" y="20618"/>
                  <a:pt x="6873" y="20838"/>
                  <a:pt x="6873" y="21109"/>
                </a:cubicBezTo>
                <a:cubicBezTo>
                  <a:pt x="6873" y="21381"/>
                  <a:pt x="7093" y="21600"/>
                  <a:pt x="7364" y="21600"/>
                </a:cubicBezTo>
                <a:lnTo>
                  <a:pt x="14236" y="21600"/>
                </a:lnTo>
                <a:cubicBezTo>
                  <a:pt x="14507" y="21600"/>
                  <a:pt x="14727" y="21381"/>
                  <a:pt x="14727" y="21109"/>
                </a:cubicBezTo>
                <a:cubicBezTo>
                  <a:pt x="14727" y="20838"/>
                  <a:pt x="14507" y="20618"/>
                  <a:pt x="14236" y="20618"/>
                </a:cubicBezTo>
                <a:lnTo>
                  <a:pt x="12764" y="20618"/>
                </a:lnTo>
                <a:lnTo>
                  <a:pt x="12764" y="18655"/>
                </a:lnTo>
                <a:lnTo>
                  <a:pt x="19636" y="18655"/>
                </a:lnTo>
                <a:cubicBezTo>
                  <a:pt x="20721" y="18655"/>
                  <a:pt x="21600" y="17775"/>
                  <a:pt x="21600" y="16691"/>
                </a:cubicBezTo>
                <a:lnTo>
                  <a:pt x="21600" y="1964"/>
                </a:lnTo>
                <a:cubicBezTo>
                  <a:pt x="21600" y="879"/>
                  <a:pt x="20721" y="0"/>
                  <a:pt x="19636" y="0"/>
                </a:cubicBezTo>
                <a:moveTo>
                  <a:pt x="11147" y="4071"/>
                </a:moveTo>
                <a:cubicBezTo>
                  <a:pt x="11058" y="3982"/>
                  <a:pt x="10935" y="3927"/>
                  <a:pt x="10800" y="3927"/>
                </a:cubicBezTo>
                <a:cubicBezTo>
                  <a:pt x="10665" y="3927"/>
                  <a:pt x="10542" y="3982"/>
                  <a:pt x="10453" y="4071"/>
                </a:cubicBezTo>
                <a:lnTo>
                  <a:pt x="8489" y="6035"/>
                </a:lnTo>
                <a:cubicBezTo>
                  <a:pt x="8400" y="6124"/>
                  <a:pt x="8345" y="6247"/>
                  <a:pt x="8345" y="6382"/>
                </a:cubicBezTo>
                <a:cubicBezTo>
                  <a:pt x="8345" y="6653"/>
                  <a:pt x="8566" y="6873"/>
                  <a:pt x="8836" y="6873"/>
                </a:cubicBezTo>
                <a:cubicBezTo>
                  <a:pt x="8972" y="6873"/>
                  <a:pt x="9095" y="6818"/>
                  <a:pt x="9183" y="6729"/>
                </a:cubicBezTo>
                <a:lnTo>
                  <a:pt x="10309" y="5603"/>
                </a:lnTo>
                <a:lnTo>
                  <a:pt x="10309" y="11291"/>
                </a:lnTo>
                <a:cubicBezTo>
                  <a:pt x="10309" y="11562"/>
                  <a:pt x="10529" y="11782"/>
                  <a:pt x="10800" y="11782"/>
                </a:cubicBezTo>
                <a:cubicBezTo>
                  <a:pt x="11071" y="11782"/>
                  <a:pt x="11291" y="11562"/>
                  <a:pt x="11291" y="11291"/>
                </a:cubicBezTo>
                <a:lnTo>
                  <a:pt x="11291" y="5603"/>
                </a:lnTo>
                <a:lnTo>
                  <a:pt x="12417" y="6729"/>
                </a:lnTo>
                <a:cubicBezTo>
                  <a:pt x="12505" y="6818"/>
                  <a:pt x="12628" y="6873"/>
                  <a:pt x="12764" y="6873"/>
                </a:cubicBezTo>
                <a:cubicBezTo>
                  <a:pt x="13034" y="6873"/>
                  <a:pt x="13255" y="6653"/>
                  <a:pt x="13255" y="6382"/>
                </a:cubicBezTo>
                <a:cubicBezTo>
                  <a:pt x="13255" y="6247"/>
                  <a:pt x="13200" y="6124"/>
                  <a:pt x="13111" y="6035"/>
                </a:cubicBezTo>
                <a:cubicBezTo>
                  <a:pt x="13111" y="6035"/>
                  <a:pt x="11147" y="4071"/>
                  <a:pt x="11147" y="4071"/>
                </a:cubicBezTo>
                <a:close/>
              </a:path>
            </a:pathLst>
          </a:custGeom>
          <a:solidFill>
            <a:sysClr val="window" lastClr="FFFFFF"/>
          </a:solidFill>
          <a:ln w="12700">
            <a:miter lim="400000"/>
          </a:ln>
        </p:spPr>
        <p:txBody>
          <a:bodyPr lIns="38090" tIns="38090" rIns="38090" bIns="38090" anchor="ctr"/>
          <a:lstStyle/>
          <a:p>
            <a:pPr marL="0" marR="0" lvl="0" indent="0" defTabSz="457063" eaLnBrk="1" fontAlgn="auto" latinLnBrk="0" hangingPunct="1">
              <a:lnSpc>
                <a:spcPct val="100000"/>
              </a:lnSpc>
              <a:spcBef>
                <a:spcPts val="0"/>
              </a:spcBef>
              <a:spcAft>
                <a:spcPts val="0"/>
              </a:spcAft>
              <a:buClrTx/>
              <a:buSzTx/>
              <a:buFontTx/>
              <a:buNone/>
              <a:tabLst/>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2999"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Gill Sans"/>
              <a:sym typeface="Gill Sans"/>
            </a:endParaRPr>
          </a:p>
        </p:txBody>
      </p:sp>
      <p:sp>
        <p:nvSpPr>
          <p:cNvPr id="66" name="Shape 2650"/>
          <p:cNvSpPr/>
          <p:nvPr/>
        </p:nvSpPr>
        <p:spPr>
          <a:xfrm>
            <a:off x="7132872" y="2732229"/>
            <a:ext cx="598094" cy="524434"/>
          </a:xfrm>
          <a:custGeom>
            <a:avLst/>
            <a:gdLst/>
            <a:ahLst/>
            <a:cxnLst>
              <a:cxn ang="0">
                <a:pos x="wd2" y="hd2"/>
              </a:cxn>
              <a:cxn ang="5400000">
                <a:pos x="wd2" y="hd2"/>
              </a:cxn>
              <a:cxn ang="10800000">
                <a:pos x="wd2" y="hd2"/>
              </a:cxn>
              <a:cxn ang="16200000">
                <a:pos x="wd2" y="hd2"/>
              </a:cxn>
            </a:cxnLst>
            <a:rect l="0" t="0" r="r" b="b"/>
            <a:pathLst>
              <a:path w="21600" h="21600" extrusionOk="0">
                <a:moveTo>
                  <a:pt x="20618" y="14727"/>
                </a:moveTo>
                <a:lnTo>
                  <a:pt x="982" y="14727"/>
                </a:lnTo>
                <a:lnTo>
                  <a:pt x="982" y="1964"/>
                </a:lnTo>
                <a:cubicBezTo>
                  <a:pt x="982" y="1422"/>
                  <a:pt x="1422" y="982"/>
                  <a:pt x="1964" y="982"/>
                </a:cubicBezTo>
                <a:lnTo>
                  <a:pt x="19636" y="982"/>
                </a:lnTo>
                <a:cubicBezTo>
                  <a:pt x="20178" y="982"/>
                  <a:pt x="20618" y="1422"/>
                  <a:pt x="20618" y="1964"/>
                </a:cubicBezTo>
                <a:cubicBezTo>
                  <a:pt x="20618" y="1964"/>
                  <a:pt x="20618" y="14727"/>
                  <a:pt x="20618" y="14727"/>
                </a:cubicBezTo>
                <a:close/>
                <a:moveTo>
                  <a:pt x="20618" y="16691"/>
                </a:moveTo>
                <a:cubicBezTo>
                  <a:pt x="20618" y="17233"/>
                  <a:pt x="20178" y="17673"/>
                  <a:pt x="19636" y="17673"/>
                </a:cubicBezTo>
                <a:lnTo>
                  <a:pt x="1964" y="17673"/>
                </a:lnTo>
                <a:cubicBezTo>
                  <a:pt x="1422" y="17673"/>
                  <a:pt x="982" y="17233"/>
                  <a:pt x="982" y="16691"/>
                </a:cubicBezTo>
                <a:lnTo>
                  <a:pt x="982" y="15709"/>
                </a:lnTo>
                <a:lnTo>
                  <a:pt x="20618" y="15709"/>
                </a:lnTo>
                <a:cubicBezTo>
                  <a:pt x="20618" y="15709"/>
                  <a:pt x="20618" y="16691"/>
                  <a:pt x="20618" y="16691"/>
                </a:cubicBezTo>
                <a:close/>
                <a:moveTo>
                  <a:pt x="11782" y="20618"/>
                </a:moveTo>
                <a:lnTo>
                  <a:pt x="9818" y="20618"/>
                </a:lnTo>
                <a:lnTo>
                  <a:pt x="9818" y="18655"/>
                </a:lnTo>
                <a:lnTo>
                  <a:pt x="11782" y="18655"/>
                </a:lnTo>
                <a:cubicBezTo>
                  <a:pt x="11782" y="18655"/>
                  <a:pt x="11782" y="20618"/>
                  <a:pt x="11782" y="20618"/>
                </a:cubicBezTo>
                <a:close/>
                <a:moveTo>
                  <a:pt x="19636" y="0"/>
                </a:moveTo>
                <a:lnTo>
                  <a:pt x="1964" y="0"/>
                </a:lnTo>
                <a:cubicBezTo>
                  <a:pt x="879" y="0"/>
                  <a:pt x="0" y="879"/>
                  <a:pt x="0" y="1964"/>
                </a:cubicBezTo>
                <a:lnTo>
                  <a:pt x="0" y="16691"/>
                </a:lnTo>
                <a:cubicBezTo>
                  <a:pt x="0" y="17775"/>
                  <a:pt x="879" y="18655"/>
                  <a:pt x="1964" y="18655"/>
                </a:cubicBezTo>
                <a:lnTo>
                  <a:pt x="8836" y="18655"/>
                </a:lnTo>
                <a:lnTo>
                  <a:pt x="8836" y="20618"/>
                </a:lnTo>
                <a:lnTo>
                  <a:pt x="7364" y="20618"/>
                </a:lnTo>
                <a:cubicBezTo>
                  <a:pt x="7093" y="20618"/>
                  <a:pt x="6873" y="20838"/>
                  <a:pt x="6873" y="21109"/>
                </a:cubicBezTo>
                <a:cubicBezTo>
                  <a:pt x="6873" y="21381"/>
                  <a:pt x="7093" y="21600"/>
                  <a:pt x="7364" y="21600"/>
                </a:cubicBezTo>
                <a:lnTo>
                  <a:pt x="14236" y="21600"/>
                </a:lnTo>
                <a:cubicBezTo>
                  <a:pt x="14507" y="21600"/>
                  <a:pt x="14727" y="21381"/>
                  <a:pt x="14727" y="21109"/>
                </a:cubicBezTo>
                <a:cubicBezTo>
                  <a:pt x="14727" y="20838"/>
                  <a:pt x="14507" y="20618"/>
                  <a:pt x="14236" y="20618"/>
                </a:cubicBezTo>
                <a:lnTo>
                  <a:pt x="12764" y="20618"/>
                </a:lnTo>
                <a:lnTo>
                  <a:pt x="12764" y="18655"/>
                </a:lnTo>
                <a:lnTo>
                  <a:pt x="19636" y="18655"/>
                </a:lnTo>
                <a:cubicBezTo>
                  <a:pt x="20721" y="18655"/>
                  <a:pt x="21600" y="17775"/>
                  <a:pt x="21600" y="16691"/>
                </a:cubicBezTo>
                <a:lnTo>
                  <a:pt x="21600" y="1964"/>
                </a:lnTo>
                <a:cubicBezTo>
                  <a:pt x="21600" y="879"/>
                  <a:pt x="20721" y="0"/>
                  <a:pt x="19636" y="0"/>
                </a:cubicBezTo>
                <a:moveTo>
                  <a:pt x="14236" y="7364"/>
                </a:moveTo>
                <a:lnTo>
                  <a:pt x="8549" y="7364"/>
                </a:lnTo>
                <a:lnTo>
                  <a:pt x="9674" y="6238"/>
                </a:lnTo>
                <a:cubicBezTo>
                  <a:pt x="9763" y="6149"/>
                  <a:pt x="9818" y="6027"/>
                  <a:pt x="9818" y="5891"/>
                </a:cubicBezTo>
                <a:cubicBezTo>
                  <a:pt x="9818" y="5620"/>
                  <a:pt x="9598" y="5400"/>
                  <a:pt x="9327" y="5400"/>
                </a:cubicBezTo>
                <a:cubicBezTo>
                  <a:pt x="9192" y="5400"/>
                  <a:pt x="9069" y="5455"/>
                  <a:pt x="8980" y="5544"/>
                </a:cubicBezTo>
                <a:lnTo>
                  <a:pt x="7017" y="7507"/>
                </a:lnTo>
                <a:cubicBezTo>
                  <a:pt x="6928" y="7597"/>
                  <a:pt x="6873" y="7720"/>
                  <a:pt x="6873" y="7855"/>
                </a:cubicBezTo>
                <a:cubicBezTo>
                  <a:pt x="6873" y="7990"/>
                  <a:pt x="6928" y="8113"/>
                  <a:pt x="7017" y="8202"/>
                </a:cubicBezTo>
                <a:lnTo>
                  <a:pt x="8980" y="10165"/>
                </a:lnTo>
                <a:cubicBezTo>
                  <a:pt x="9069" y="10255"/>
                  <a:pt x="9192" y="10309"/>
                  <a:pt x="9327" y="10309"/>
                </a:cubicBezTo>
                <a:cubicBezTo>
                  <a:pt x="9598" y="10309"/>
                  <a:pt x="9818" y="10090"/>
                  <a:pt x="9818" y="9818"/>
                </a:cubicBezTo>
                <a:cubicBezTo>
                  <a:pt x="9818" y="9683"/>
                  <a:pt x="9763" y="9560"/>
                  <a:pt x="9674" y="9471"/>
                </a:cubicBezTo>
                <a:lnTo>
                  <a:pt x="8549" y="8345"/>
                </a:lnTo>
                <a:lnTo>
                  <a:pt x="14236" y="8345"/>
                </a:lnTo>
                <a:cubicBezTo>
                  <a:pt x="14507" y="8345"/>
                  <a:pt x="14727" y="8126"/>
                  <a:pt x="14727" y="7855"/>
                </a:cubicBezTo>
                <a:cubicBezTo>
                  <a:pt x="14727" y="7584"/>
                  <a:pt x="14507" y="7364"/>
                  <a:pt x="14236" y="7364"/>
                </a:cubicBezTo>
              </a:path>
            </a:pathLst>
          </a:custGeom>
          <a:solidFill>
            <a:sysClr val="window" lastClr="FFFFFF"/>
          </a:solidFill>
          <a:ln w="12700">
            <a:miter lim="400000"/>
          </a:ln>
        </p:spPr>
        <p:txBody>
          <a:bodyPr lIns="38090" tIns="38090" rIns="38090" bIns="38090" anchor="ctr"/>
          <a:lstStyle/>
          <a:p>
            <a:pPr marL="0" marR="0" lvl="0" indent="0" defTabSz="457063" eaLnBrk="1" fontAlgn="auto" latinLnBrk="0" hangingPunct="1">
              <a:lnSpc>
                <a:spcPct val="100000"/>
              </a:lnSpc>
              <a:spcBef>
                <a:spcPts val="0"/>
              </a:spcBef>
              <a:spcAft>
                <a:spcPts val="0"/>
              </a:spcAft>
              <a:buClrTx/>
              <a:buSzTx/>
              <a:buFontTx/>
              <a:buNone/>
              <a:tabLst/>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2999"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Gill Sans"/>
              <a:sym typeface="Gill Sans"/>
            </a:endParaRPr>
          </a:p>
        </p:txBody>
      </p:sp>
      <p:sp>
        <p:nvSpPr>
          <p:cNvPr id="67" name="Shape 2651"/>
          <p:cNvSpPr/>
          <p:nvPr/>
        </p:nvSpPr>
        <p:spPr>
          <a:xfrm>
            <a:off x="9913143" y="2713821"/>
            <a:ext cx="610832" cy="567219"/>
          </a:xfrm>
          <a:custGeom>
            <a:avLst/>
            <a:gdLst/>
            <a:ahLst/>
            <a:cxnLst>
              <a:cxn ang="0">
                <a:pos x="wd2" y="hd2"/>
              </a:cxn>
              <a:cxn ang="5400000">
                <a:pos x="wd2" y="hd2"/>
              </a:cxn>
              <a:cxn ang="10800000">
                <a:pos x="wd2" y="hd2"/>
              </a:cxn>
              <a:cxn ang="16200000">
                <a:pos x="wd2" y="hd2"/>
              </a:cxn>
            </a:cxnLst>
            <a:rect l="0" t="0" r="r" b="b"/>
            <a:pathLst>
              <a:path w="21600" h="21600" extrusionOk="0">
                <a:moveTo>
                  <a:pt x="14583" y="7507"/>
                </a:moveTo>
                <a:lnTo>
                  <a:pt x="12620" y="5544"/>
                </a:lnTo>
                <a:cubicBezTo>
                  <a:pt x="12531" y="5455"/>
                  <a:pt x="12408" y="5400"/>
                  <a:pt x="12273" y="5400"/>
                </a:cubicBezTo>
                <a:cubicBezTo>
                  <a:pt x="12001" y="5400"/>
                  <a:pt x="11782" y="5620"/>
                  <a:pt x="11782" y="5891"/>
                </a:cubicBezTo>
                <a:cubicBezTo>
                  <a:pt x="11782" y="6027"/>
                  <a:pt x="11837" y="6149"/>
                  <a:pt x="11926" y="6238"/>
                </a:cubicBezTo>
                <a:lnTo>
                  <a:pt x="13051" y="7364"/>
                </a:lnTo>
                <a:lnTo>
                  <a:pt x="7364" y="7364"/>
                </a:lnTo>
                <a:cubicBezTo>
                  <a:pt x="7092" y="7364"/>
                  <a:pt x="6873" y="7584"/>
                  <a:pt x="6873" y="7855"/>
                </a:cubicBezTo>
                <a:cubicBezTo>
                  <a:pt x="6873" y="8126"/>
                  <a:pt x="7092" y="8345"/>
                  <a:pt x="7364" y="8345"/>
                </a:cubicBezTo>
                <a:lnTo>
                  <a:pt x="13051" y="8345"/>
                </a:lnTo>
                <a:lnTo>
                  <a:pt x="11926" y="9471"/>
                </a:lnTo>
                <a:cubicBezTo>
                  <a:pt x="11837" y="9560"/>
                  <a:pt x="11782" y="9683"/>
                  <a:pt x="11782" y="9818"/>
                </a:cubicBezTo>
                <a:cubicBezTo>
                  <a:pt x="11782" y="10090"/>
                  <a:pt x="12001" y="10309"/>
                  <a:pt x="12273" y="10309"/>
                </a:cubicBezTo>
                <a:cubicBezTo>
                  <a:pt x="12408" y="10309"/>
                  <a:pt x="12531" y="10255"/>
                  <a:pt x="12620" y="10165"/>
                </a:cubicBezTo>
                <a:lnTo>
                  <a:pt x="14583" y="8202"/>
                </a:lnTo>
                <a:cubicBezTo>
                  <a:pt x="14672" y="8113"/>
                  <a:pt x="14727" y="7990"/>
                  <a:pt x="14727" y="7855"/>
                </a:cubicBezTo>
                <a:cubicBezTo>
                  <a:pt x="14727" y="7720"/>
                  <a:pt x="14672" y="7597"/>
                  <a:pt x="14583" y="7507"/>
                </a:cubicBezTo>
                <a:close/>
                <a:moveTo>
                  <a:pt x="20618" y="14727"/>
                </a:moveTo>
                <a:lnTo>
                  <a:pt x="982" y="14727"/>
                </a:lnTo>
                <a:lnTo>
                  <a:pt x="982" y="1964"/>
                </a:lnTo>
                <a:cubicBezTo>
                  <a:pt x="982" y="1422"/>
                  <a:pt x="1421" y="982"/>
                  <a:pt x="1964" y="982"/>
                </a:cubicBezTo>
                <a:lnTo>
                  <a:pt x="19636" y="982"/>
                </a:lnTo>
                <a:cubicBezTo>
                  <a:pt x="20178" y="982"/>
                  <a:pt x="20618" y="1422"/>
                  <a:pt x="20618" y="1964"/>
                </a:cubicBezTo>
                <a:cubicBezTo>
                  <a:pt x="20618" y="1964"/>
                  <a:pt x="20618" y="14727"/>
                  <a:pt x="20618" y="14727"/>
                </a:cubicBezTo>
                <a:close/>
                <a:moveTo>
                  <a:pt x="20618" y="16691"/>
                </a:moveTo>
                <a:cubicBezTo>
                  <a:pt x="20618" y="17233"/>
                  <a:pt x="20178" y="17673"/>
                  <a:pt x="19636" y="17673"/>
                </a:cubicBezTo>
                <a:lnTo>
                  <a:pt x="1964" y="17673"/>
                </a:lnTo>
                <a:cubicBezTo>
                  <a:pt x="1421" y="17673"/>
                  <a:pt x="982" y="17233"/>
                  <a:pt x="982" y="16691"/>
                </a:cubicBezTo>
                <a:lnTo>
                  <a:pt x="982" y="15709"/>
                </a:lnTo>
                <a:lnTo>
                  <a:pt x="20618" y="15709"/>
                </a:lnTo>
                <a:cubicBezTo>
                  <a:pt x="20618" y="15709"/>
                  <a:pt x="20618" y="16691"/>
                  <a:pt x="20618" y="16691"/>
                </a:cubicBezTo>
                <a:close/>
                <a:moveTo>
                  <a:pt x="11782" y="20618"/>
                </a:moveTo>
                <a:lnTo>
                  <a:pt x="9818" y="20618"/>
                </a:lnTo>
                <a:lnTo>
                  <a:pt x="9818" y="18655"/>
                </a:lnTo>
                <a:lnTo>
                  <a:pt x="11782" y="18655"/>
                </a:lnTo>
                <a:cubicBezTo>
                  <a:pt x="11782" y="18655"/>
                  <a:pt x="11782" y="20618"/>
                  <a:pt x="11782" y="20618"/>
                </a:cubicBezTo>
                <a:close/>
                <a:moveTo>
                  <a:pt x="19636" y="0"/>
                </a:moveTo>
                <a:lnTo>
                  <a:pt x="1964" y="0"/>
                </a:lnTo>
                <a:cubicBezTo>
                  <a:pt x="879" y="0"/>
                  <a:pt x="0" y="879"/>
                  <a:pt x="0" y="1964"/>
                </a:cubicBezTo>
                <a:lnTo>
                  <a:pt x="0" y="16691"/>
                </a:lnTo>
                <a:cubicBezTo>
                  <a:pt x="0" y="17775"/>
                  <a:pt x="879" y="18655"/>
                  <a:pt x="1964" y="18655"/>
                </a:cubicBezTo>
                <a:lnTo>
                  <a:pt x="8836" y="18655"/>
                </a:lnTo>
                <a:lnTo>
                  <a:pt x="8836" y="20618"/>
                </a:lnTo>
                <a:lnTo>
                  <a:pt x="7364" y="20618"/>
                </a:lnTo>
                <a:cubicBezTo>
                  <a:pt x="7092" y="20618"/>
                  <a:pt x="6873" y="20838"/>
                  <a:pt x="6873" y="21109"/>
                </a:cubicBezTo>
                <a:cubicBezTo>
                  <a:pt x="6873" y="21380"/>
                  <a:pt x="7092" y="21600"/>
                  <a:pt x="7364" y="21600"/>
                </a:cubicBezTo>
                <a:lnTo>
                  <a:pt x="14236" y="21600"/>
                </a:lnTo>
                <a:cubicBezTo>
                  <a:pt x="14507" y="21600"/>
                  <a:pt x="14727" y="21380"/>
                  <a:pt x="14727" y="21109"/>
                </a:cubicBezTo>
                <a:cubicBezTo>
                  <a:pt x="14727" y="20838"/>
                  <a:pt x="14507" y="20618"/>
                  <a:pt x="14236" y="20618"/>
                </a:cubicBezTo>
                <a:lnTo>
                  <a:pt x="12764" y="20618"/>
                </a:lnTo>
                <a:lnTo>
                  <a:pt x="12764" y="18655"/>
                </a:lnTo>
                <a:lnTo>
                  <a:pt x="19636" y="18655"/>
                </a:lnTo>
                <a:cubicBezTo>
                  <a:pt x="20721" y="18655"/>
                  <a:pt x="21600" y="17775"/>
                  <a:pt x="21600" y="16691"/>
                </a:cubicBezTo>
                <a:lnTo>
                  <a:pt x="21600" y="1964"/>
                </a:lnTo>
                <a:cubicBezTo>
                  <a:pt x="21600" y="879"/>
                  <a:pt x="20721" y="0"/>
                  <a:pt x="19636" y="0"/>
                </a:cubicBezTo>
              </a:path>
            </a:pathLst>
          </a:custGeom>
          <a:solidFill>
            <a:sysClr val="window" lastClr="FFFFFF"/>
          </a:solidFill>
          <a:ln w="12700">
            <a:miter lim="400000"/>
          </a:ln>
        </p:spPr>
        <p:txBody>
          <a:bodyPr lIns="38090" tIns="38090" rIns="38090" bIns="38090" anchor="ctr"/>
          <a:lstStyle/>
          <a:p>
            <a:pPr marL="0" marR="0" lvl="0" indent="0" defTabSz="457063" eaLnBrk="1" fontAlgn="auto" latinLnBrk="0" hangingPunct="1">
              <a:lnSpc>
                <a:spcPct val="100000"/>
              </a:lnSpc>
              <a:spcBef>
                <a:spcPts val="0"/>
              </a:spcBef>
              <a:spcAft>
                <a:spcPts val="0"/>
              </a:spcAft>
              <a:buClrTx/>
              <a:buSzTx/>
              <a:buFontTx/>
              <a:buNone/>
              <a:tabLst/>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2999"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Gill Sans"/>
              <a:sym typeface="Gill Sans"/>
            </a:endParaRPr>
          </a:p>
        </p:txBody>
      </p:sp>
    </p:spTree>
    <p:extLst>
      <p:ext uri="{BB962C8B-B14F-4D97-AF65-F5344CB8AC3E}">
        <p14:creationId xmlns:p14="http://schemas.microsoft.com/office/powerpoint/2010/main" val="67270145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barn(inVertical)">
                                      <p:cBhvr>
                                        <p:cTn id="7" dur="500"/>
                                        <p:tgtEl>
                                          <p:spTgt spid="36"/>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39"/>
                                        </p:tgtEl>
                                        <p:attrNameLst>
                                          <p:attrName>style.visibility</p:attrName>
                                        </p:attrNameLst>
                                      </p:cBhvr>
                                      <p:to>
                                        <p:strVal val="visible"/>
                                      </p:to>
                                    </p:set>
                                    <p:animEffect transition="in" filter="barn(inVertical)">
                                      <p:cBhvr>
                                        <p:cTn id="10" dur="500"/>
                                        <p:tgtEl>
                                          <p:spTgt spid="39"/>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41"/>
                                        </p:tgtEl>
                                        <p:attrNameLst>
                                          <p:attrName>style.visibility</p:attrName>
                                        </p:attrNameLst>
                                      </p:cBhvr>
                                      <p:to>
                                        <p:strVal val="visible"/>
                                      </p:to>
                                    </p:set>
                                    <p:animEffect transition="in" filter="barn(inVertical)">
                                      <p:cBhvr>
                                        <p:cTn id="13" dur="500"/>
                                        <p:tgtEl>
                                          <p:spTgt spid="41"/>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42"/>
                                        </p:tgtEl>
                                        <p:attrNameLst>
                                          <p:attrName>style.visibility</p:attrName>
                                        </p:attrNameLst>
                                      </p:cBhvr>
                                      <p:to>
                                        <p:strVal val="visible"/>
                                      </p:to>
                                    </p:set>
                                    <p:animEffect transition="in" filter="barn(inVertical)">
                                      <p:cBhvr>
                                        <p:cTn id="16" dur="500"/>
                                        <p:tgtEl>
                                          <p:spTgt spid="42"/>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47"/>
                                        </p:tgtEl>
                                        <p:attrNameLst>
                                          <p:attrName>style.visibility</p:attrName>
                                        </p:attrNameLst>
                                      </p:cBhvr>
                                      <p:to>
                                        <p:strVal val="visible"/>
                                      </p:to>
                                    </p:set>
                                    <p:animEffect transition="in" filter="barn(inVertical)">
                                      <p:cBhvr>
                                        <p:cTn id="19" dur="500"/>
                                        <p:tgtEl>
                                          <p:spTgt spid="47"/>
                                        </p:tgtEl>
                                      </p:cBhvr>
                                    </p:animEffect>
                                  </p:childTnLst>
                                </p:cTn>
                              </p:par>
                              <p:par>
                                <p:cTn id="20" presetID="16" presetClass="entr" presetSubtype="21" fill="hold" grpId="0" nodeType="withEffect">
                                  <p:stCondLst>
                                    <p:cond delay="0"/>
                                  </p:stCondLst>
                                  <p:childTnLst>
                                    <p:set>
                                      <p:cBhvr>
                                        <p:cTn id="21" dur="1" fill="hold">
                                          <p:stCondLst>
                                            <p:cond delay="0"/>
                                          </p:stCondLst>
                                        </p:cTn>
                                        <p:tgtEl>
                                          <p:spTgt spid="48"/>
                                        </p:tgtEl>
                                        <p:attrNameLst>
                                          <p:attrName>style.visibility</p:attrName>
                                        </p:attrNameLst>
                                      </p:cBhvr>
                                      <p:to>
                                        <p:strVal val="visible"/>
                                      </p:to>
                                    </p:set>
                                    <p:animEffect transition="in" filter="barn(inVertical)">
                                      <p:cBhvr>
                                        <p:cTn id="22" dur="500"/>
                                        <p:tgtEl>
                                          <p:spTgt spid="48"/>
                                        </p:tgtEl>
                                      </p:cBhvr>
                                    </p:animEffect>
                                  </p:childTnLst>
                                </p:cTn>
                              </p:par>
                              <p:par>
                                <p:cTn id="23" presetID="16" presetClass="entr" presetSubtype="21" fill="hold" nodeType="withEffect">
                                  <p:stCondLst>
                                    <p:cond delay="0"/>
                                  </p:stCondLst>
                                  <p:childTnLst>
                                    <p:set>
                                      <p:cBhvr>
                                        <p:cTn id="24" dur="1" fill="hold">
                                          <p:stCondLst>
                                            <p:cond delay="0"/>
                                          </p:stCondLst>
                                        </p:cTn>
                                        <p:tgtEl>
                                          <p:spTgt spid="55"/>
                                        </p:tgtEl>
                                        <p:attrNameLst>
                                          <p:attrName>style.visibility</p:attrName>
                                        </p:attrNameLst>
                                      </p:cBhvr>
                                      <p:to>
                                        <p:strVal val="visible"/>
                                      </p:to>
                                    </p:set>
                                    <p:animEffect transition="in" filter="barn(inVertical)">
                                      <p:cBhvr>
                                        <p:cTn id="25" dur="500"/>
                                        <p:tgtEl>
                                          <p:spTgt spid="55"/>
                                        </p:tgtEl>
                                      </p:cBhvr>
                                    </p:animEffect>
                                  </p:childTnLst>
                                </p:cTn>
                              </p:par>
                              <p:par>
                                <p:cTn id="26" presetID="16" presetClass="entr" presetSubtype="21" fill="hold" nodeType="withEffect">
                                  <p:stCondLst>
                                    <p:cond delay="0"/>
                                  </p:stCondLst>
                                  <p:childTnLst>
                                    <p:set>
                                      <p:cBhvr>
                                        <p:cTn id="27" dur="1" fill="hold">
                                          <p:stCondLst>
                                            <p:cond delay="0"/>
                                          </p:stCondLst>
                                        </p:cTn>
                                        <p:tgtEl>
                                          <p:spTgt spid="56"/>
                                        </p:tgtEl>
                                        <p:attrNameLst>
                                          <p:attrName>style.visibility</p:attrName>
                                        </p:attrNameLst>
                                      </p:cBhvr>
                                      <p:to>
                                        <p:strVal val="visible"/>
                                      </p:to>
                                    </p:set>
                                    <p:animEffect transition="in" filter="barn(inVertical)">
                                      <p:cBhvr>
                                        <p:cTn id="28" dur="500"/>
                                        <p:tgtEl>
                                          <p:spTgt spid="56"/>
                                        </p:tgtEl>
                                      </p:cBhvr>
                                    </p:animEffect>
                                  </p:childTnLst>
                                </p:cTn>
                              </p:par>
                              <p:par>
                                <p:cTn id="29" presetID="16" presetClass="entr" presetSubtype="21" fill="hold" nodeType="withEffect">
                                  <p:stCondLst>
                                    <p:cond delay="0"/>
                                  </p:stCondLst>
                                  <p:childTnLst>
                                    <p:set>
                                      <p:cBhvr>
                                        <p:cTn id="30" dur="1" fill="hold">
                                          <p:stCondLst>
                                            <p:cond delay="0"/>
                                          </p:stCondLst>
                                        </p:cTn>
                                        <p:tgtEl>
                                          <p:spTgt spid="57"/>
                                        </p:tgtEl>
                                        <p:attrNameLst>
                                          <p:attrName>style.visibility</p:attrName>
                                        </p:attrNameLst>
                                      </p:cBhvr>
                                      <p:to>
                                        <p:strVal val="visible"/>
                                      </p:to>
                                    </p:set>
                                    <p:animEffect transition="in" filter="barn(inVertical)">
                                      <p:cBhvr>
                                        <p:cTn id="31" dur="500"/>
                                        <p:tgtEl>
                                          <p:spTgt spid="57"/>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58"/>
                                        </p:tgtEl>
                                        <p:attrNameLst>
                                          <p:attrName>style.visibility</p:attrName>
                                        </p:attrNameLst>
                                      </p:cBhvr>
                                      <p:to>
                                        <p:strVal val="visible"/>
                                      </p:to>
                                    </p:set>
                                    <p:animEffect transition="in" filter="barn(inVertical)">
                                      <p:cBhvr>
                                        <p:cTn id="34" dur="500"/>
                                        <p:tgtEl>
                                          <p:spTgt spid="58"/>
                                        </p:tgtEl>
                                      </p:cBhvr>
                                    </p:animEffect>
                                  </p:childTnLst>
                                </p:cTn>
                              </p:par>
                              <p:par>
                                <p:cTn id="35" presetID="16" presetClass="entr" presetSubtype="21" fill="hold" grpId="0" nodeType="withEffect">
                                  <p:stCondLst>
                                    <p:cond delay="0"/>
                                  </p:stCondLst>
                                  <p:childTnLst>
                                    <p:set>
                                      <p:cBhvr>
                                        <p:cTn id="36" dur="1" fill="hold">
                                          <p:stCondLst>
                                            <p:cond delay="0"/>
                                          </p:stCondLst>
                                        </p:cTn>
                                        <p:tgtEl>
                                          <p:spTgt spid="59"/>
                                        </p:tgtEl>
                                        <p:attrNameLst>
                                          <p:attrName>style.visibility</p:attrName>
                                        </p:attrNameLst>
                                      </p:cBhvr>
                                      <p:to>
                                        <p:strVal val="visible"/>
                                      </p:to>
                                    </p:set>
                                    <p:animEffect transition="in" filter="barn(inVertical)">
                                      <p:cBhvr>
                                        <p:cTn id="37" dur="500"/>
                                        <p:tgtEl>
                                          <p:spTgt spid="59"/>
                                        </p:tgtEl>
                                      </p:cBhvr>
                                    </p:animEffect>
                                  </p:childTnLst>
                                </p:cTn>
                              </p:par>
                              <p:par>
                                <p:cTn id="38" presetID="16" presetClass="entr" presetSubtype="21" fill="hold" grpId="0" nodeType="withEffect">
                                  <p:stCondLst>
                                    <p:cond delay="0"/>
                                  </p:stCondLst>
                                  <p:childTnLst>
                                    <p:set>
                                      <p:cBhvr>
                                        <p:cTn id="39" dur="1" fill="hold">
                                          <p:stCondLst>
                                            <p:cond delay="0"/>
                                          </p:stCondLst>
                                        </p:cTn>
                                        <p:tgtEl>
                                          <p:spTgt spid="60"/>
                                        </p:tgtEl>
                                        <p:attrNameLst>
                                          <p:attrName>style.visibility</p:attrName>
                                        </p:attrNameLst>
                                      </p:cBhvr>
                                      <p:to>
                                        <p:strVal val="visible"/>
                                      </p:to>
                                    </p:set>
                                    <p:animEffect transition="in" filter="barn(inVertical)">
                                      <p:cBhvr>
                                        <p:cTn id="40" dur="500"/>
                                        <p:tgtEl>
                                          <p:spTgt spid="60"/>
                                        </p:tgtEl>
                                      </p:cBhvr>
                                    </p:animEffect>
                                  </p:childTnLst>
                                </p:cTn>
                              </p:par>
                              <p:par>
                                <p:cTn id="41" presetID="16" presetClass="entr" presetSubtype="21" fill="hold" grpId="0" nodeType="withEffect">
                                  <p:stCondLst>
                                    <p:cond delay="0"/>
                                  </p:stCondLst>
                                  <p:childTnLst>
                                    <p:set>
                                      <p:cBhvr>
                                        <p:cTn id="42" dur="1" fill="hold">
                                          <p:stCondLst>
                                            <p:cond delay="0"/>
                                          </p:stCondLst>
                                        </p:cTn>
                                        <p:tgtEl>
                                          <p:spTgt spid="61"/>
                                        </p:tgtEl>
                                        <p:attrNameLst>
                                          <p:attrName>style.visibility</p:attrName>
                                        </p:attrNameLst>
                                      </p:cBhvr>
                                      <p:to>
                                        <p:strVal val="visible"/>
                                      </p:to>
                                    </p:set>
                                    <p:animEffect transition="in" filter="barn(inVertical)">
                                      <p:cBhvr>
                                        <p:cTn id="43" dur="500"/>
                                        <p:tgtEl>
                                          <p:spTgt spid="61"/>
                                        </p:tgtEl>
                                      </p:cBhvr>
                                    </p:animEffect>
                                  </p:childTnLst>
                                </p:cTn>
                              </p:par>
                              <p:par>
                                <p:cTn id="44" presetID="16" presetClass="entr" presetSubtype="21" fill="hold" grpId="0" nodeType="withEffect">
                                  <p:stCondLst>
                                    <p:cond delay="0"/>
                                  </p:stCondLst>
                                  <p:childTnLst>
                                    <p:set>
                                      <p:cBhvr>
                                        <p:cTn id="45" dur="1" fill="hold">
                                          <p:stCondLst>
                                            <p:cond delay="0"/>
                                          </p:stCondLst>
                                        </p:cTn>
                                        <p:tgtEl>
                                          <p:spTgt spid="62"/>
                                        </p:tgtEl>
                                        <p:attrNameLst>
                                          <p:attrName>style.visibility</p:attrName>
                                        </p:attrNameLst>
                                      </p:cBhvr>
                                      <p:to>
                                        <p:strVal val="visible"/>
                                      </p:to>
                                    </p:set>
                                    <p:animEffect transition="in" filter="barn(inVertical)">
                                      <p:cBhvr>
                                        <p:cTn id="46" dur="500"/>
                                        <p:tgtEl>
                                          <p:spTgt spid="62"/>
                                        </p:tgtEl>
                                      </p:cBhvr>
                                    </p:animEffect>
                                  </p:childTnLst>
                                </p:cTn>
                              </p:par>
                              <p:par>
                                <p:cTn id="47" presetID="16" presetClass="entr" presetSubtype="21" fill="hold" grpId="0" nodeType="withEffect">
                                  <p:stCondLst>
                                    <p:cond delay="0"/>
                                  </p:stCondLst>
                                  <p:childTnLst>
                                    <p:set>
                                      <p:cBhvr>
                                        <p:cTn id="48" dur="1" fill="hold">
                                          <p:stCondLst>
                                            <p:cond delay="0"/>
                                          </p:stCondLst>
                                        </p:cTn>
                                        <p:tgtEl>
                                          <p:spTgt spid="63"/>
                                        </p:tgtEl>
                                        <p:attrNameLst>
                                          <p:attrName>style.visibility</p:attrName>
                                        </p:attrNameLst>
                                      </p:cBhvr>
                                      <p:to>
                                        <p:strVal val="visible"/>
                                      </p:to>
                                    </p:set>
                                    <p:animEffect transition="in" filter="barn(inVertical)">
                                      <p:cBhvr>
                                        <p:cTn id="49"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36" grpId="0" animBg="1"/>
      <p:bldP spid="41" grpId="0" animBg="1"/>
      <p:bldP spid="39" grpId="0" animBg="1"/>
      <p:bldP spid="47" grpId="0"/>
      <p:bldP spid="48" grpId="0"/>
      <p:bldP spid="58" grpId="0"/>
      <p:bldP spid="59" grpId="0"/>
      <p:bldP spid="60" grpId="0"/>
      <p:bldP spid="61" grpId="0"/>
      <p:bldP spid="62" grpId="0"/>
      <p:bldP spid="63" grpId="0"/>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D5D6"/>
        </a:solidFill>
        <a:effectLst/>
      </p:bgPr>
    </p:bg>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FBD22FF2-0825-4E92-BADF-83668D4DED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9296"/>
            <a:ext cx="12192000" cy="6887296"/>
          </a:xfrm>
          <a:prstGeom prst="rect">
            <a:avLst/>
          </a:prstGeom>
        </p:spPr>
      </p:pic>
      <p:sp>
        <p:nvSpPr>
          <p:cNvPr id="5" name="文本框 4">
            <a:extLst>
              <a:ext uri="{FF2B5EF4-FFF2-40B4-BE49-F238E27FC236}">
                <a16:creationId xmlns:a16="http://schemas.microsoft.com/office/drawing/2014/main" id="{303EB5CD-367D-4867-BE89-958B5E0C9872}"/>
              </a:ext>
            </a:extLst>
          </p:cNvPr>
          <p:cNvSpPr txBox="1"/>
          <p:nvPr/>
        </p:nvSpPr>
        <p:spPr>
          <a:xfrm>
            <a:off x="2442100" y="1709276"/>
            <a:ext cx="5709820" cy="1323439"/>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lang="en-US" altLang="zh-CN" sz="8000" spc="600">
                <a:solidFill>
                  <a:srgbClr val="E9E4E2"/>
                </a:solidFill>
                <a:latin typeface="Bauhaus 93" panose="04030905020B02020C02" pitchFamily="82" charset="0"/>
                <a:ea typeface="微软雅黑"/>
              </a:rPr>
              <a:t>THANKS</a:t>
            </a:r>
            <a:endParaRPr kumimoji="0" lang="zh-CN" altLang="en-US" sz="8000" b="0" i="0" u="none" strike="noStrike" kern="1200" cap="none" spc="600" normalizeH="0" baseline="0" noProof="0">
              <a:ln>
                <a:noFill/>
              </a:ln>
              <a:solidFill>
                <a:srgbClr val="E9E4E2"/>
              </a:solidFill>
              <a:effectLst/>
              <a:uLnTx/>
              <a:uFillTx/>
              <a:latin typeface="Bauhaus 93" panose="04030905020B02020C02" pitchFamily="82" charset="0"/>
              <a:ea typeface="微软雅黑"/>
              <a:cs typeface="+mn-cs"/>
            </a:endParaRPr>
          </a:p>
        </p:txBody>
      </p:sp>
      <p:pic>
        <p:nvPicPr>
          <p:cNvPr id="2" name="图片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51920" y="1709276"/>
            <a:ext cx="3606800" cy="3606800"/>
          </a:xfrm>
          <a:prstGeom prst="rect">
            <a:avLst/>
          </a:prstGeom>
        </p:spPr>
      </p:pic>
      <p:pic>
        <p:nvPicPr>
          <p:cNvPr id="7" name="图片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6359445"/>
            <a:ext cx="3374582" cy="537824"/>
          </a:xfrm>
          <a:prstGeom prst="rect">
            <a:avLst/>
          </a:prstGeom>
        </p:spPr>
      </p:pic>
    </p:spTree>
    <p:extLst>
      <p:ext uri="{BB962C8B-B14F-4D97-AF65-F5344CB8AC3E}">
        <p14:creationId xmlns:p14="http://schemas.microsoft.com/office/powerpoint/2010/main" val="143051851"/>
      </p:ext>
    </p:extLst>
  </p:cSld>
  <p:clrMapOvr>
    <a:masterClrMapping/>
  </p:clrMapOvr>
  <p:transition spd="slow">
    <p:push dir="u"/>
  </p:transition>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175"/>
</p:tagLst>
</file>

<file path=ppt/theme/theme1.xml><?xml version="1.0" encoding="utf-8"?>
<a:theme xmlns:a="http://schemas.openxmlformats.org/drawingml/2006/main" name="Default Theme">
  <a:themeElements>
    <a:clrScheme name="自定义 1050">
      <a:dk1>
        <a:srgbClr val="7F7F7F"/>
      </a:dk1>
      <a:lt1>
        <a:srgbClr val="FFFFFF"/>
      </a:lt1>
      <a:dk2>
        <a:srgbClr val="2C394C"/>
      </a:dk2>
      <a:lt2>
        <a:srgbClr val="FFFFFF"/>
      </a:lt2>
      <a:accent1>
        <a:srgbClr val="000000"/>
      </a:accent1>
      <a:accent2>
        <a:srgbClr val="78C4CB"/>
      </a:accent2>
      <a:accent3>
        <a:srgbClr val="686F75"/>
      </a:accent3>
      <a:accent4>
        <a:srgbClr val="686F75"/>
      </a:accent4>
      <a:accent5>
        <a:srgbClr val="686F75"/>
      </a:accent5>
      <a:accent6>
        <a:srgbClr val="78C4CB"/>
      </a:accent6>
      <a:hlink>
        <a:srgbClr val="F33B48"/>
      </a:hlink>
      <a:folHlink>
        <a:srgbClr val="FFC000"/>
      </a:folHlink>
    </a:clrScheme>
    <a:fontScheme name="自定义 99">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978</TotalTime>
  <Words>1568</Words>
  <Application>Microsoft Office PowerPoint</Application>
  <PresentationFormat>宽屏</PresentationFormat>
  <Paragraphs>184</Paragraphs>
  <Slides>28</Slides>
  <Notes>28</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28</vt:i4>
      </vt:variant>
    </vt:vector>
  </HeadingPairs>
  <TitlesOfParts>
    <vt:vector size="41" baseType="lpstr">
      <vt:lpstr>Gill Sans</vt:lpstr>
      <vt:lpstr>Lato</vt:lpstr>
      <vt:lpstr>Lato Light</vt:lpstr>
      <vt:lpstr>Montserrat Light</vt:lpstr>
      <vt:lpstr>Poppins Light</vt:lpstr>
      <vt:lpstr>Roboto Light</vt:lpstr>
      <vt:lpstr>等线</vt:lpstr>
      <vt:lpstr>微软雅黑</vt:lpstr>
      <vt:lpstr>Arial</vt:lpstr>
      <vt:lpstr>Bauhaus 93</vt:lpstr>
      <vt:lpstr>Calibri</vt:lpstr>
      <vt:lpstr>Century Gothic</vt:lpstr>
      <vt:lpstr>Default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优品PPT</dc:creator>
  <dc:description>http://www.ypppt.com/</dc:description>
  <cp:lastModifiedBy>彭 闯</cp:lastModifiedBy>
  <cp:revision>393</cp:revision>
  <dcterms:created xsi:type="dcterms:W3CDTF">2019-03-09T08:04:47Z</dcterms:created>
  <dcterms:modified xsi:type="dcterms:W3CDTF">2021-04-23T07:46:13Z</dcterms:modified>
</cp:coreProperties>
</file>
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02B93"/>
    <a:srgbClr val="0F9E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1914" y="8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9ECB27-8EF8-4923-A828-6E476A9B38F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A2A61C-7F4F-4238-9DB1-11D04298133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A2A61C-7F4F-4238-9DB1-11D04298133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3CDFB-5EFC-4A23-8DA9-F2A0C573FD3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085AD-416F-4A2A-9150-DD2D65FA52B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3CDFB-5EFC-4A23-8DA9-F2A0C573FD3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085AD-416F-4A2A-9150-DD2D65FA52B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3CDFB-5EFC-4A23-8DA9-F2A0C573FD3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085AD-416F-4A2A-9150-DD2D65FA52B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3CDFB-5EFC-4A23-8DA9-F2A0C573FD37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085AD-416F-4A2A-9150-DD2D65FA52B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3CDFB-5EFC-4A23-8DA9-F2A0C573FD37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085AD-416F-4A2A-9150-DD2D65FA52B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3CDFB-5EFC-4A23-8DA9-F2A0C573FD3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085AD-416F-4A2A-9150-DD2D65FA52B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3CDFB-5EFC-4A23-8DA9-F2A0C573FD37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085AD-416F-4A2A-9150-DD2D65FA52B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3CDFB-5EFC-4A23-8DA9-F2A0C573FD37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085AD-416F-4A2A-9150-DD2D65FA52B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3CDFB-5EFC-4A23-8DA9-F2A0C573FD37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085AD-416F-4A2A-9150-DD2D65FA52B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3CDFB-5EFC-4A23-8DA9-F2A0C573FD3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085AD-416F-4A2A-9150-DD2D65FA52B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3CDFB-5EFC-4A23-8DA9-F2A0C573FD3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085AD-416F-4A2A-9150-DD2D65FA52B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F3CDFB-5EFC-4A23-8DA9-F2A0C573FD3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E085AD-416F-4A2A-9150-DD2D65FA52B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矩形 130"/>
          <p:cNvSpPr/>
          <p:nvPr/>
        </p:nvSpPr>
        <p:spPr>
          <a:xfrm>
            <a:off x="4486910" y="1303655"/>
            <a:ext cx="2943225" cy="5146040"/>
          </a:xfrm>
          <a:prstGeom prst="rect">
            <a:avLst/>
          </a:prstGeom>
          <a:ln w="3175">
            <a:solidFill>
              <a:srgbClr val="A02B93"/>
            </a:solidFill>
            <a:prstDash val="dash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7" name="矩形 126"/>
          <p:cNvSpPr/>
          <p:nvPr/>
        </p:nvSpPr>
        <p:spPr>
          <a:xfrm>
            <a:off x="393065" y="105410"/>
            <a:ext cx="3713480" cy="6733540"/>
          </a:xfrm>
          <a:prstGeom prst="rect">
            <a:avLst/>
          </a:prstGeom>
          <a:ln w="3175">
            <a:prstDash val="dash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544744" y="2705400"/>
            <a:ext cx="435429" cy="2148115"/>
          </a:xfrm>
          <a:prstGeom prst="rect">
            <a:avLst/>
          </a:prstGeom>
          <a:solidFill>
            <a:srgbClr val="0F9ED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流程图</a:t>
            </a:r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6912261" y="2705127"/>
            <a:ext cx="435429" cy="2148115"/>
          </a:xfrm>
          <a:prstGeom prst="rect">
            <a:avLst/>
          </a:prstGeom>
          <a:solidFill>
            <a:srgbClr val="A02B9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bg1"/>
                </a:solidFill>
              </a:rPr>
              <a:t>技术路线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0" name="流程图: 终止 9"/>
          <p:cNvSpPr/>
          <p:nvPr/>
        </p:nvSpPr>
        <p:spPr>
          <a:xfrm>
            <a:off x="1513206" y="191407"/>
            <a:ext cx="1754413" cy="551814"/>
          </a:xfrm>
          <a:prstGeom prst="flowChartTerminator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用户输入音频</a:t>
            </a:r>
            <a:endParaRPr lang="zh-CN" altLang="en-US" sz="14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" name="流程图: 过程 10"/>
          <p:cNvSpPr/>
          <p:nvPr/>
        </p:nvSpPr>
        <p:spPr>
          <a:xfrm>
            <a:off x="1231266" y="875301"/>
            <a:ext cx="2312125" cy="1003612"/>
          </a:xfrm>
          <a:prstGeom prst="flowChartProcess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indent="0" algn="ctr" font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zh-CN" sz="14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①录音输入</a:t>
            </a:r>
            <a:endParaRPr lang="zh-CN" altLang="zh-CN" sz="14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R="0" lvl="0" indent="0" algn="ctr" font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zh-CN" sz="14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②选择本地音频文件输入</a:t>
            </a:r>
            <a:endParaRPr lang="zh-CN" altLang="zh-CN" sz="14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R="0" lvl="0" indent="0" algn="ctr" font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zh-CN" sz="14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③选择预置音频输入</a:t>
            </a:r>
            <a:endParaRPr lang="zh-CN" altLang="zh-CN" sz="14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endParaRPr lang="zh-CN" altLang="en-US" sz="14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" name="流程图: 决策 11"/>
          <p:cNvSpPr/>
          <p:nvPr/>
        </p:nvSpPr>
        <p:spPr>
          <a:xfrm>
            <a:off x="1175385" y="2048314"/>
            <a:ext cx="2423886" cy="1020757"/>
          </a:xfrm>
          <a:prstGeom prst="flowChartDecision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zh-CN" altLang="zh-CN" sz="1400" i="0" u="none" strike="noStrike" cap="none" normalizeH="0" baseline="0" dirty="0" smtClean="0">
                <a:ln>
                  <a:noFill/>
                </a:ln>
                <a:solidFill>
                  <a:srgbClr val="191919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输</a:t>
            </a:r>
            <a:r>
              <a:rPr kumimoji="0" lang="zh-CN" altLang="zh-CN" sz="1400" i="0" u="none" strike="noStrike" cap="none" normalizeH="0" baseline="0" dirty="0">
                <a:ln>
                  <a:noFill/>
                </a:ln>
                <a:solidFill>
                  <a:srgbClr val="191919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入音频是否满足格式、长短等条件</a:t>
            </a:r>
            <a:endParaRPr kumimoji="0" lang="zh-CN" altLang="zh-CN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3" name="流程图: 过程 12"/>
          <p:cNvSpPr/>
          <p:nvPr/>
        </p:nvSpPr>
        <p:spPr>
          <a:xfrm>
            <a:off x="1152706" y="3170221"/>
            <a:ext cx="2469243" cy="580944"/>
          </a:xfrm>
          <a:prstGeom prst="flowChartProcess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用户选择预期生成时长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ctr"/>
            <a:r>
              <a:rPr lang="zh-CN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5s</a:t>
            </a:r>
            <a:r>
              <a:rPr lang="zh-CN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10s</a:t>
            </a:r>
            <a:r>
              <a:rPr lang="zh-CN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15s</a:t>
            </a:r>
            <a:r>
              <a:rPr lang="zh-CN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30s</a:t>
            </a:r>
            <a:r>
              <a:rPr lang="zh-CN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4" name="流程图: 过程 13"/>
          <p:cNvSpPr/>
          <p:nvPr/>
        </p:nvSpPr>
        <p:spPr>
          <a:xfrm>
            <a:off x="1130027" y="3939760"/>
            <a:ext cx="2514600" cy="470655"/>
          </a:xfrm>
          <a:prstGeom prst="flowChartProcess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>
                <a:solidFill>
                  <a:schemeClr val="tx1"/>
                </a:solidFill>
              </a:rPr>
              <a:t>输</a:t>
            </a:r>
            <a:r>
              <a:rPr lang="zh-CN" altLang="en-US" sz="1400" dirty="0">
                <a:solidFill>
                  <a:schemeClr val="tx1"/>
                </a:solidFill>
              </a:rPr>
              <a:t>入音频转换为</a:t>
            </a:r>
            <a:r>
              <a:rPr lang="en-US" altLang="zh-CN" sz="1400" dirty="0" smtClean="0">
                <a:solidFill>
                  <a:schemeClr val="tx1"/>
                </a:solidFill>
              </a:rPr>
              <a:t>MIDI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15" name="流程图: 过程 14"/>
          <p:cNvSpPr/>
          <p:nvPr/>
        </p:nvSpPr>
        <p:spPr>
          <a:xfrm>
            <a:off x="1130027" y="4637343"/>
            <a:ext cx="2514600" cy="565150"/>
          </a:xfrm>
          <a:prstGeom prst="flowChartProcess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对</a:t>
            </a:r>
            <a:r>
              <a:rPr lang="en-US" altLang="zh-CN" sz="1400" dirty="0">
                <a:solidFill>
                  <a:schemeClr val="tx1"/>
                </a:solidFill>
              </a:rPr>
              <a:t>MIDI</a:t>
            </a:r>
            <a:r>
              <a:rPr lang="zh-CN" altLang="en-US" sz="1400" dirty="0">
                <a:solidFill>
                  <a:schemeClr val="tx1"/>
                </a:solidFill>
              </a:rPr>
              <a:t>音乐进行优化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16" name="流程图: 过程 15"/>
          <p:cNvSpPr/>
          <p:nvPr/>
        </p:nvSpPr>
        <p:spPr>
          <a:xfrm>
            <a:off x="1130027" y="5464466"/>
            <a:ext cx="2514600" cy="531052"/>
          </a:xfrm>
          <a:prstGeom prst="flowChartProcess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400" dirty="0" smtClean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ctr"/>
            <a:r>
              <a:rPr lang="zh-CN" altLang="en-US" sz="1400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根据用</a:t>
            </a:r>
            <a:r>
              <a:rPr lang="zh-CN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户选择时长对</a:t>
            </a:r>
            <a:r>
              <a:rPr lang="zh-CN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优化后</a:t>
            </a:r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MIDI</a:t>
            </a:r>
            <a:r>
              <a:rPr lang="zh-CN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音乐进行续写生</a:t>
            </a:r>
            <a:r>
              <a:rPr lang="zh-CN" altLang="en-US" sz="1400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成。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ctr"/>
            <a:endParaRPr lang="zh-CN" altLang="en-US" dirty="0"/>
          </a:p>
        </p:txBody>
      </p:sp>
      <p:cxnSp>
        <p:nvCxnSpPr>
          <p:cNvPr id="18" name="连接符: 肘形 19"/>
          <p:cNvCxnSpPr>
            <a:stCxn id="12" idx="3"/>
            <a:endCxn id="11" idx="3"/>
          </p:cNvCxnSpPr>
          <p:nvPr/>
        </p:nvCxnSpPr>
        <p:spPr>
          <a:xfrm flipH="1" flipV="1">
            <a:off x="3543391" y="1377107"/>
            <a:ext cx="55880" cy="1181586"/>
          </a:xfrm>
          <a:prstGeom prst="bentConnector3">
            <a:avLst>
              <a:gd name="adj1" fmla="val -409091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直接箭头连接符 18"/>
          <p:cNvCxnSpPr>
            <a:stCxn id="10" idx="2"/>
            <a:endCxn id="11" idx="0"/>
          </p:cNvCxnSpPr>
          <p:nvPr/>
        </p:nvCxnSpPr>
        <p:spPr>
          <a:xfrm flipH="1">
            <a:off x="2387329" y="743221"/>
            <a:ext cx="3084" cy="1320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直接箭头连接符 19"/>
          <p:cNvCxnSpPr>
            <a:stCxn id="11" idx="2"/>
          </p:cNvCxnSpPr>
          <p:nvPr/>
        </p:nvCxnSpPr>
        <p:spPr>
          <a:xfrm flipH="1">
            <a:off x="2387328" y="1878913"/>
            <a:ext cx="1" cy="1617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直接箭头连接符 20"/>
          <p:cNvCxnSpPr>
            <a:stCxn id="12" idx="2"/>
            <a:endCxn id="13" idx="0"/>
          </p:cNvCxnSpPr>
          <p:nvPr/>
        </p:nvCxnSpPr>
        <p:spPr>
          <a:xfrm>
            <a:off x="2387328" y="3069071"/>
            <a:ext cx="0" cy="1011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>
            <a:stCxn id="13" idx="2"/>
          </p:cNvCxnSpPr>
          <p:nvPr/>
        </p:nvCxnSpPr>
        <p:spPr>
          <a:xfrm flipH="1">
            <a:off x="2387327" y="3751165"/>
            <a:ext cx="1" cy="1809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>
            <a:stCxn id="14" idx="2"/>
            <a:endCxn id="15" idx="0"/>
          </p:cNvCxnSpPr>
          <p:nvPr/>
        </p:nvCxnSpPr>
        <p:spPr>
          <a:xfrm>
            <a:off x="2387327" y="4410415"/>
            <a:ext cx="0" cy="2269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>
            <a:stCxn id="15" idx="2"/>
            <a:endCxn id="16" idx="0"/>
          </p:cNvCxnSpPr>
          <p:nvPr/>
        </p:nvCxnSpPr>
        <p:spPr>
          <a:xfrm>
            <a:off x="2387327" y="5202493"/>
            <a:ext cx="0" cy="2619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8" name="流程图: 过程 77"/>
          <p:cNvSpPr/>
          <p:nvPr/>
        </p:nvSpPr>
        <p:spPr>
          <a:xfrm>
            <a:off x="4928870" y="1599565"/>
            <a:ext cx="1809750" cy="643890"/>
          </a:xfrm>
          <a:prstGeom prst="flowChartProcess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音频剪辑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79" name="直接连接符 78"/>
          <p:cNvCxnSpPr>
            <a:endCxn id="78" idx="1"/>
          </p:cNvCxnSpPr>
          <p:nvPr/>
        </p:nvCxnSpPr>
        <p:spPr>
          <a:xfrm>
            <a:off x="3855084" y="1921457"/>
            <a:ext cx="1073649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86" name="流程图: 过程 85"/>
          <p:cNvSpPr/>
          <p:nvPr/>
        </p:nvSpPr>
        <p:spPr>
          <a:xfrm>
            <a:off x="4944110" y="2705100"/>
            <a:ext cx="1798955" cy="861060"/>
          </a:xfrm>
          <a:prstGeom prst="flowChartProcess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wav</a:t>
            </a:r>
            <a:r>
              <a:rPr lang="zh-CN" altLang="en-US" sz="14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14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m4a</a:t>
            </a:r>
            <a:r>
              <a:rPr lang="zh-CN" altLang="en-US" sz="14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等</a:t>
            </a:r>
            <a:r>
              <a:rPr lang="zh-CN" altLang="en-US" sz="14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格式转成</a:t>
            </a:r>
            <a:r>
              <a:rPr lang="en-US" altLang="zh-CN" sz="14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MIDI</a:t>
            </a:r>
            <a:r>
              <a:rPr lang="zh-CN" altLang="en-US" sz="14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格式，通过改进的</a:t>
            </a:r>
            <a:r>
              <a:rPr lang="en-US" altLang="zh-CN" sz="14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Basic Pitch</a:t>
            </a:r>
            <a:r>
              <a:rPr lang="zh-CN" altLang="en-US" sz="14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实现</a:t>
            </a:r>
            <a:endParaRPr lang="zh-CN" altLang="en-US" sz="14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4" name="流程图: 过程 93"/>
          <p:cNvSpPr/>
          <p:nvPr/>
        </p:nvSpPr>
        <p:spPr>
          <a:xfrm>
            <a:off x="4944110" y="3837305"/>
            <a:ext cx="1807845" cy="1224280"/>
          </a:xfrm>
          <a:prstGeom prst="flowChartProcess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基于</a:t>
            </a:r>
            <a:r>
              <a:rPr lang="en-US" altLang="zh-CN" sz="14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transformer</a:t>
            </a:r>
            <a:r>
              <a:rPr lang="zh-CN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模</a:t>
            </a:r>
            <a:r>
              <a:rPr lang="zh-CN" altLang="en-US" sz="1400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型</a:t>
            </a:r>
            <a:r>
              <a:rPr lang="en-US" altLang="zh-CN" sz="1400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encoder</a:t>
            </a:r>
            <a:r>
              <a:rPr lang="zh-CN" altLang="en-US" sz="1400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模型和数十万首</a:t>
            </a:r>
            <a:r>
              <a:rPr lang="en-US" altLang="zh-CN" sz="1400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MIDI</a:t>
            </a:r>
            <a:r>
              <a:rPr lang="zh-CN" altLang="en-US" sz="1400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音乐集搭建音频美化模型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99" name="肘形连接符 98"/>
          <p:cNvCxnSpPr>
            <a:stCxn id="14" idx="3"/>
            <a:endCxn id="86" idx="1"/>
          </p:cNvCxnSpPr>
          <p:nvPr/>
        </p:nvCxnSpPr>
        <p:spPr>
          <a:xfrm flipV="1">
            <a:off x="3644900" y="3135630"/>
            <a:ext cx="1299210" cy="1039495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2" name="肘形连接符 101"/>
          <p:cNvCxnSpPr>
            <a:stCxn id="15" idx="3"/>
            <a:endCxn id="94" idx="1"/>
          </p:cNvCxnSpPr>
          <p:nvPr/>
        </p:nvCxnSpPr>
        <p:spPr>
          <a:xfrm flipV="1">
            <a:off x="3644900" y="4449445"/>
            <a:ext cx="1299210" cy="470535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14" name="流程图: 过程 113"/>
          <p:cNvSpPr/>
          <p:nvPr/>
        </p:nvSpPr>
        <p:spPr>
          <a:xfrm>
            <a:off x="4944110" y="5209540"/>
            <a:ext cx="1834515" cy="1060450"/>
          </a:xfrm>
          <a:prstGeom prst="flowChartProcess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 smtClean="0">
                <a:solidFill>
                  <a:schemeClr val="tx1"/>
                </a:solidFill>
              </a:rPr>
              <a:t>RWKV-4</a:t>
            </a:r>
            <a:r>
              <a:rPr lang="zh-CN" altLang="en-US" sz="1400" b="1" dirty="0">
                <a:solidFill>
                  <a:schemeClr val="tx1"/>
                </a:solidFill>
              </a:rPr>
              <a:t>模</a:t>
            </a:r>
            <a:r>
              <a:rPr lang="zh-CN" altLang="en-US" sz="1400" b="1" dirty="0" smtClean="0">
                <a:solidFill>
                  <a:schemeClr val="tx1"/>
                </a:solidFill>
              </a:rPr>
              <a:t>型、基于动态量化</a:t>
            </a:r>
            <a:r>
              <a:rPr lang="en-US" altLang="zh-CN" sz="1400" b="1" dirty="0" smtClean="0">
                <a:solidFill>
                  <a:schemeClr val="tx1"/>
                </a:solidFill>
              </a:rPr>
              <a:t>+</a:t>
            </a:r>
            <a:r>
              <a:rPr lang="zh-CN" altLang="en-US" sz="1400" b="1" dirty="0" smtClean="0">
                <a:solidFill>
                  <a:schemeClr val="tx1"/>
                </a:solidFill>
              </a:rPr>
              <a:t>检索增强</a:t>
            </a:r>
            <a:r>
              <a:rPr lang="en-US" altLang="zh-CN" sz="1400" b="1" dirty="0" smtClean="0">
                <a:solidFill>
                  <a:schemeClr val="tx1"/>
                </a:solidFill>
              </a:rPr>
              <a:t>+</a:t>
            </a:r>
            <a:r>
              <a:rPr lang="zh-CN" altLang="en-US" sz="1400" b="1" dirty="0" smtClean="0">
                <a:solidFill>
                  <a:schemeClr val="tx1"/>
                </a:solidFill>
              </a:rPr>
              <a:t>双温度控制</a:t>
            </a:r>
            <a:r>
              <a:rPr lang="zh-CN" altLang="en-US" sz="1400" b="1" dirty="0" smtClean="0">
                <a:solidFill>
                  <a:schemeClr val="tx1"/>
                </a:solidFill>
              </a:rPr>
              <a:t>算法进行</a:t>
            </a:r>
            <a:r>
              <a:rPr lang="zh-CN" altLang="en-US" sz="1400" dirty="0" smtClean="0">
                <a:solidFill>
                  <a:schemeClr val="tx1"/>
                </a:solidFill>
              </a:rPr>
              <a:t>音</a:t>
            </a:r>
            <a:r>
              <a:rPr lang="zh-CN" altLang="en-US" sz="1400" dirty="0">
                <a:solidFill>
                  <a:schemeClr val="tx1"/>
                </a:solidFill>
              </a:rPr>
              <a:t>乐生成续写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cxnSp>
        <p:nvCxnSpPr>
          <p:cNvPr id="115" name="直接连接符 114"/>
          <p:cNvCxnSpPr>
            <a:stCxn id="16" idx="3"/>
            <a:endCxn id="114" idx="1"/>
          </p:cNvCxnSpPr>
          <p:nvPr/>
        </p:nvCxnSpPr>
        <p:spPr>
          <a:xfrm>
            <a:off x="3644627" y="5729357"/>
            <a:ext cx="1299210" cy="1016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24" name="流程图: 终止 123"/>
          <p:cNvSpPr/>
          <p:nvPr/>
        </p:nvSpPr>
        <p:spPr>
          <a:xfrm>
            <a:off x="1513206" y="6169256"/>
            <a:ext cx="1757499" cy="449003"/>
          </a:xfrm>
          <a:prstGeom prst="flowChartTerminator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输出</a:t>
            </a:r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MIDI</a:t>
            </a:r>
            <a:r>
              <a:rPr lang="zh-CN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音乐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125" name="直接箭头连接符 124"/>
          <p:cNvCxnSpPr>
            <a:stCxn id="16" idx="2"/>
            <a:endCxn id="124" idx="0"/>
          </p:cNvCxnSpPr>
          <p:nvPr/>
        </p:nvCxnSpPr>
        <p:spPr>
          <a:xfrm>
            <a:off x="2387327" y="5995518"/>
            <a:ext cx="4629" cy="1737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b="9402"/>
          <a:stretch>
            <a:fillRect/>
          </a:stretch>
        </p:blipFill>
        <p:spPr>
          <a:xfrm>
            <a:off x="8317865" y="414020"/>
            <a:ext cx="3145155" cy="62039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257</Words>
  <Application>WPS 演示</Application>
  <PresentationFormat>宽屏</PresentationFormat>
  <Paragraphs>33</Paragraphs>
  <Slides>1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0" baseType="lpstr">
      <vt:lpstr>Arial</vt:lpstr>
      <vt:lpstr>宋体</vt:lpstr>
      <vt:lpstr>Wingdings</vt:lpstr>
      <vt:lpstr>Times New Roman</vt:lpstr>
      <vt:lpstr>等线</vt:lpstr>
      <vt:lpstr>微软雅黑</vt:lpstr>
      <vt:lpstr>Arial Unicode MS</vt:lpstr>
      <vt:lpstr>等线 Light</vt:lpstr>
      <vt:lpstr>Office 主题​​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国峻 黄</dc:creator>
  <cp:lastModifiedBy>10351260</cp:lastModifiedBy>
  <cp:revision>16</cp:revision>
  <dcterms:created xsi:type="dcterms:W3CDTF">2024-12-22T05:00:00Z</dcterms:created>
  <dcterms:modified xsi:type="dcterms:W3CDTF">2025-10-09T06:53:54Z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FFCA8D2DA3AC453597795470CF7F9700</vt:lpwstr>
  </property>
  <property fmtid="{D5CDD505-2E9C-101B-9397-08002B2CF9AE}" pid="3" name="KSOProductBuildVer">
    <vt:lpwstr>2052-11.8.2.12085</vt:lpwstr>
  </property>
</Properties>
</file>